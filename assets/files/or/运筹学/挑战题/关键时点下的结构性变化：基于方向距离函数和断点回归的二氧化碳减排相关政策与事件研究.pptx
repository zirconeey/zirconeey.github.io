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96" r:id="rId4"/>
    <p:sldId id="311" r:id="rId5"/>
    <p:sldId id="323" r:id="rId6"/>
    <p:sldId id="342" r:id="rId7"/>
    <p:sldId id="313" r:id="rId8"/>
    <p:sldId id="314" r:id="rId9"/>
    <p:sldId id="315" r:id="rId10"/>
    <p:sldId id="391" r:id="rId11"/>
    <p:sldId id="393" r:id="rId12"/>
    <p:sldId id="405" r:id="rId13"/>
    <p:sldId id="394" r:id="rId14"/>
    <p:sldId id="357" r:id="rId15"/>
    <p:sldId id="379" r:id="rId16"/>
    <p:sldId id="317" r:id="rId17"/>
    <p:sldId id="395" r:id="rId18"/>
    <p:sldId id="406" r:id="rId19"/>
    <p:sldId id="319" r:id="rId20"/>
    <p:sldId id="390" r:id="rId21"/>
    <p:sldId id="320" r:id="rId22"/>
    <p:sldId id="399" r:id="rId23"/>
    <p:sldId id="407" r:id="rId24"/>
    <p:sldId id="322" r:id="rId25"/>
  </p:sldIdLst>
  <p:sldSz cx="9144000" cy="5143500" type="screen16x9"/>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3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91A99E"/>
    <a:srgbClr val="85A299"/>
    <a:srgbClr val="1D4E89"/>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4344BF-E997-4F6C-8EC3-A57AFB8971FD}" styleName="{3df5674c-423c-4b09-9562-943c5d9100b6}">
    <a:wholeTbl>
      <a:tcTxStyle>
        <a:fontRef idx="none">
          <a:prstClr val="black"/>
        </a:fontRef>
      </a:tcTxStyle>
      <a:tcStyle>
        <a:tcBdr>
          <a:left>
            <a:ln w="19050" cmpd="sng">
              <a:solidFill>
                <a:srgbClr val="C2E7D1"/>
              </a:solidFill>
            </a:ln>
          </a:left>
          <a:right>
            <a:ln w="19050" cmpd="sng">
              <a:solidFill>
                <a:srgbClr val="C2E7D1"/>
              </a:solidFill>
            </a:ln>
          </a:right>
          <a:top>
            <a:ln w="19050" cmpd="sng">
              <a:solidFill>
                <a:srgbClr val="C2E7D1"/>
              </a:solidFill>
            </a:ln>
          </a:top>
          <a:bottom>
            <a:ln w="19050" cmpd="sng">
              <a:solidFill>
                <a:srgbClr val="C2E7D1"/>
              </a:solidFill>
            </a:ln>
          </a:bottom>
          <a:insideV>
            <a:ln w="19050" cmpd="sng">
              <a:solidFill>
                <a:srgbClr val="C2E7D1"/>
              </a:solidFill>
            </a:ln>
          </a:insideV>
        </a:tcBdr>
        <a:fill>
          <a:solidFill>
            <a:srgbClr val="FFFFFF"/>
          </a:solidFill>
        </a:fill>
      </a:tcStyle>
    </a:wholeTbl>
    <a:band1V>
      <a:tcTxStyle>
        <a:fontRef idx="none">
          <a:prstClr val="black"/>
        </a:fontRef>
      </a:tcTxStyle>
      <a:tcStyle>
        <a:tcBdr/>
        <a:fill>
          <a:solidFill>
            <a:srgbClr val="E1F4E9"/>
          </a:solidFill>
        </a:fill>
      </a:tcStyle>
    </a:band1V>
    <a:firstCol>
      <a:tcTxStyle>
        <a:fontRef idx="none">
          <a:prstClr val="black"/>
        </a:fontRef>
      </a:tcTxStyle>
      <a:tcStyle>
        <a:tcBdr>
          <a:right>
            <a:ln w="19050" cmpd="sng">
              <a:solidFill>
                <a:srgbClr val="FFFFFF"/>
              </a:solidFill>
            </a:ln>
          </a:right>
          <a:insideH>
            <a:ln w="19050" cmpd="sng">
              <a:solidFill>
                <a:srgbClr val="FFFFFF"/>
              </a:solidFill>
            </a:ln>
          </a:insideH>
        </a:tcBdr>
        <a:fill>
          <a:solidFill>
            <a:srgbClr val="C2E7D1"/>
          </a:solidFill>
        </a:fill>
      </a:tcStyle>
    </a:firstCol>
    <a:firstRow>
      <a:tcTxStyle>
        <a:fontRef idx="none">
          <a:prstClr val="black"/>
        </a:fontRef>
      </a:tcTxStyle>
      <a:tcStyle>
        <a:tcBdr>
          <a:bottom>
            <a:ln w="19050" cmpd="sng">
              <a:solidFill>
                <a:srgbClr val="FFFFFF"/>
              </a:solidFill>
            </a:ln>
          </a:bottom>
          <a:insideV>
            <a:ln w="19050" cmpd="sng">
              <a:solidFill>
                <a:srgbClr val="FFFFFF"/>
              </a:solidFill>
            </a:ln>
          </a:insideV>
        </a:tcBdr>
        <a:fill>
          <a:solidFill>
            <a:srgbClr val="7BCB9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03" autoAdjust="0"/>
    <p:restoredTop sz="94660"/>
  </p:normalViewPr>
  <p:slideViewPr>
    <p:cSldViewPr snapToGrid="0" showGuides="1">
      <p:cViewPr varScale="1">
        <p:scale>
          <a:sx n="110" d="100"/>
          <a:sy n="110" d="100"/>
        </p:scale>
        <p:origin x="72" y="134"/>
      </p:cViewPr>
      <p:guideLst>
        <p:guide orient="horz" pos="163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104.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wyy\Desktop\&#31649;&#31185;2023\&#24433;&#23376;&#20215;&#26684;&#25968;&#2545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Sheet1!$C$1</c:f>
              <c:strCache>
                <c:ptCount val="1"/>
                <c:pt idx="0">
                  <c:v>上海</c:v>
                </c:pt>
              </c:strCache>
            </c:strRef>
          </c:tx>
          <c:spPr>
            <a:solidFill>
              <a:schemeClr val="accent3">
                <a:shade val="45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Sheet1!$C$2:$C$11</c:f>
              <c:numCache>
                <c:formatCode>0.00_ </c:formatCode>
                <c:ptCount val="10"/>
                <c:pt idx="0">
                  <c:v>270.695415501971</c:v>
                </c:pt>
                <c:pt idx="1">
                  <c:v>270.328907119123</c:v>
                </c:pt>
                <c:pt idx="2">
                  <c:v>268.56339063672</c:v>
                </c:pt>
                <c:pt idx="3">
                  <c:v>269.219758585911</c:v>
                </c:pt>
                <c:pt idx="4">
                  <c:v>267.932003942091</c:v>
                </c:pt>
                <c:pt idx="5">
                  <c:v>268.733070535501</c:v>
                </c:pt>
                <c:pt idx="6">
                  <c:v>270.093027075638</c:v>
                </c:pt>
                <c:pt idx="7">
                  <c:v>277.738579321234</c:v>
                </c:pt>
                <c:pt idx="8">
                  <c:v>277.615322261263</c:v>
                </c:pt>
                <c:pt idx="9">
                  <c:v>284.26518557085</c:v>
                </c:pt>
              </c:numCache>
            </c:numRef>
          </c:val>
        </c:ser>
        <c:ser>
          <c:idx val="1"/>
          <c:order val="1"/>
          <c:tx>
            <c:strRef>
              <c:f>Sheet1!$D$1</c:f>
              <c:strCache>
                <c:ptCount val="1"/>
                <c:pt idx="0">
                  <c:v>江苏</c:v>
                </c:pt>
              </c:strCache>
            </c:strRef>
          </c:tx>
          <c:spPr>
            <a:solidFill>
              <a:schemeClr val="accent3">
                <a:shade val="61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Sheet1!$D$2:$D$11</c:f>
              <c:numCache>
                <c:formatCode>0.00_ </c:formatCode>
                <c:ptCount val="10"/>
                <c:pt idx="0">
                  <c:v>140.988079973792</c:v>
                </c:pt>
                <c:pt idx="1">
                  <c:v>140.048595203242</c:v>
                </c:pt>
                <c:pt idx="2">
                  <c:v>139.786852101882</c:v>
                </c:pt>
                <c:pt idx="3">
                  <c:v>139.224250457925</c:v>
                </c:pt>
                <c:pt idx="4">
                  <c:v>138.715340330567</c:v>
                </c:pt>
                <c:pt idx="5">
                  <c:v>138.252303024802</c:v>
                </c:pt>
                <c:pt idx="6">
                  <c:v>138.138907647098</c:v>
                </c:pt>
                <c:pt idx="7">
                  <c:v>138.126101939148</c:v>
                </c:pt>
                <c:pt idx="8">
                  <c:v>137.579325580007</c:v>
                </c:pt>
                <c:pt idx="9">
                  <c:v>137.084240957431</c:v>
                </c:pt>
              </c:numCache>
            </c:numRef>
          </c:val>
        </c:ser>
        <c:ser>
          <c:idx val="2"/>
          <c:order val="2"/>
          <c:tx>
            <c:strRef>
              <c:f>Sheet1!$E$1</c:f>
              <c:strCache>
                <c:ptCount val="1"/>
                <c:pt idx="0">
                  <c:v>浙江</c:v>
                </c:pt>
              </c:strCache>
            </c:strRef>
          </c:tx>
          <c:spPr>
            <a:solidFill>
              <a:schemeClr val="accent3">
                <a:shade val="76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Sheet1!$E$2:$E$11</c:f>
              <c:numCache>
                <c:formatCode>0.00_ </c:formatCode>
                <c:ptCount val="10"/>
                <c:pt idx="0">
                  <c:v>151.367601386277</c:v>
                </c:pt>
                <c:pt idx="1">
                  <c:v>150.713003260418</c:v>
                </c:pt>
                <c:pt idx="2">
                  <c:v>149.654608179557</c:v>
                </c:pt>
                <c:pt idx="3">
                  <c:v>148.94511250159</c:v>
                </c:pt>
                <c:pt idx="4">
                  <c:v>147.37715989319</c:v>
                </c:pt>
                <c:pt idx="5">
                  <c:v>146.393679683386</c:v>
                </c:pt>
                <c:pt idx="6">
                  <c:v>145.392949446393</c:v>
                </c:pt>
                <c:pt idx="7">
                  <c:v>144.852951235317</c:v>
                </c:pt>
                <c:pt idx="8">
                  <c:v>143.852328620389</c:v>
                </c:pt>
                <c:pt idx="9">
                  <c:v>141.215392079861</c:v>
                </c:pt>
              </c:numCache>
            </c:numRef>
          </c:val>
        </c:ser>
        <c:ser>
          <c:idx val="3"/>
          <c:order val="3"/>
          <c:tx>
            <c:strRef>
              <c:f>Sheet1!$F$1</c:f>
              <c:strCache>
                <c:ptCount val="1"/>
                <c:pt idx="0">
                  <c:v>安徽</c:v>
                </c:pt>
              </c:strCache>
            </c:strRef>
          </c:tx>
          <c:spPr>
            <a:solidFill>
              <a:schemeClr val="accent3">
                <a:shade val="92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Sheet1!$F$2:$F$11</c:f>
              <c:numCache>
                <c:formatCode>0.00_ </c:formatCode>
                <c:ptCount val="10"/>
                <c:pt idx="0">
                  <c:v>89.9258304083073</c:v>
                </c:pt>
                <c:pt idx="1">
                  <c:v>88.4878732393187</c:v>
                </c:pt>
                <c:pt idx="2">
                  <c:v>87.2701181445214</c:v>
                </c:pt>
                <c:pt idx="3">
                  <c:v>86.8955457753421</c:v>
                </c:pt>
                <c:pt idx="4">
                  <c:v>86.0481866594519</c:v>
                </c:pt>
                <c:pt idx="5">
                  <c:v>85.3735155075306</c:v>
                </c:pt>
                <c:pt idx="6">
                  <c:v>84.7643468374418</c:v>
                </c:pt>
                <c:pt idx="7">
                  <c:v>84.8574994247365</c:v>
                </c:pt>
                <c:pt idx="8">
                  <c:v>84.0997947328954</c:v>
                </c:pt>
                <c:pt idx="9">
                  <c:v>84.4564446815594</c:v>
                </c:pt>
              </c:numCache>
            </c:numRef>
          </c:val>
        </c:ser>
        <c:ser>
          <c:idx val="4"/>
          <c:order val="4"/>
          <c:tx>
            <c:strRef>
              <c:f>Sheet1!$G$1</c:f>
              <c:strCache>
                <c:ptCount val="1"/>
                <c:pt idx="0">
                  <c:v>内蒙古</c:v>
                </c:pt>
              </c:strCache>
            </c:strRef>
          </c:tx>
          <c:spPr>
            <a:solidFill>
              <a:schemeClr val="accent3">
                <a:tint val="93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Sheet1!$G$2:$G$11</c:f>
              <c:numCache>
                <c:formatCode>0.00_ </c:formatCode>
                <c:ptCount val="10"/>
                <c:pt idx="0">
                  <c:v>26.7768234892188</c:v>
                </c:pt>
                <c:pt idx="1">
                  <c:v>26.466275037813</c:v>
                </c:pt>
                <c:pt idx="2">
                  <c:v>26.1805956770117</c:v>
                </c:pt>
                <c:pt idx="3">
                  <c:v>25.887085670371</c:v>
                </c:pt>
                <c:pt idx="4">
                  <c:v>25.6375904488006</c:v>
                </c:pt>
                <c:pt idx="5">
                  <c:v>25.4432815793915</c:v>
                </c:pt>
                <c:pt idx="6">
                  <c:v>25.2001340640178</c:v>
                </c:pt>
                <c:pt idx="7">
                  <c:v>24.5518938648712</c:v>
                </c:pt>
                <c:pt idx="8">
                  <c:v>24.2226304748756</c:v>
                </c:pt>
                <c:pt idx="9">
                  <c:v>23.9827322101428</c:v>
                </c:pt>
              </c:numCache>
            </c:numRef>
          </c:val>
        </c:ser>
        <c:ser>
          <c:idx val="5"/>
          <c:order val="5"/>
          <c:tx>
            <c:strRef>
              <c:f>Sheet1!$H$1</c:f>
              <c:strCache>
                <c:ptCount val="1"/>
                <c:pt idx="0">
                  <c:v>甘肃</c:v>
                </c:pt>
              </c:strCache>
            </c:strRef>
          </c:tx>
          <c:spPr>
            <a:solidFill>
              <a:schemeClr val="accent3">
                <a:tint val="77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Sheet1!$H$2:$H$11</c:f>
              <c:numCache>
                <c:formatCode>0.00_ </c:formatCode>
                <c:ptCount val="10"/>
                <c:pt idx="0">
                  <c:v>67.2755081709685</c:v>
                </c:pt>
                <c:pt idx="1">
                  <c:v>65.6624480163444</c:v>
                </c:pt>
                <c:pt idx="2">
                  <c:v>64.4263869690912</c:v>
                </c:pt>
                <c:pt idx="3">
                  <c:v>63.5219639838927</c:v>
                </c:pt>
                <c:pt idx="4">
                  <c:v>63.0171295374314</c:v>
                </c:pt>
                <c:pt idx="5">
                  <c:v>63.096490958643</c:v>
                </c:pt>
                <c:pt idx="6">
                  <c:v>62.1098028671336</c:v>
                </c:pt>
                <c:pt idx="7">
                  <c:v>61.1672746528844</c:v>
                </c:pt>
                <c:pt idx="8">
                  <c:v>60.9589059203274</c:v>
                </c:pt>
                <c:pt idx="9">
                  <c:v>60.0362489017277</c:v>
                </c:pt>
              </c:numCache>
            </c:numRef>
          </c:val>
        </c:ser>
        <c:ser>
          <c:idx val="6"/>
          <c:order val="6"/>
          <c:tx>
            <c:strRef>
              <c:f>Sheet1!$I$1</c:f>
              <c:strCache>
                <c:ptCount val="1"/>
                <c:pt idx="0">
                  <c:v>宁夏</c:v>
                </c:pt>
              </c:strCache>
            </c:strRef>
          </c:tx>
          <c:spPr>
            <a:solidFill>
              <a:schemeClr val="accent3">
                <a:tint val="62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Sheet1!$I$2:$I$11</c:f>
              <c:numCache>
                <c:formatCode>0.00_ </c:formatCode>
                <c:ptCount val="10"/>
                <c:pt idx="0">
                  <c:v>30.3371302480268</c:v>
                </c:pt>
                <c:pt idx="1">
                  <c:v>29.6559504635353</c:v>
                </c:pt>
                <c:pt idx="2">
                  <c:v>28.6811822770531</c:v>
                </c:pt>
                <c:pt idx="3">
                  <c:v>28.1160302191916</c:v>
                </c:pt>
                <c:pt idx="4">
                  <c:v>27.0845300129809</c:v>
                </c:pt>
                <c:pt idx="5">
                  <c:v>26.7896410018348</c:v>
                </c:pt>
                <c:pt idx="6">
                  <c:v>24.979161633492</c:v>
                </c:pt>
                <c:pt idx="7">
                  <c:v>23.9489274460903</c:v>
                </c:pt>
                <c:pt idx="8">
                  <c:v>23.245692878207</c:v>
                </c:pt>
                <c:pt idx="9">
                  <c:v>22.7811125883556</c:v>
                </c:pt>
              </c:numCache>
            </c:numRef>
          </c:val>
        </c:ser>
        <c:ser>
          <c:idx val="7"/>
          <c:order val="7"/>
          <c:tx>
            <c:strRef>
              <c:f>Sheet1!$J$1</c:f>
              <c:strCache>
                <c:ptCount val="1"/>
                <c:pt idx="0">
                  <c:v>新疆</c:v>
                </c:pt>
              </c:strCache>
            </c:strRef>
          </c:tx>
          <c:spPr>
            <a:solidFill>
              <a:schemeClr val="accent3">
                <a:tint val="46000"/>
              </a:schemeClr>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Sheet1!$J$2:$J$11</c:f>
              <c:numCache>
                <c:formatCode>0.00_ </c:formatCode>
                <c:ptCount val="10"/>
                <c:pt idx="0">
                  <c:v>37.4596065048465</c:v>
                </c:pt>
                <c:pt idx="1">
                  <c:v>35.5140893130303</c:v>
                </c:pt>
                <c:pt idx="2">
                  <c:v>33.7225721603834</c:v>
                </c:pt>
                <c:pt idx="3">
                  <c:v>32.9201259322192</c:v>
                </c:pt>
                <c:pt idx="4">
                  <c:v>32.4028283595684</c:v>
                </c:pt>
                <c:pt idx="5">
                  <c:v>32.0299797416443</c:v>
                </c:pt>
                <c:pt idx="6">
                  <c:v>31.5751418973509</c:v>
                </c:pt>
                <c:pt idx="7">
                  <c:v>31.5252521831632</c:v>
                </c:pt>
                <c:pt idx="8">
                  <c:v>31.2358557202599</c:v>
                </c:pt>
                <c:pt idx="9">
                  <c:v>31.0091772281367</c:v>
                </c:pt>
              </c:numCache>
            </c:numRef>
          </c:val>
        </c:ser>
        <c:dLbls>
          <c:showLegendKey val="0"/>
          <c:showVal val="0"/>
          <c:showCatName val="0"/>
          <c:showSerName val="0"/>
          <c:showPercent val="0"/>
          <c:showBubbleSize val="0"/>
        </c:dLbls>
        <c:gapWidth val="150"/>
        <c:axId val="662818912"/>
        <c:axId val="728136736"/>
      </c:barChart>
      <c:catAx>
        <c:axId val="662818912"/>
        <c:scaling>
          <c:orientation val="minMax"/>
        </c:scaling>
        <c:delete val="0"/>
        <c:axPos val="b"/>
        <c:numFmt formatCode="General" sourceLinked="1"/>
        <c:majorTickMark val="out"/>
        <c:minorTickMark val="none"/>
        <c:tickLblPos val="low"/>
        <c:spPr>
          <a:noFill/>
          <a:ln w="12700" cap="flat" cmpd="sng" algn="ctr">
            <a:solidFill>
              <a:srgbClr val="000000"/>
            </a:solidFill>
            <a:prstDash val="solid"/>
            <a:round/>
          </a:ln>
          <a:effectLst/>
        </c:spPr>
        <c:txPr>
          <a:bodyPr rot="-60000000" spcFirstLastPara="1" vertOverflow="ellipsis" vert="horz" wrap="square" anchor="ctr" anchorCtr="1"/>
          <a:lstStyle/>
          <a:p>
            <a:pPr>
              <a:defRPr lang="zh-CN" sz="600" b="0" i="0" u="none" strike="noStrike" kern="1200" baseline="0">
                <a:solidFill>
                  <a:schemeClr val="tx1"/>
                </a:solidFill>
                <a:latin typeface="+mn-lt"/>
                <a:ea typeface="+mn-ea"/>
                <a:cs typeface="+mn-cs"/>
              </a:defRPr>
            </a:pPr>
          </a:p>
        </c:txPr>
        <c:crossAx val="728136736"/>
        <c:crosses val="autoZero"/>
        <c:auto val="0"/>
        <c:lblAlgn val="ctr"/>
        <c:lblOffset val="100"/>
        <c:noMultiLvlLbl val="0"/>
      </c:catAx>
      <c:valAx>
        <c:axId val="728136736"/>
        <c:scaling>
          <c:orientation val="minMax"/>
        </c:scaling>
        <c:delete val="0"/>
        <c:axPos val="l"/>
        <c:numFmt formatCode="0.00_ "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lang="zh-CN" sz="600" b="0" i="0" u="none" strike="noStrike" kern="1200" baseline="0">
                <a:solidFill>
                  <a:schemeClr val="tx1"/>
                </a:solidFill>
                <a:latin typeface="+mn-lt"/>
                <a:ea typeface="+mn-ea"/>
                <a:cs typeface="+mn-cs"/>
              </a:defRPr>
            </a:pPr>
          </a:p>
        </c:txPr>
        <c:crossAx val="662818912"/>
        <c:crosses val="autoZero"/>
        <c:crossBetween val="between"/>
      </c:valAx>
      <c:spPr>
        <a:noFill/>
        <a:ln>
          <a:noFill/>
        </a:ln>
        <a:effectLst/>
      </c:spPr>
    </c:plotArea>
    <c:legend>
      <c:legendPos val="t"/>
      <c:layout/>
      <c:overlay val="0"/>
      <c:spPr>
        <a:solidFill>
          <a:srgbClr val="F2F2F2"/>
        </a:solidFill>
        <a:ln w="25400">
          <a:noFill/>
        </a:ln>
        <a:effectLst/>
      </c:spPr>
      <c:txPr>
        <a:bodyPr rot="0" spcFirstLastPara="1"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chart>
  <c:spPr>
    <a:solidFill>
      <a:srgbClr val="F2F2F2"/>
    </a:solidFill>
    <a:ln w="25400" cap="flat" cmpd="sng" algn="ctr">
      <a:noFill/>
      <a:round/>
    </a:ln>
    <a:effectLst/>
  </c:spPr>
  <c:txPr>
    <a:bodyPr/>
    <a:lstStyle/>
    <a:p>
      <a:pPr>
        <a:defRPr lang="zh-CN" sz="600">
          <a:solidFill>
            <a:schemeClr val="tx1"/>
          </a:solidFill>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col"/>
        <c:grouping val="clustered"/>
        <c:varyColors val="0"/>
        <c:ser>
          <c:idx val="0"/>
          <c:order val="0"/>
          <c:tx>
            <c:strRef>
              <c:f>Sheet1!$M$1</c:f>
              <c:strCache>
                <c:ptCount val="1"/>
                <c:pt idx="0">
                  <c:v>地区影子价格差</c:v>
                </c:pt>
              </c:strCache>
            </c:strRef>
          </c:tx>
          <c:spPr>
            <a:solidFill>
              <a:schemeClr val="accent3"/>
            </a:solidFill>
            <a:ln>
              <a:noFill/>
            </a:ln>
            <a:effectLst/>
          </c:spPr>
          <c:invertIfNegative val="0"/>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Sheet1!$M$2:$M$11</c:f>
              <c:numCache>
                <c:formatCode>0.00_ </c:formatCode>
                <c:ptCount val="10"/>
                <c:pt idx="0">
                  <c:v>122.781964714321</c:v>
                </c:pt>
                <c:pt idx="1">
                  <c:v>123.069903997845</c:v>
                </c:pt>
                <c:pt idx="2">
                  <c:v>123.066057994785</c:v>
                </c:pt>
                <c:pt idx="3">
                  <c:v>123.459865378773</c:v>
                </c:pt>
                <c:pt idx="4">
                  <c:v>122.982653116629</c:v>
                </c:pt>
                <c:pt idx="5">
                  <c:v>122.848293867427</c:v>
                </c:pt>
                <c:pt idx="6">
                  <c:v>123.631247636144</c:v>
                </c:pt>
                <c:pt idx="7">
                  <c:v>126.095445943357</c:v>
                </c:pt>
                <c:pt idx="8">
                  <c:v>125.870921550221</c:v>
                </c:pt>
                <c:pt idx="9">
                  <c:v>127.302998090335</c:v>
                </c:pt>
              </c:numCache>
            </c:numRef>
          </c:val>
        </c:ser>
        <c:dLbls>
          <c:showLegendKey val="0"/>
          <c:showVal val="0"/>
          <c:showCatName val="0"/>
          <c:showSerName val="0"/>
          <c:showPercent val="0"/>
          <c:showBubbleSize val="0"/>
        </c:dLbls>
        <c:gapWidth val="150"/>
        <c:axId val="722310336"/>
        <c:axId val="701605088"/>
      </c:barChart>
      <c:catAx>
        <c:axId val="722310336"/>
        <c:scaling>
          <c:orientation val="minMax"/>
        </c:scaling>
        <c:delete val="0"/>
        <c:axPos val="b"/>
        <c:numFmt formatCode="General" sourceLinked="1"/>
        <c:majorTickMark val="out"/>
        <c:minorTickMark val="none"/>
        <c:tickLblPos val="low"/>
        <c:spPr>
          <a:noFill/>
          <a:ln w="12700" cap="flat" cmpd="sng" algn="ctr">
            <a:solidFill>
              <a:srgbClr val="000000"/>
            </a:solidFill>
            <a:prstDash val="solid"/>
            <a:roun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01605088"/>
        <c:crosses val="autoZero"/>
        <c:auto val="0"/>
        <c:lblAlgn val="ctr"/>
        <c:lblOffset val="100"/>
        <c:noMultiLvlLbl val="0"/>
      </c:catAx>
      <c:valAx>
        <c:axId val="701605088"/>
        <c:scaling>
          <c:orientation val="minMax"/>
        </c:scaling>
        <c:delete val="0"/>
        <c:axPos val="l"/>
        <c:numFmt formatCode="0.00_ "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22310336"/>
        <c:crosses val="autoZero"/>
        <c:crossBetween val="between"/>
      </c:valAx>
      <c:spPr>
        <a:noFill/>
        <a:ln>
          <a:noFill/>
        </a:ln>
        <a:effectLst/>
      </c:spPr>
    </c:plotArea>
    <c:legend>
      <c:legendPos val="t"/>
      <c:layout>
        <c:manualLayout>
          <c:xMode val="edge"/>
          <c:yMode val="edge"/>
          <c:x val="0.398829645270547"/>
          <c:y val="0.0987648560424456"/>
          <c:w val="0.202340709458906"/>
          <c:h val="0.109067119274117"/>
        </c:manualLayout>
      </c:layout>
      <c:overlay val="0"/>
      <c:spPr>
        <a:noFill/>
        <a:ln>
          <a:noFill/>
        </a:ln>
        <a:effectLst/>
      </c:spPr>
      <c:txPr>
        <a:bodyPr rot="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rgbClr val="F2F2F2"/>
    </a:solidFill>
    <a:ln w="25400" cap="flat" cmpd="sng" algn="ctr">
      <a:noFill/>
      <a:round/>
    </a:ln>
    <a:effectLst/>
  </c:spPr>
  <c:txPr>
    <a:bodyPr/>
    <a:lstStyle/>
    <a:p>
      <a:pPr>
        <a:defRPr lang="zh-CN" sz="6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lineChart>
        <c:grouping val="standard"/>
        <c:varyColors val="0"/>
        <c:ser>
          <c:idx val="0"/>
          <c:order val="0"/>
          <c:tx>
            <c:strRef>
              <c:f>Sheet1!$K$1</c:f>
              <c:strCache>
                <c:ptCount val="1"/>
                <c:pt idx="0">
                  <c:v>东南沿海</c:v>
                </c:pt>
              </c:strCache>
            </c:strRef>
          </c:tx>
          <c:spPr>
            <a:ln w="28575" cap="rnd">
              <a:solidFill>
                <a:schemeClr val="accent3">
                  <a:shade val="76000"/>
                </a:schemeClr>
              </a:solidFill>
              <a:round/>
            </a:ln>
            <a:effectLst/>
          </c:spPr>
          <c:marker>
            <c:symbol val="none"/>
          </c:marker>
          <c:dLbls>
            <c:delete val="1"/>
          </c:dLbls>
          <c:cat>
            <c:numRef>
              <c:f>Sheet1!$B$2:$B$11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Sheet1!$K$2:$K$11</c:f>
              <c:numCache>
                <c:formatCode>0.00_ </c:formatCode>
                <c:ptCount val="10"/>
                <c:pt idx="0">
                  <c:v>163.244231817587</c:v>
                </c:pt>
                <c:pt idx="1">
                  <c:v>162.394594705525</c:v>
                </c:pt>
                <c:pt idx="2">
                  <c:v>161.31874226567</c:v>
                </c:pt>
                <c:pt idx="3">
                  <c:v>161.071166830192</c:v>
                </c:pt>
                <c:pt idx="4">
                  <c:v>160.018172706325</c:v>
                </c:pt>
                <c:pt idx="5">
                  <c:v>159.688142187805</c:v>
                </c:pt>
                <c:pt idx="6">
                  <c:v>159.597307751643</c:v>
                </c:pt>
                <c:pt idx="7">
                  <c:v>161.393782980109</c:v>
                </c:pt>
                <c:pt idx="8">
                  <c:v>160.786692798638</c:v>
                </c:pt>
                <c:pt idx="9">
                  <c:v>161.755315822425</c:v>
                </c:pt>
              </c:numCache>
            </c:numRef>
          </c:val>
          <c:smooth val="0"/>
        </c:ser>
        <c:dLbls>
          <c:showLegendKey val="0"/>
          <c:showVal val="0"/>
          <c:showCatName val="0"/>
          <c:showSerName val="0"/>
          <c:showPercent val="0"/>
          <c:showBubbleSize val="0"/>
        </c:dLbls>
        <c:marker val="0"/>
        <c:smooth val="0"/>
        <c:axId val="722291136"/>
        <c:axId val="728112432"/>
      </c:lineChart>
      <c:lineChart>
        <c:grouping val="standard"/>
        <c:varyColors val="0"/>
        <c:ser>
          <c:idx val="1"/>
          <c:order val="1"/>
          <c:tx>
            <c:strRef>
              <c:f>Sheet1!$L$1</c:f>
              <c:strCache>
                <c:ptCount val="1"/>
                <c:pt idx="0">
                  <c:v>西北内陆</c:v>
                </c:pt>
              </c:strCache>
            </c:strRef>
          </c:tx>
          <c:spPr>
            <a:ln w="28575" cap="rnd">
              <a:solidFill>
                <a:schemeClr val="accent3">
                  <a:tint val="77000"/>
                </a:schemeClr>
              </a:solidFill>
              <a:round/>
            </a:ln>
            <a:effectLst/>
          </c:spPr>
          <c:marker>
            <c:symbol val="none"/>
          </c:marker>
          <c:dLbls>
            <c:delete val="1"/>
          </c:dLbls>
          <c:val>
            <c:numRef>
              <c:f>Sheet1!$L$2:$L$11</c:f>
              <c:numCache>
                <c:formatCode>0.00_ </c:formatCode>
                <c:ptCount val="10"/>
                <c:pt idx="0">
                  <c:v>40.4622671032652</c:v>
                </c:pt>
                <c:pt idx="1">
                  <c:v>39.3246907076807</c:v>
                </c:pt>
                <c:pt idx="2">
                  <c:v>38.2526842708848</c:v>
                </c:pt>
                <c:pt idx="3">
                  <c:v>37.6113014514186</c:v>
                </c:pt>
                <c:pt idx="4">
                  <c:v>37.0355195896953</c:v>
                </c:pt>
                <c:pt idx="5">
                  <c:v>36.8398483203784</c:v>
                </c:pt>
                <c:pt idx="6">
                  <c:v>35.9660601154986</c:v>
                </c:pt>
                <c:pt idx="7">
                  <c:v>35.2983370367523</c:v>
                </c:pt>
                <c:pt idx="8">
                  <c:v>34.9157712484175</c:v>
                </c:pt>
                <c:pt idx="9">
                  <c:v>34.4523177320907</c:v>
                </c:pt>
              </c:numCache>
            </c:numRef>
          </c:val>
          <c:smooth val="0"/>
        </c:ser>
        <c:dLbls>
          <c:showLegendKey val="0"/>
          <c:showVal val="0"/>
          <c:showCatName val="0"/>
          <c:showSerName val="0"/>
          <c:showPercent val="0"/>
          <c:showBubbleSize val="0"/>
        </c:dLbls>
        <c:marker val="0"/>
        <c:smooth val="0"/>
        <c:axId val="722296416"/>
        <c:axId val="728119872"/>
      </c:lineChart>
      <c:catAx>
        <c:axId val="722291136"/>
        <c:scaling>
          <c:orientation val="minMax"/>
        </c:scaling>
        <c:delete val="0"/>
        <c:axPos val="b"/>
        <c:numFmt formatCode="General" sourceLinked="1"/>
        <c:majorTickMark val="out"/>
        <c:minorTickMark val="none"/>
        <c:tickLblPos val="low"/>
        <c:spPr>
          <a:noFill/>
          <a:ln w="12700" cap="flat" cmpd="sng" algn="ctr">
            <a:solidFill>
              <a:srgbClr val="000000"/>
            </a:solidFill>
            <a:prstDash val="solid"/>
            <a:roun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28112432"/>
        <c:crosses val="autoZero"/>
        <c:auto val="1"/>
        <c:lblAlgn val="ctr"/>
        <c:lblOffset val="100"/>
        <c:noMultiLvlLbl val="0"/>
      </c:catAx>
      <c:valAx>
        <c:axId val="728112432"/>
        <c:scaling>
          <c:orientation val="minMax"/>
        </c:scaling>
        <c:delete val="0"/>
        <c:axPos val="l"/>
        <c:numFmt formatCode="0.00_ "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22291136"/>
        <c:crosses val="autoZero"/>
        <c:crossBetween val="midCat"/>
      </c:valAx>
      <c:catAx>
        <c:axId val="722296416"/>
        <c:scaling>
          <c:orientation val="minMax"/>
        </c:scaling>
        <c:delete val="1"/>
        <c:axPos val="b"/>
        <c:majorTickMark val="out"/>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28119872"/>
        <c:crosses val="autoZero"/>
        <c:auto val="1"/>
        <c:lblAlgn val="ctr"/>
        <c:lblOffset val="100"/>
        <c:noMultiLvlLbl val="0"/>
      </c:catAx>
      <c:valAx>
        <c:axId val="728119872"/>
        <c:scaling>
          <c:orientation val="minMax"/>
        </c:scaling>
        <c:delete val="0"/>
        <c:axPos val="r"/>
        <c:numFmt formatCode="0.00_ "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22296416"/>
        <c:crosses val="max"/>
        <c:crossBetween val="between"/>
      </c:valAx>
      <c:spPr>
        <a:noFill/>
        <a:ln>
          <a:noFill/>
        </a:ln>
        <a:effectLst/>
      </c:spPr>
    </c:plotArea>
    <c:legend>
      <c:legendPos val="t"/>
      <c:layout>
        <c:manualLayout>
          <c:xMode val="edge"/>
          <c:yMode val="edge"/>
          <c:x val="0.317788817802642"/>
          <c:y val="0.10584014879746"/>
          <c:w val="0.364422115309171"/>
          <c:h val="0.127505937882364"/>
        </c:manualLayout>
      </c:layout>
      <c:overlay val="0"/>
      <c:spPr>
        <a:noFill/>
        <a:ln w="25400">
          <a:noFill/>
        </a:ln>
        <a:effectLst/>
      </c:spPr>
      <c:txPr>
        <a:bodyPr rot="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rgbClr val="F2F2F2"/>
    </a:solidFill>
    <a:ln w="25400" cap="flat" cmpd="sng" algn="ctr">
      <a:noFill/>
      <a:round/>
    </a:ln>
    <a:effectLst/>
  </c:spPr>
  <c:txPr>
    <a:bodyPr/>
    <a:lstStyle/>
    <a:p>
      <a:pPr>
        <a:defRPr lang="zh-CN" sz="6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lineChart>
        <c:grouping val="stacked"/>
        <c:varyColors val="0"/>
        <c:ser>
          <c:idx val="0"/>
          <c:order val="0"/>
          <c:tx>
            <c:strRef>
              <c:f>Sheet1!$N$1</c:f>
              <c:strCache>
                <c:ptCount val="1"/>
                <c:pt idx="0">
                  <c:v>上海</c:v>
                </c:pt>
              </c:strCache>
            </c:strRef>
          </c:tx>
          <c:spPr>
            <a:ln w="19050" cap="rnd">
              <a:solidFill>
                <a:schemeClr val="accent3">
                  <a:shade val="45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Sheet1!$N$2:$N$10</c:f>
              <c:numCache>
                <c:formatCode>0.00%</c:formatCode>
                <c:ptCount val="9"/>
                <c:pt idx="0">
                  <c:v>-0.00135395120071657</c:v>
                </c:pt>
                <c:pt idx="1">
                  <c:v>-0.00653099404432289</c:v>
                </c:pt>
                <c:pt idx="2">
                  <c:v>0.00244399636017012</c:v>
                </c:pt>
                <c:pt idx="3">
                  <c:v>-0.00478328429749808</c:v>
                </c:pt>
                <c:pt idx="4">
                  <c:v>0.00298981301831946</c:v>
                </c:pt>
                <c:pt idx="5">
                  <c:v>0.00506062219073633</c:v>
                </c:pt>
                <c:pt idx="6">
                  <c:v>0.0283071071044534</c:v>
                </c:pt>
                <c:pt idx="7">
                  <c:v>-0.000443788040798698</c:v>
                </c:pt>
                <c:pt idx="8">
                  <c:v>0.0239535168859628</c:v>
                </c:pt>
              </c:numCache>
            </c:numRef>
          </c:val>
          <c:smooth val="0"/>
        </c:ser>
        <c:ser>
          <c:idx val="1"/>
          <c:order val="1"/>
          <c:tx>
            <c:strRef>
              <c:f>Sheet1!$O$1</c:f>
              <c:strCache>
                <c:ptCount val="1"/>
                <c:pt idx="0">
                  <c:v>江苏</c:v>
                </c:pt>
              </c:strCache>
            </c:strRef>
          </c:tx>
          <c:spPr>
            <a:ln w="19050" cap="rnd">
              <a:solidFill>
                <a:schemeClr val="accent3">
                  <a:shade val="61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Sheet1!$O$2:$O$10</c:f>
              <c:numCache>
                <c:formatCode>0.00%</c:formatCode>
                <c:ptCount val="9"/>
                <c:pt idx="0">
                  <c:v>-0.00666357589041922</c:v>
                </c:pt>
                <c:pt idx="1">
                  <c:v>-0.00186894485431821</c:v>
                </c:pt>
                <c:pt idx="2">
                  <c:v>-0.00402471073278476</c:v>
                </c:pt>
                <c:pt idx="3">
                  <c:v>-0.00365532675295466</c:v>
                </c:pt>
                <c:pt idx="4">
                  <c:v>-0.0033380396476792</c:v>
                </c:pt>
                <c:pt idx="5">
                  <c:v>-0.000820206066902918</c:v>
                </c:pt>
                <c:pt idx="6">
                  <c:v>-9.27016737524156e-5</c:v>
                </c:pt>
                <c:pt idx="7">
                  <c:v>-0.00395853029561699</c:v>
                </c:pt>
                <c:pt idx="8">
                  <c:v>-0.00359853939164356</c:v>
                </c:pt>
              </c:numCache>
            </c:numRef>
          </c:val>
          <c:smooth val="0"/>
        </c:ser>
        <c:ser>
          <c:idx val="2"/>
          <c:order val="2"/>
          <c:tx>
            <c:strRef>
              <c:f>Sheet1!$P$1</c:f>
              <c:strCache>
                <c:ptCount val="1"/>
                <c:pt idx="0">
                  <c:v>浙江</c:v>
                </c:pt>
              </c:strCache>
            </c:strRef>
          </c:tx>
          <c:spPr>
            <a:ln w="19050" cap="rnd">
              <a:solidFill>
                <a:schemeClr val="accent3">
                  <a:shade val="76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Sheet1!$P$2:$P$10</c:f>
              <c:numCache>
                <c:formatCode>0.00%</c:formatCode>
                <c:ptCount val="9"/>
                <c:pt idx="0">
                  <c:v>-0.00432455901966156</c:v>
                </c:pt>
                <c:pt idx="1">
                  <c:v>-0.00702258635926367</c:v>
                </c:pt>
                <c:pt idx="2">
                  <c:v>-0.0047408876118018</c:v>
                </c:pt>
                <c:pt idx="3">
                  <c:v>-0.0105270497437974</c:v>
                </c:pt>
                <c:pt idx="4">
                  <c:v>-0.00667321999227299</c:v>
                </c:pt>
                <c:pt idx="5">
                  <c:v>-0.00683588416629211</c:v>
                </c:pt>
                <c:pt idx="6">
                  <c:v>-0.0037140605038477</c:v>
                </c:pt>
                <c:pt idx="7">
                  <c:v>-0.0069078510751398</c:v>
                </c:pt>
                <c:pt idx="8">
                  <c:v>-0.0183308575246367</c:v>
                </c:pt>
              </c:numCache>
            </c:numRef>
          </c:val>
          <c:smooth val="0"/>
        </c:ser>
        <c:ser>
          <c:idx val="3"/>
          <c:order val="3"/>
          <c:tx>
            <c:strRef>
              <c:f>Sheet1!$Q$1</c:f>
              <c:strCache>
                <c:ptCount val="1"/>
                <c:pt idx="0">
                  <c:v>安徽</c:v>
                </c:pt>
              </c:strCache>
            </c:strRef>
          </c:tx>
          <c:spPr>
            <a:ln w="19050" cap="rnd">
              <a:solidFill>
                <a:schemeClr val="accent3">
                  <a:shade val="92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Sheet1!$Q$2:$Q$10</c:f>
              <c:numCache>
                <c:formatCode>0.00%</c:formatCode>
                <c:ptCount val="9"/>
                <c:pt idx="0">
                  <c:v>-0.0159904797371305</c:v>
                </c:pt>
                <c:pt idx="1">
                  <c:v>-0.0137618302962688</c:v>
                </c:pt>
                <c:pt idx="2">
                  <c:v>-0.00429210338135499</c:v>
                </c:pt>
                <c:pt idx="3">
                  <c:v>-0.00975146779192759</c:v>
                </c:pt>
                <c:pt idx="4">
                  <c:v>-0.00784062021656939</c:v>
                </c:pt>
                <c:pt idx="5">
                  <c:v>-0.00713533543122169</c:v>
                </c:pt>
                <c:pt idx="6">
                  <c:v>0.00109895953629335</c:v>
                </c:pt>
                <c:pt idx="7">
                  <c:v>-0.00892914235014741</c:v>
                </c:pt>
                <c:pt idx="8">
                  <c:v>0.00424079452032822</c:v>
                </c:pt>
              </c:numCache>
            </c:numRef>
          </c:val>
          <c:smooth val="0"/>
        </c:ser>
        <c:ser>
          <c:idx val="4"/>
          <c:order val="4"/>
          <c:tx>
            <c:strRef>
              <c:f>Sheet1!$R$1</c:f>
              <c:strCache>
                <c:ptCount val="1"/>
                <c:pt idx="0">
                  <c:v>内蒙古</c:v>
                </c:pt>
              </c:strCache>
            </c:strRef>
          </c:tx>
          <c:spPr>
            <a:ln w="19050" cap="rnd">
              <a:solidFill>
                <a:schemeClr val="accent3">
                  <a:tint val="93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Sheet1!$R$2:$R$10</c:f>
              <c:numCache>
                <c:formatCode>0.00%</c:formatCode>
                <c:ptCount val="9"/>
                <c:pt idx="0">
                  <c:v>-0.0115976583828498</c:v>
                </c:pt>
                <c:pt idx="1">
                  <c:v>-0.0107940902296657</c:v>
                </c:pt>
                <c:pt idx="2">
                  <c:v>-0.0112109751153762</c:v>
                </c:pt>
                <c:pt idx="3">
                  <c:v>-0.00963782577719718</c:v>
                </c:pt>
                <c:pt idx="4">
                  <c:v>-0.00757906129271813</c:v>
                </c:pt>
                <c:pt idx="5">
                  <c:v>-0.00955645263819349</c:v>
                </c:pt>
                <c:pt idx="6">
                  <c:v>-0.025723680576453</c:v>
                </c:pt>
                <c:pt idx="7">
                  <c:v>-0.0134109161520439</c:v>
                </c:pt>
                <c:pt idx="8">
                  <c:v>-0.00990388987610658</c:v>
                </c:pt>
              </c:numCache>
            </c:numRef>
          </c:val>
          <c:smooth val="0"/>
        </c:ser>
        <c:ser>
          <c:idx val="5"/>
          <c:order val="5"/>
          <c:tx>
            <c:strRef>
              <c:f>Sheet1!$S$1</c:f>
              <c:strCache>
                <c:ptCount val="1"/>
                <c:pt idx="0">
                  <c:v>甘肃</c:v>
                </c:pt>
              </c:strCache>
            </c:strRef>
          </c:tx>
          <c:spPr>
            <a:ln w="19050" cap="rnd">
              <a:solidFill>
                <a:schemeClr val="accent3">
                  <a:tint val="77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Sheet1!$S$2:$S$10</c:f>
              <c:numCache>
                <c:formatCode>0.00%</c:formatCode>
                <c:ptCount val="9"/>
                <c:pt idx="0">
                  <c:v>-0.0239769300668058</c:v>
                </c:pt>
                <c:pt idx="1">
                  <c:v>-0.0188244740273084</c:v>
                </c:pt>
                <c:pt idx="2">
                  <c:v>-0.0140380832721915</c:v>
                </c:pt>
                <c:pt idx="3">
                  <c:v>-0.00794739984093107</c:v>
                </c:pt>
                <c:pt idx="4">
                  <c:v>0.00125936268113302</c:v>
                </c:pt>
                <c:pt idx="5">
                  <c:v>-0.0156377648981488</c:v>
                </c:pt>
                <c:pt idx="6">
                  <c:v>-0.0151751924936133</c:v>
                </c:pt>
                <c:pt idx="7">
                  <c:v>-0.00340653942389102</c:v>
                </c:pt>
                <c:pt idx="8">
                  <c:v>-0.0151357214285583</c:v>
                </c:pt>
              </c:numCache>
            </c:numRef>
          </c:val>
          <c:smooth val="0"/>
        </c:ser>
        <c:ser>
          <c:idx val="6"/>
          <c:order val="6"/>
          <c:tx>
            <c:strRef>
              <c:f>Sheet1!$T$1</c:f>
              <c:strCache>
                <c:ptCount val="1"/>
                <c:pt idx="0">
                  <c:v>宁夏</c:v>
                </c:pt>
              </c:strCache>
            </c:strRef>
          </c:tx>
          <c:spPr>
            <a:ln w="19050" cap="rnd">
              <a:solidFill>
                <a:schemeClr val="accent3">
                  <a:tint val="62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Sheet1!$T$2:$T$10</c:f>
              <c:numCache>
                <c:formatCode>0.00%</c:formatCode>
                <c:ptCount val="9"/>
                <c:pt idx="0">
                  <c:v>-0.0224536658188317</c:v>
                </c:pt>
                <c:pt idx="1">
                  <c:v>-0.0328692276337862</c:v>
                </c:pt>
                <c:pt idx="2">
                  <c:v>-0.0197046290631328</c:v>
                </c:pt>
                <c:pt idx="3">
                  <c:v>-0.0366872633927751</c:v>
                </c:pt>
                <c:pt idx="4">
                  <c:v>-0.0108877285669989</c:v>
                </c:pt>
                <c:pt idx="5">
                  <c:v>-0.0675813225051758</c:v>
                </c:pt>
                <c:pt idx="6">
                  <c:v>-0.041243745587536</c:v>
                </c:pt>
                <c:pt idx="7">
                  <c:v>-0.0293639274437785</c:v>
                </c:pt>
                <c:pt idx="8">
                  <c:v>-0.0199856503432909</c:v>
                </c:pt>
              </c:numCache>
            </c:numRef>
          </c:val>
          <c:smooth val="0"/>
        </c:ser>
        <c:ser>
          <c:idx val="7"/>
          <c:order val="7"/>
          <c:tx>
            <c:strRef>
              <c:f>Sheet1!$U$1</c:f>
              <c:strCache>
                <c:ptCount val="1"/>
                <c:pt idx="0">
                  <c:v>新疆</c:v>
                </c:pt>
              </c:strCache>
            </c:strRef>
          </c:tx>
          <c:spPr>
            <a:ln w="19050" cap="rnd">
              <a:solidFill>
                <a:schemeClr val="accent3">
                  <a:tint val="46000"/>
                </a:schemeClr>
              </a:solidFill>
              <a:round/>
            </a:ln>
            <a:effectLst/>
          </c:spPr>
          <c:marker>
            <c:symbol val="none"/>
          </c:marker>
          <c:dLbls>
            <c:delete val="1"/>
          </c:dLbls>
          <c:cat>
            <c:numRef>
              <c:f>Sheet1!$B$3:$B$11</c:f>
              <c:numCache>
                <c:formatCode>General</c:formatCode>
                <c:ptCount val="9"/>
                <c:pt idx="0">
                  <c:v>2012</c:v>
                </c:pt>
                <c:pt idx="1">
                  <c:v>2013</c:v>
                </c:pt>
                <c:pt idx="2">
                  <c:v>2014</c:v>
                </c:pt>
                <c:pt idx="3">
                  <c:v>2015</c:v>
                </c:pt>
                <c:pt idx="4">
                  <c:v>2016</c:v>
                </c:pt>
                <c:pt idx="5">
                  <c:v>2017</c:v>
                </c:pt>
                <c:pt idx="6">
                  <c:v>2018</c:v>
                </c:pt>
                <c:pt idx="7">
                  <c:v>2019</c:v>
                </c:pt>
                <c:pt idx="8">
                  <c:v>2020</c:v>
                </c:pt>
              </c:numCache>
            </c:numRef>
          </c:cat>
          <c:val>
            <c:numRef>
              <c:f>Sheet1!$U$2:$U$10</c:f>
              <c:numCache>
                <c:formatCode>0.00%</c:formatCode>
                <c:ptCount val="9"/>
                <c:pt idx="0">
                  <c:v>-0.0519364022567765</c:v>
                </c:pt>
                <c:pt idx="1">
                  <c:v>-0.0504452510905171</c:v>
                </c:pt>
                <c:pt idx="2">
                  <c:v>-0.0237955226056844</c:v>
                </c:pt>
                <c:pt idx="3">
                  <c:v>-0.0157137179157775</c:v>
                </c:pt>
                <c:pt idx="4">
                  <c:v>-0.0115066689175003</c:v>
                </c:pt>
                <c:pt idx="5">
                  <c:v>-0.0142003787689579</c:v>
                </c:pt>
                <c:pt idx="6">
                  <c:v>-0.00158003135345774</c:v>
                </c:pt>
                <c:pt idx="7">
                  <c:v>-0.00917983022695201</c:v>
                </c:pt>
                <c:pt idx="8">
                  <c:v>-0.00725699638752664</c:v>
                </c:pt>
              </c:numCache>
            </c:numRef>
          </c:val>
          <c:smooth val="0"/>
        </c:ser>
        <c:dLbls>
          <c:showLegendKey val="0"/>
          <c:showVal val="0"/>
          <c:showCatName val="0"/>
          <c:showSerName val="0"/>
          <c:showPercent val="0"/>
          <c:showBubbleSize val="0"/>
        </c:dLbls>
        <c:marker val="0"/>
        <c:smooth val="0"/>
        <c:axId val="662842912"/>
        <c:axId val="701582272"/>
      </c:lineChart>
      <c:catAx>
        <c:axId val="662842912"/>
        <c:scaling>
          <c:orientation val="minMax"/>
        </c:scaling>
        <c:delete val="0"/>
        <c:axPos val="b"/>
        <c:numFmt formatCode="General" sourceLinked="1"/>
        <c:majorTickMark val="out"/>
        <c:minorTickMark val="none"/>
        <c:tickLblPos val="low"/>
        <c:spPr>
          <a:noFill/>
          <a:ln w="12700" cap="flat" cmpd="sng" algn="ctr">
            <a:solidFill>
              <a:srgbClr val="000000"/>
            </a:solidFill>
            <a:prstDash val="solid"/>
            <a:roun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701582272"/>
        <c:crosses val="autoZero"/>
        <c:auto val="1"/>
        <c:lblAlgn val="ctr"/>
        <c:lblOffset val="100"/>
        <c:noMultiLvlLbl val="0"/>
      </c:catAx>
      <c:valAx>
        <c:axId val="701582272"/>
        <c:scaling>
          <c:orientation val="minMax"/>
        </c:scaling>
        <c:delete val="0"/>
        <c:axPos val="l"/>
        <c:numFmt formatCode="0.00%"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62842912"/>
        <c:crosses val="autoZero"/>
        <c:crossBetween val="midCat"/>
      </c:valAx>
      <c:spPr>
        <a:noFill/>
        <a:ln>
          <a:noFill/>
        </a:ln>
        <a:effectLst/>
      </c:spPr>
    </c:plotArea>
    <c:legend>
      <c:legendPos val="t"/>
      <c:layout>
        <c:manualLayout>
          <c:xMode val="edge"/>
          <c:yMode val="edge"/>
          <c:x val="0.0500001142650813"/>
          <c:y val="0.16181716958735"/>
          <c:w val="0.899999789738835"/>
          <c:h val="0.0807188373210653"/>
        </c:manualLayout>
      </c:layout>
      <c:overlay val="0"/>
      <c:spPr>
        <a:noFill/>
        <a:ln w="25400">
          <a:noFill/>
        </a:ln>
        <a:effectLst/>
      </c:spPr>
      <c:txPr>
        <a:bodyPr rot="0" spcFirstLastPara="1"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legend>
    <c:plotVisOnly val="1"/>
    <c:dispBlanksAs val="zero"/>
    <c:showDLblsOverMax val="0"/>
  </c:chart>
  <c:spPr>
    <a:solidFill>
      <a:srgbClr val="F2F2F2"/>
    </a:solidFill>
    <a:ln w="25400" cap="flat" cmpd="sng" algn="ctr">
      <a:noFill/>
      <a:round/>
    </a:ln>
    <a:effectLst/>
  </c:spPr>
  <c:txPr>
    <a:bodyPr/>
    <a:lstStyle/>
    <a:p>
      <a:pPr>
        <a:defRPr lang="zh-CN" sz="600"/>
      </a:pPr>
    </a:p>
  </c:txPr>
  <c:externalData r:id="rId1">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a:xfrm>
            <a:off x="0" y="1"/>
            <a:ext cx="383177" cy="757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
        <p:nvSpPr>
          <p:cNvPr id="2" name="矩形 1"/>
          <p:cNvSpPr/>
          <p:nvPr userDrawn="1"/>
        </p:nvSpPr>
        <p:spPr>
          <a:xfrm>
            <a:off x="0" y="1"/>
            <a:ext cx="383177" cy="757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4"/>
          </p:nvPr>
        </p:nvSpPr>
        <p:spPr>
          <a:xfrm>
            <a:off x="86354" y="1106643"/>
            <a:ext cx="2170945" cy="15756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4" name="Picture Placeholder 7"/>
          <p:cNvSpPr>
            <a:spLocks noGrp="1"/>
          </p:cNvSpPr>
          <p:nvPr>
            <p:ph type="pic" sz="quarter" idx="15"/>
          </p:nvPr>
        </p:nvSpPr>
        <p:spPr>
          <a:xfrm>
            <a:off x="2366527" y="2765760"/>
            <a:ext cx="2170945" cy="15756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Picture Placeholder 7"/>
          <p:cNvSpPr>
            <a:spLocks noGrp="1"/>
          </p:cNvSpPr>
          <p:nvPr>
            <p:ph type="pic" sz="quarter" idx="16"/>
          </p:nvPr>
        </p:nvSpPr>
        <p:spPr>
          <a:xfrm>
            <a:off x="4646700" y="1106643"/>
            <a:ext cx="2170945" cy="15756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7"/>
          </p:nvPr>
        </p:nvSpPr>
        <p:spPr>
          <a:xfrm>
            <a:off x="6926874" y="2765760"/>
            <a:ext cx="2170945" cy="1575608"/>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矩形 6"/>
          <p:cNvSpPr/>
          <p:nvPr userDrawn="1"/>
        </p:nvSpPr>
        <p:spPr>
          <a:xfrm>
            <a:off x="86354" y="2765760"/>
            <a:ext cx="2170945" cy="1575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2366527" y="1106643"/>
            <a:ext cx="2170945" cy="1575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4646700" y="2765760"/>
            <a:ext cx="2170945" cy="1575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926317" y="1106643"/>
            <a:ext cx="2170945" cy="1575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
          <p:cNvSpPr/>
          <p:nvPr userDrawn="1"/>
        </p:nvSpPr>
        <p:spPr>
          <a:xfrm>
            <a:off x="0" y="1"/>
            <a:ext cx="383177" cy="7576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图片占位符 7"/>
          <p:cNvSpPr>
            <a:spLocks noGrp="1"/>
          </p:cNvSpPr>
          <p:nvPr>
            <p:ph type="pic" sz="quarter" idx="10"/>
          </p:nvPr>
        </p:nvSpPr>
        <p:spPr>
          <a:xfrm>
            <a:off x="0" y="1177047"/>
            <a:ext cx="4163438" cy="3025302"/>
          </a:xfrm>
        </p:spPr>
        <p:txBody>
          <a:bodyPr/>
          <a:lstStyle/>
          <a:p>
            <a:endParaRPr lang="zh-CN" altLang="en-US"/>
          </a:p>
        </p:txBody>
      </p:sp>
      <p:sp>
        <p:nvSpPr>
          <p:cNvPr id="3" name="矩形 2"/>
          <p:cNvSpPr/>
          <p:nvPr userDrawn="1"/>
        </p:nvSpPr>
        <p:spPr>
          <a:xfrm>
            <a:off x="4241260" y="1177047"/>
            <a:ext cx="4902740" cy="3025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F87CF-3569-4A6D-ABE9-80B564D3AFB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431EDE2-ED55-47B1-BF0C-0EF98048EBB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13F87CF-3569-4A6D-ABE9-80B564D3AFB4}"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431EDE2-ED55-47B1-BF0C-0EF98048EBB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7" Type="http://schemas.openxmlformats.org/officeDocument/2006/relationships/slideLayout" Target="../slideLayouts/slideLayout2.xml"/><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tags" Target="../tags/tag4.xml"/><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image" Target="../media/image10.png"/><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1.png"/><Relationship Id="rId28" Type="http://schemas.openxmlformats.org/officeDocument/2006/relationships/slideLayout" Target="../slideLayouts/slideLayout2.xml"/><Relationship Id="rId27" Type="http://schemas.openxmlformats.org/officeDocument/2006/relationships/tags" Target="../tags/tag61.xml"/><Relationship Id="rId26" Type="http://schemas.openxmlformats.org/officeDocument/2006/relationships/tags" Target="../tags/tag60.xml"/><Relationship Id="rId25" Type="http://schemas.openxmlformats.org/officeDocument/2006/relationships/tags" Target="../tags/tag59.xml"/><Relationship Id="rId24" Type="http://schemas.openxmlformats.org/officeDocument/2006/relationships/tags" Target="../tags/tag58.xml"/><Relationship Id="rId23" Type="http://schemas.openxmlformats.org/officeDocument/2006/relationships/tags" Target="../tags/tag57.xml"/><Relationship Id="rId22" Type="http://schemas.openxmlformats.org/officeDocument/2006/relationships/tags" Target="../tags/tag56.xml"/><Relationship Id="rId21" Type="http://schemas.openxmlformats.org/officeDocument/2006/relationships/tags" Target="../tags/tag55.xml"/><Relationship Id="rId20" Type="http://schemas.openxmlformats.org/officeDocument/2006/relationships/tags" Target="../tags/tag54.xml"/><Relationship Id="rId2" Type="http://schemas.openxmlformats.org/officeDocument/2006/relationships/tags" Target="../tags/tag37.xml"/><Relationship Id="rId19" Type="http://schemas.openxmlformats.org/officeDocument/2006/relationships/tags" Target="../tags/tag53.xml"/><Relationship Id="rId18" Type="http://schemas.openxmlformats.org/officeDocument/2006/relationships/tags" Target="../tags/tag52.xml"/><Relationship Id="rId17" Type="http://schemas.openxmlformats.org/officeDocument/2006/relationships/tags" Target="../tags/tag51.xml"/><Relationship Id="rId16" Type="http://schemas.openxmlformats.org/officeDocument/2006/relationships/tags" Target="../tags/tag50.xml"/><Relationship Id="rId15" Type="http://schemas.openxmlformats.org/officeDocument/2006/relationships/tags" Target="../tags/tag49.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tags" Target="../tags/tag36.xml"/></Relationships>
</file>

<file path=ppt/slides/_rels/slide14.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0" Type="http://schemas.openxmlformats.org/officeDocument/2006/relationships/slideLayout" Target="../slideLayouts/slideLayout2.xml"/><Relationship Id="rId2" Type="http://schemas.openxmlformats.org/officeDocument/2006/relationships/tags" Target="../tags/tag63.xml"/><Relationship Id="rId19" Type="http://schemas.openxmlformats.org/officeDocument/2006/relationships/tags" Target="../tags/tag79.xml"/><Relationship Id="rId18" Type="http://schemas.openxmlformats.org/officeDocument/2006/relationships/image" Target="../media/image12.png"/><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emf"/><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image" Target="../media/image16.png"/><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image" Target="../media/image15.png"/><Relationship Id="rId10" Type="http://schemas.openxmlformats.org/officeDocument/2006/relationships/slideLayout" Target="../slideLayouts/slideLayout2.xml"/><Relationship Id="rId1" Type="http://schemas.openxmlformats.org/officeDocument/2006/relationships/tags" Target="../tags/tag86.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image" Target="../media/image18.png"/><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31" name="Freeform 5"/>
          <p:cNvSpPr>
            <a:spLocks noEditPoints="1"/>
          </p:cNvSpPr>
          <p:nvPr/>
        </p:nvSpPr>
        <p:spPr bwMode="auto">
          <a:xfrm>
            <a:off x="3965102" y="1071648"/>
            <a:ext cx="1257136" cy="92338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矩形 20"/>
          <p:cNvSpPr/>
          <p:nvPr/>
        </p:nvSpPr>
        <p:spPr bwMode="auto">
          <a:xfrm>
            <a:off x="728980" y="2138045"/>
            <a:ext cx="7668895" cy="995045"/>
          </a:xfrm>
          <a:prstGeom prst="rect">
            <a:avLst/>
          </a:prstGeom>
        </p:spPr>
        <p:txBody>
          <a:bodyPr wrap="square">
            <a:spAutoFit/>
          </a:bodyPr>
          <a:lstStyle/>
          <a:p>
            <a:pPr algn="ctr">
              <a:lnSpc>
                <a:spcPct val="140000"/>
              </a:lnSpc>
              <a:defRPr/>
            </a:pPr>
            <a:r>
              <a:rPr lang="zh-CN" altLang="en-US" sz="2400" b="1" kern="100" dirty="0">
                <a:solidFill>
                  <a:schemeClr val="bg1"/>
                </a:solidFill>
                <a:latin typeface="+mj-ea"/>
                <a:ea typeface="+mj-ea"/>
                <a:cs typeface="Times New Roman" panose="02020603050405020304" pitchFamily="18" charset="0"/>
              </a:rPr>
              <a:t>关键时点下的结构变化</a:t>
            </a:r>
            <a:endParaRPr lang="zh-CN" altLang="en-US" sz="2400" b="1" kern="100" dirty="0">
              <a:solidFill>
                <a:schemeClr val="bg1"/>
              </a:solidFill>
              <a:latin typeface="+mj-ea"/>
              <a:ea typeface="+mj-ea"/>
              <a:cs typeface="Times New Roman" panose="02020603050405020304" pitchFamily="18" charset="0"/>
            </a:endParaRPr>
          </a:p>
          <a:p>
            <a:pPr algn="ctr">
              <a:lnSpc>
                <a:spcPct val="140000"/>
              </a:lnSpc>
              <a:defRPr/>
            </a:pPr>
            <a:r>
              <a:rPr lang="zh-CN" altLang="en-US" kern="100" dirty="0">
                <a:solidFill>
                  <a:schemeClr val="bg1"/>
                </a:solidFill>
                <a:latin typeface="+mj-ea"/>
                <a:ea typeface="+mj-ea"/>
                <a:cs typeface="Times New Roman" panose="02020603050405020304" pitchFamily="18" charset="0"/>
              </a:rPr>
              <a:t>基于方向距离函数和断点回归的二氧化碳减排相关政策与事件研究</a:t>
            </a:r>
            <a:endParaRPr lang="zh-CN" altLang="en-US" kern="100" dirty="0">
              <a:solidFill>
                <a:schemeClr val="bg1"/>
              </a:solidFill>
              <a:latin typeface="+mj-ea"/>
              <a:ea typeface="+mj-ea"/>
              <a:cs typeface="Times New Roman" panose="02020603050405020304" pitchFamily="18" charset="0"/>
            </a:endParaRPr>
          </a:p>
        </p:txBody>
      </p:sp>
      <p:grpSp>
        <p:nvGrpSpPr>
          <p:cNvPr id="5" name="组合 4"/>
          <p:cNvGrpSpPr/>
          <p:nvPr/>
        </p:nvGrpSpPr>
        <p:grpSpPr>
          <a:xfrm>
            <a:off x="3840555" y="3475136"/>
            <a:ext cx="1508760" cy="294005"/>
            <a:chOff x="2817669" y="3787844"/>
            <a:chExt cx="1508760" cy="294005"/>
          </a:xfrm>
        </p:grpSpPr>
        <p:grpSp>
          <p:nvGrpSpPr>
            <p:cNvPr id="13" name="组合 12"/>
            <p:cNvGrpSpPr/>
            <p:nvPr/>
          </p:nvGrpSpPr>
          <p:grpSpPr>
            <a:xfrm>
              <a:off x="2817669" y="3815167"/>
              <a:ext cx="206964" cy="206964"/>
              <a:chOff x="712464" y="3381858"/>
              <a:chExt cx="355571" cy="355571"/>
            </a:xfrm>
          </p:grpSpPr>
          <p:sp>
            <p:nvSpPr>
              <p:cNvPr id="14" name="椭圆 13"/>
              <p:cNvSpPr/>
              <p:nvPr/>
            </p:nvSpPr>
            <p:spPr>
              <a:xfrm>
                <a:off x="712464" y="3381858"/>
                <a:ext cx="355571" cy="3555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Freeform 5"/>
              <p:cNvSpPr>
                <a:spLocks noEditPoints="1"/>
              </p:cNvSpPr>
              <p:nvPr/>
            </p:nvSpPr>
            <p:spPr bwMode="auto">
              <a:xfrm>
                <a:off x="826867" y="3452381"/>
                <a:ext cx="126765" cy="214524"/>
              </a:xfrm>
              <a:custGeom>
                <a:avLst/>
                <a:gdLst>
                  <a:gd name="T0" fmla="*/ 340 w 381"/>
                  <a:gd name="T1" fmla="*/ 360 h 645"/>
                  <a:gd name="T2" fmla="*/ 41 w 381"/>
                  <a:gd name="T3" fmla="*/ 360 h 645"/>
                  <a:gd name="T4" fmla="*/ 6 w 381"/>
                  <a:gd name="T5" fmla="*/ 328 h 645"/>
                  <a:gd name="T6" fmla="*/ 1 w 381"/>
                  <a:gd name="T7" fmla="*/ 273 h 645"/>
                  <a:gd name="T8" fmla="*/ 19 w 381"/>
                  <a:gd name="T9" fmla="*/ 254 h 645"/>
                  <a:gd name="T10" fmla="*/ 362 w 381"/>
                  <a:gd name="T11" fmla="*/ 254 h 645"/>
                  <a:gd name="T12" fmla="*/ 380 w 381"/>
                  <a:gd name="T13" fmla="*/ 273 h 645"/>
                  <a:gd name="T14" fmla="*/ 375 w 381"/>
                  <a:gd name="T15" fmla="*/ 328 h 645"/>
                  <a:gd name="T16" fmla="*/ 340 w 381"/>
                  <a:gd name="T17" fmla="*/ 360 h 645"/>
                  <a:gd name="T18" fmla="*/ 337 w 381"/>
                  <a:gd name="T19" fmla="*/ 378 h 645"/>
                  <a:gd name="T20" fmla="*/ 44 w 381"/>
                  <a:gd name="T21" fmla="*/ 378 h 645"/>
                  <a:gd name="T22" fmla="*/ 79 w 381"/>
                  <a:gd name="T23" fmla="*/ 645 h 645"/>
                  <a:gd name="T24" fmla="*/ 302 w 381"/>
                  <a:gd name="T25" fmla="*/ 645 h 645"/>
                  <a:gd name="T26" fmla="*/ 337 w 381"/>
                  <a:gd name="T27" fmla="*/ 378 h 645"/>
                  <a:gd name="T28" fmla="*/ 192 w 381"/>
                  <a:gd name="T29" fmla="*/ 120 h 645"/>
                  <a:gd name="T30" fmla="*/ 252 w 381"/>
                  <a:gd name="T31" fmla="*/ 60 h 645"/>
                  <a:gd name="T32" fmla="*/ 192 w 381"/>
                  <a:gd name="T33" fmla="*/ 0 h 645"/>
                  <a:gd name="T34" fmla="*/ 132 w 381"/>
                  <a:gd name="T35" fmla="*/ 60 h 645"/>
                  <a:gd name="T36" fmla="*/ 192 w 381"/>
                  <a:gd name="T37" fmla="*/ 120 h 645"/>
                  <a:gd name="T38" fmla="*/ 328 w 381"/>
                  <a:gd name="T39" fmla="*/ 236 h 645"/>
                  <a:gd name="T40" fmla="*/ 315 w 381"/>
                  <a:gd name="T41" fmla="*/ 177 h 645"/>
                  <a:gd name="T42" fmla="*/ 285 w 381"/>
                  <a:gd name="T43" fmla="*/ 149 h 645"/>
                  <a:gd name="T44" fmla="*/ 231 w 381"/>
                  <a:gd name="T45" fmla="*/ 141 h 645"/>
                  <a:gd name="T46" fmla="*/ 205 w 381"/>
                  <a:gd name="T47" fmla="*/ 202 h 645"/>
                  <a:gd name="T48" fmla="*/ 201 w 381"/>
                  <a:gd name="T49" fmla="*/ 172 h 645"/>
                  <a:gd name="T50" fmla="*/ 200 w 381"/>
                  <a:gd name="T51" fmla="*/ 170 h 645"/>
                  <a:gd name="T52" fmla="*/ 185 w 381"/>
                  <a:gd name="T53" fmla="*/ 170 h 645"/>
                  <a:gd name="T54" fmla="*/ 183 w 381"/>
                  <a:gd name="T55" fmla="*/ 172 h 645"/>
                  <a:gd name="T56" fmla="*/ 180 w 381"/>
                  <a:gd name="T57" fmla="*/ 202 h 645"/>
                  <a:gd name="T58" fmla="*/ 153 w 381"/>
                  <a:gd name="T59" fmla="*/ 141 h 645"/>
                  <a:gd name="T60" fmla="*/ 100 w 381"/>
                  <a:gd name="T61" fmla="*/ 149 h 645"/>
                  <a:gd name="T62" fmla="*/ 69 w 381"/>
                  <a:gd name="T63" fmla="*/ 177 h 645"/>
                  <a:gd name="T64" fmla="*/ 56 w 381"/>
                  <a:gd name="T65" fmla="*/ 236 h 645"/>
                  <a:gd name="T66" fmla="*/ 328 w 381"/>
                  <a:gd name="T67" fmla="*/ 236 h 645"/>
                  <a:gd name="T68" fmla="*/ 174 w 381"/>
                  <a:gd name="T69" fmla="*/ 143 h 645"/>
                  <a:gd name="T70" fmla="*/ 181 w 381"/>
                  <a:gd name="T71" fmla="*/ 159 h 645"/>
                  <a:gd name="T72" fmla="*/ 192 w 381"/>
                  <a:gd name="T73" fmla="*/ 162 h 645"/>
                  <a:gd name="T74" fmla="*/ 203 w 381"/>
                  <a:gd name="T75" fmla="*/ 159 h 645"/>
                  <a:gd name="T76" fmla="*/ 211 w 381"/>
                  <a:gd name="T77" fmla="*/ 143 h 645"/>
                  <a:gd name="T78" fmla="*/ 192 w 381"/>
                  <a:gd name="T79" fmla="*/ 136 h 645"/>
                  <a:gd name="T80" fmla="*/ 174 w 381"/>
                  <a:gd name="T81" fmla="*/ 143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1" h="645">
                    <a:moveTo>
                      <a:pt x="340" y="360"/>
                    </a:moveTo>
                    <a:cubicBezTo>
                      <a:pt x="41" y="360"/>
                      <a:pt x="41" y="360"/>
                      <a:pt x="41" y="360"/>
                    </a:cubicBezTo>
                    <a:cubicBezTo>
                      <a:pt x="23" y="360"/>
                      <a:pt x="7" y="346"/>
                      <a:pt x="6" y="328"/>
                    </a:cubicBezTo>
                    <a:cubicBezTo>
                      <a:pt x="1" y="273"/>
                      <a:pt x="1" y="273"/>
                      <a:pt x="1" y="273"/>
                    </a:cubicBezTo>
                    <a:cubicBezTo>
                      <a:pt x="0" y="263"/>
                      <a:pt x="8" y="254"/>
                      <a:pt x="19" y="254"/>
                    </a:cubicBezTo>
                    <a:cubicBezTo>
                      <a:pt x="362" y="254"/>
                      <a:pt x="362" y="254"/>
                      <a:pt x="362" y="254"/>
                    </a:cubicBezTo>
                    <a:cubicBezTo>
                      <a:pt x="373" y="254"/>
                      <a:pt x="381" y="263"/>
                      <a:pt x="380" y="273"/>
                    </a:cubicBezTo>
                    <a:cubicBezTo>
                      <a:pt x="375" y="328"/>
                      <a:pt x="375" y="328"/>
                      <a:pt x="375" y="328"/>
                    </a:cubicBezTo>
                    <a:cubicBezTo>
                      <a:pt x="374" y="346"/>
                      <a:pt x="359" y="360"/>
                      <a:pt x="340" y="360"/>
                    </a:cubicBezTo>
                    <a:close/>
                    <a:moveTo>
                      <a:pt x="337" y="378"/>
                    </a:moveTo>
                    <a:cubicBezTo>
                      <a:pt x="44" y="378"/>
                      <a:pt x="44" y="378"/>
                      <a:pt x="44" y="378"/>
                    </a:cubicBezTo>
                    <a:cubicBezTo>
                      <a:pt x="79" y="645"/>
                      <a:pt x="79" y="645"/>
                      <a:pt x="79" y="645"/>
                    </a:cubicBezTo>
                    <a:cubicBezTo>
                      <a:pt x="302" y="645"/>
                      <a:pt x="302" y="645"/>
                      <a:pt x="302" y="645"/>
                    </a:cubicBezTo>
                    <a:lnTo>
                      <a:pt x="337" y="378"/>
                    </a:lnTo>
                    <a:close/>
                    <a:moveTo>
                      <a:pt x="192" y="120"/>
                    </a:moveTo>
                    <a:cubicBezTo>
                      <a:pt x="225" y="120"/>
                      <a:pt x="252" y="94"/>
                      <a:pt x="252" y="60"/>
                    </a:cubicBezTo>
                    <a:cubicBezTo>
                      <a:pt x="252" y="27"/>
                      <a:pt x="225" y="0"/>
                      <a:pt x="192" y="0"/>
                    </a:cubicBezTo>
                    <a:cubicBezTo>
                      <a:pt x="159" y="0"/>
                      <a:pt x="132" y="27"/>
                      <a:pt x="132" y="60"/>
                    </a:cubicBezTo>
                    <a:cubicBezTo>
                      <a:pt x="132" y="94"/>
                      <a:pt x="159" y="120"/>
                      <a:pt x="192" y="120"/>
                    </a:cubicBezTo>
                    <a:close/>
                    <a:moveTo>
                      <a:pt x="328" y="236"/>
                    </a:moveTo>
                    <a:cubicBezTo>
                      <a:pt x="315" y="177"/>
                      <a:pt x="315" y="177"/>
                      <a:pt x="315" y="177"/>
                    </a:cubicBezTo>
                    <a:cubicBezTo>
                      <a:pt x="312" y="162"/>
                      <a:pt x="300" y="151"/>
                      <a:pt x="285" y="149"/>
                    </a:cubicBezTo>
                    <a:cubicBezTo>
                      <a:pt x="231" y="141"/>
                      <a:pt x="231" y="141"/>
                      <a:pt x="231" y="141"/>
                    </a:cubicBezTo>
                    <a:cubicBezTo>
                      <a:pt x="205" y="202"/>
                      <a:pt x="205" y="202"/>
                      <a:pt x="205" y="202"/>
                    </a:cubicBezTo>
                    <a:cubicBezTo>
                      <a:pt x="201" y="172"/>
                      <a:pt x="201" y="172"/>
                      <a:pt x="201" y="172"/>
                    </a:cubicBezTo>
                    <a:cubicBezTo>
                      <a:pt x="201" y="171"/>
                      <a:pt x="201" y="170"/>
                      <a:pt x="200" y="170"/>
                    </a:cubicBezTo>
                    <a:cubicBezTo>
                      <a:pt x="185" y="170"/>
                      <a:pt x="185" y="170"/>
                      <a:pt x="185" y="170"/>
                    </a:cubicBezTo>
                    <a:cubicBezTo>
                      <a:pt x="184" y="170"/>
                      <a:pt x="183" y="171"/>
                      <a:pt x="183" y="172"/>
                    </a:cubicBezTo>
                    <a:cubicBezTo>
                      <a:pt x="180" y="202"/>
                      <a:pt x="180" y="202"/>
                      <a:pt x="180" y="202"/>
                    </a:cubicBezTo>
                    <a:cubicBezTo>
                      <a:pt x="153" y="141"/>
                      <a:pt x="153" y="141"/>
                      <a:pt x="153" y="141"/>
                    </a:cubicBezTo>
                    <a:cubicBezTo>
                      <a:pt x="100" y="149"/>
                      <a:pt x="100" y="149"/>
                      <a:pt x="100" y="149"/>
                    </a:cubicBezTo>
                    <a:cubicBezTo>
                      <a:pt x="84" y="151"/>
                      <a:pt x="72" y="162"/>
                      <a:pt x="69" y="177"/>
                    </a:cubicBezTo>
                    <a:cubicBezTo>
                      <a:pt x="56" y="236"/>
                      <a:pt x="56" y="236"/>
                      <a:pt x="56" y="236"/>
                    </a:cubicBezTo>
                    <a:lnTo>
                      <a:pt x="328" y="236"/>
                    </a:lnTo>
                    <a:close/>
                    <a:moveTo>
                      <a:pt x="174" y="143"/>
                    </a:moveTo>
                    <a:cubicBezTo>
                      <a:pt x="174" y="149"/>
                      <a:pt x="178" y="156"/>
                      <a:pt x="181" y="159"/>
                    </a:cubicBezTo>
                    <a:cubicBezTo>
                      <a:pt x="184" y="162"/>
                      <a:pt x="188" y="162"/>
                      <a:pt x="192" y="162"/>
                    </a:cubicBezTo>
                    <a:cubicBezTo>
                      <a:pt x="196" y="162"/>
                      <a:pt x="200" y="162"/>
                      <a:pt x="203" y="159"/>
                    </a:cubicBezTo>
                    <a:cubicBezTo>
                      <a:pt x="206" y="156"/>
                      <a:pt x="211" y="149"/>
                      <a:pt x="211" y="143"/>
                    </a:cubicBezTo>
                    <a:cubicBezTo>
                      <a:pt x="211" y="137"/>
                      <a:pt x="199" y="136"/>
                      <a:pt x="192" y="136"/>
                    </a:cubicBezTo>
                    <a:cubicBezTo>
                      <a:pt x="185" y="136"/>
                      <a:pt x="174" y="137"/>
                      <a:pt x="174" y="143"/>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bg1"/>
                  </a:solidFill>
                </a:endParaRPr>
              </a:p>
            </p:txBody>
          </p:sp>
        </p:grpSp>
        <p:sp>
          <p:nvSpPr>
            <p:cNvPr id="16" name="文本框 1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992294" y="3787844"/>
              <a:ext cx="1334135" cy="29400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lnSpc>
                  <a:spcPct val="120000"/>
                </a:lnSpc>
                <a:spcBef>
                  <a:spcPct val="0"/>
                </a:spcBef>
                <a:spcAft>
                  <a:spcPct val="0"/>
                </a:spcAft>
                <a:tabLst>
                  <a:tab pos="2149475" algn="l"/>
                </a:tabLst>
              </a:pPr>
              <a:r>
                <a:rPr lang="zh-CN" altLang="en-US" sz="1100" b="1" spc="100">
                  <a:solidFill>
                    <a:schemeClr val="bg1"/>
                  </a:solidFill>
                  <a:uFillTx/>
                  <a:latin typeface="+中文标题" charset="0"/>
                  <a:ea typeface="+mj-ea"/>
                  <a:sym typeface="Calibri" panose="020F0502020204030204" pitchFamily="34" charset="0"/>
                </a:rPr>
                <a:t>管理科学第</a:t>
              </a:r>
              <a:r>
                <a:rPr lang="en-US" altLang="zh-CN" sz="1100" b="1" spc="100">
                  <a:solidFill>
                    <a:schemeClr val="bg1"/>
                  </a:solidFill>
                  <a:uFillTx/>
                  <a:latin typeface="Times New Roman" panose="02020603050405020304" pitchFamily="18" charset="0"/>
                  <a:ea typeface="+mj-ea"/>
                  <a:cs typeface="Times New Roman" panose="02020603050405020304" pitchFamily="18" charset="0"/>
                  <a:sym typeface="Calibri" panose="020F0502020204030204" pitchFamily="34" charset="0"/>
                </a:rPr>
                <a:t>3</a:t>
              </a:r>
              <a:r>
                <a:rPr lang="zh-CN" altLang="en-US" sz="1100" b="1" spc="100">
                  <a:solidFill>
                    <a:schemeClr val="bg1"/>
                  </a:solidFill>
                  <a:uFillTx/>
                  <a:latin typeface="+中文标题" charset="0"/>
                  <a:ea typeface="+mj-ea"/>
                  <a:sym typeface="Calibri" panose="020F0502020204030204" pitchFamily="34" charset="0"/>
                </a:rPr>
                <a:t>组</a:t>
              </a:r>
              <a:r>
                <a:rPr lang="en-US" altLang="zh-CN" sz="1100" spc="100">
                  <a:solidFill>
                    <a:schemeClr val="bg1"/>
                  </a:solidFill>
                  <a:uFillTx/>
                  <a:latin typeface="+中文标题" charset="0"/>
                  <a:ea typeface="+mj-ea"/>
                  <a:sym typeface="Calibri" panose="020F0502020204030204" pitchFamily="34" charset="0"/>
                </a:rPr>
                <a:t> </a:t>
              </a:r>
              <a:r>
                <a:rPr lang="en-US" altLang="zh-CN" sz="1100">
                  <a:solidFill>
                    <a:schemeClr val="bg1"/>
                  </a:solidFill>
                  <a:latin typeface="+mj-ea"/>
                  <a:ea typeface="+mj-ea"/>
                  <a:sym typeface="Calibri" panose="020F0502020204030204" pitchFamily="34" charset="0"/>
                </a:rPr>
                <a:t>   </a:t>
              </a:r>
              <a:endParaRPr lang="en-US" altLang="zh-CN" sz="1100">
                <a:solidFill>
                  <a:schemeClr val="bg1"/>
                </a:solidFill>
                <a:latin typeface="+mj-ea"/>
                <a:ea typeface="+mj-ea"/>
                <a:sym typeface="Calibri" panose="020F0502020204030204" pitchFamily="34" charset="0"/>
              </a:endParaRPr>
            </a:p>
          </p:txBody>
        </p:sp>
      </p:grpSp>
      <p:cxnSp>
        <p:nvCxnSpPr>
          <p:cNvPr id="20" name="直接连接符 19"/>
          <p:cNvCxnSpPr/>
          <p:nvPr/>
        </p:nvCxnSpPr>
        <p:spPr>
          <a:xfrm>
            <a:off x="3349690" y="3302012"/>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493645" y="3841750"/>
            <a:ext cx="4156710" cy="260350"/>
          </a:xfrm>
          <a:prstGeom prst="rect">
            <a:avLst/>
          </a:prstGeom>
          <a:noFill/>
        </p:spPr>
        <p:txBody>
          <a:bodyPr wrap="square" rtlCol="0" anchor="t">
            <a:spAutoFit/>
          </a:bodyPr>
          <a:lstStyle/>
          <a:p>
            <a:r>
              <a:rPr lang="zh-CN" altLang="en-US" sz="1100" dirty="0">
                <a:solidFill>
                  <a:schemeClr val="bg1"/>
                </a:solidFill>
                <a:latin typeface="+mj-ea"/>
                <a:ea typeface="+mj-ea"/>
                <a:sym typeface="Calibri" panose="020F0502020204030204" pitchFamily="34" charset="0"/>
              </a:rPr>
              <a:t>马梓飒</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王翊扬</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徐俐欣</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杨苗</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尹欣然</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周睿</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张朔</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赵煜宁</a:t>
            </a:r>
            <a:endParaRPr lang="zh-CN" altLang="en-US" sz="1100" dirty="0">
              <a:solidFill>
                <a:schemeClr val="bg1"/>
              </a:solidFill>
              <a:latin typeface="+mj-ea"/>
              <a:ea typeface="+mj-ea"/>
              <a:sym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0087" y="0"/>
            <a:ext cx="27994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p:cNvSpPr>
            <a:spLocks noEditPoints="1"/>
          </p:cNvSpPr>
          <p:nvPr/>
        </p:nvSpPr>
        <p:spPr bwMode="auto">
          <a:xfrm>
            <a:off x="234644" y="3196781"/>
            <a:ext cx="2650355" cy="1946719"/>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17" name="文本框 6"/>
          <p:cNvSpPr txBox="1">
            <a:spLocks noChangeArrowheads="1"/>
          </p:cNvSpPr>
          <p:nvPr/>
        </p:nvSpPr>
        <p:spPr bwMode="auto">
          <a:xfrm>
            <a:off x="4702307" y="687741"/>
            <a:ext cx="25186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2000">
                <a:solidFill>
                  <a:schemeClr val="accent1"/>
                </a:solidFill>
                <a:latin typeface="+mj-ea"/>
                <a:ea typeface="+mj-ea"/>
              </a:rPr>
              <a:t>01\</a:t>
            </a:r>
            <a:r>
              <a:rPr lang="zh-CN" altLang="en-US" sz="2000">
                <a:solidFill>
                  <a:schemeClr val="accent1"/>
                </a:solidFill>
                <a:latin typeface="+mj-ea"/>
                <a:ea typeface="+mj-ea"/>
              </a:rPr>
              <a:t>选题的背景与意义</a:t>
            </a:r>
            <a:endParaRPr lang="zh-CN" altLang="en-US" sz="2000">
              <a:solidFill>
                <a:schemeClr val="accent1"/>
              </a:solidFill>
              <a:latin typeface="+mj-ea"/>
              <a:ea typeface="+mj-ea"/>
            </a:endParaRPr>
          </a:p>
        </p:txBody>
      </p:sp>
      <p:sp>
        <p:nvSpPr>
          <p:cNvPr id="18" name="矩形 17"/>
          <p:cNvSpPr/>
          <p:nvPr/>
        </p:nvSpPr>
        <p:spPr>
          <a:xfrm>
            <a:off x="4702307" y="1087852"/>
            <a:ext cx="2964273"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65000"/>
                    <a:lumOff val="35000"/>
                  </a:schemeClr>
                </a:solidFill>
                <a:latin typeface="Calibri Light" panose="020F0302020204030204" pitchFamily="34" charset="0"/>
                <a:ea typeface="方正兰亭黑_GBK"/>
              </a:rPr>
              <a:t>Background And Significance Of The Selected Topic</a:t>
            </a:r>
            <a:endParaRPr lang="en-US" altLang="zh-CN" sz="1050">
              <a:solidFill>
                <a:schemeClr val="tx1">
                  <a:lumMod val="65000"/>
                  <a:lumOff val="35000"/>
                </a:schemeClr>
              </a:solidFill>
              <a:latin typeface="Calibri Light" panose="020F0302020204030204" pitchFamily="34" charset="0"/>
              <a:ea typeface="方正兰亭黑_GBK"/>
            </a:endParaRPr>
          </a:p>
        </p:txBody>
      </p:sp>
      <p:sp>
        <p:nvSpPr>
          <p:cNvPr id="19" name="文本框 6"/>
          <p:cNvSpPr txBox="1">
            <a:spLocks noChangeArrowheads="1"/>
          </p:cNvSpPr>
          <p:nvPr/>
        </p:nvSpPr>
        <p:spPr bwMode="auto">
          <a:xfrm>
            <a:off x="4702307" y="1786022"/>
            <a:ext cx="2341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2000">
                <a:solidFill>
                  <a:schemeClr val="accent1"/>
                </a:solidFill>
                <a:latin typeface="+mj-ea"/>
                <a:ea typeface="+mj-ea"/>
              </a:rPr>
              <a:t>02\</a:t>
            </a:r>
            <a:r>
              <a:rPr lang="zh-CN" altLang="en-US" sz="2000">
                <a:solidFill>
                  <a:schemeClr val="accent1"/>
                </a:solidFill>
                <a:latin typeface="+mj-ea"/>
                <a:ea typeface="+mj-ea"/>
              </a:rPr>
              <a:t>研究方法及</a:t>
            </a:r>
            <a:r>
              <a:rPr lang="zh-CN" altLang="en-US" sz="2000">
                <a:solidFill>
                  <a:schemeClr val="accent1"/>
                </a:solidFill>
                <a:latin typeface="+mj-ea"/>
                <a:ea typeface="+mj-ea"/>
              </a:rPr>
              <a:t>数据</a:t>
            </a:r>
            <a:endParaRPr lang="zh-CN" altLang="en-US" sz="2000">
              <a:solidFill>
                <a:schemeClr val="accent1"/>
              </a:solidFill>
              <a:latin typeface="+mj-ea"/>
              <a:ea typeface="+mj-ea"/>
            </a:endParaRPr>
          </a:p>
        </p:txBody>
      </p:sp>
      <p:sp>
        <p:nvSpPr>
          <p:cNvPr id="35" name="矩形 34"/>
          <p:cNvSpPr/>
          <p:nvPr/>
        </p:nvSpPr>
        <p:spPr>
          <a:xfrm>
            <a:off x="4702307" y="2186132"/>
            <a:ext cx="1706880" cy="252730"/>
          </a:xfrm>
          <a:prstGeom prst="rect">
            <a:avLst/>
          </a:prstGeom>
        </p:spPr>
        <p:txBody>
          <a:bodyPr wrap="none">
            <a:spAutoFit/>
          </a:bodyPr>
          <a:lstStyle/>
          <a:p>
            <a:pPr lvl="0" fontAlgn="base">
              <a:spcBef>
                <a:spcPct val="0"/>
              </a:spcBef>
              <a:spcAft>
                <a:spcPct val="0"/>
              </a:spcAft>
              <a:defRPr/>
            </a:pPr>
            <a:r>
              <a:rPr lang="en-US" altLang="zh-CN" sz="1050">
                <a:solidFill>
                  <a:schemeClr val="tx1">
                    <a:lumMod val="65000"/>
                    <a:lumOff val="35000"/>
                  </a:schemeClr>
                </a:solidFill>
                <a:latin typeface="Calibri Light" panose="020F0302020204030204" pitchFamily="34" charset="0"/>
                <a:ea typeface="方正兰亭黑_GBK"/>
              </a:rPr>
              <a:t>Research Methods And D</a:t>
            </a:r>
            <a:r>
              <a:rPr lang="en-US" altLang="zh-CN" sz="1050">
                <a:solidFill>
                  <a:schemeClr val="tx1">
                    <a:lumMod val="65000"/>
                    <a:lumOff val="35000"/>
                  </a:schemeClr>
                </a:solidFill>
                <a:latin typeface="Calibri Light" panose="020F0302020204030204" pitchFamily="34" charset="0"/>
                <a:ea typeface="方正兰亭黑_GBK"/>
              </a:rPr>
              <a:t>ata</a:t>
            </a:r>
            <a:endParaRPr lang="en-US" altLang="zh-CN" sz="1050">
              <a:solidFill>
                <a:schemeClr val="tx1">
                  <a:lumMod val="65000"/>
                  <a:lumOff val="35000"/>
                </a:schemeClr>
              </a:solidFill>
              <a:latin typeface="Calibri Light" panose="020F0302020204030204" pitchFamily="34" charset="0"/>
              <a:ea typeface="方正兰亭黑_GBK"/>
            </a:endParaRPr>
          </a:p>
        </p:txBody>
      </p:sp>
      <p:sp>
        <p:nvSpPr>
          <p:cNvPr id="36" name="文本框 6"/>
          <p:cNvSpPr txBox="1">
            <a:spLocks noChangeArrowheads="1"/>
          </p:cNvSpPr>
          <p:nvPr/>
        </p:nvSpPr>
        <p:spPr bwMode="auto">
          <a:xfrm>
            <a:off x="4702307" y="2884303"/>
            <a:ext cx="29017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2000">
                <a:solidFill>
                  <a:schemeClr val="accent1"/>
                </a:solidFill>
                <a:latin typeface="+mj-ea"/>
                <a:ea typeface="+mj-ea"/>
              </a:rPr>
              <a:t>03\</a:t>
            </a:r>
            <a:r>
              <a:rPr lang="zh-CN" altLang="en-US" sz="2000">
                <a:solidFill>
                  <a:schemeClr val="accent1"/>
                </a:solidFill>
                <a:latin typeface="+mj-ea"/>
                <a:ea typeface="+mj-ea"/>
              </a:rPr>
              <a:t>研究成果展示及应用</a:t>
            </a:r>
            <a:endParaRPr lang="zh-CN" altLang="en-US" sz="2000">
              <a:solidFill>
                <a:schemeClr val="accent1"/>
              </a:solidFill>
              <a:latin typeface="+mj-ea"/>
              <a:ea typeface="+mj-ea"/>
            </a:endParaRPr>
          </a:p>
        </p:txBody>
      </p:sp>
      <p:sp>
        <p:nvSpPr>
          <p:cNvPr id="37" name="矩形 36"/>
          <p:cNvSpPr/>
          <p:nvPr/>
        </p:nvSpPr>
        <p:spPr>
          <a:xfrm>
            <a:off x="4702307" y="3284412"/>
            <a:ext cx="2909771" cy="253916"/>
          </a:xfrm>
          <a:prstGeom prst="rect">
            <a:avLst/>
          </a:prstGeom>
        </p:spPr>
        <p:txBody>
          <a:bodyPr wrap="none">
            <a:spAutoFit/>
          </a:bodyPr>
          <a:lstStyle/>
          <a:p>
            <a:pPr lvl="0" fontAlgn="base">
              <a:spcBef>
                <a:spcPct val="0"/>
              </a:spcBef>
              <a:spcAft>
                <a:spcPct val="0"/>
              </a:spcAft>
              <a:defRPr/>
            </a:pPr>
            <a:r>
              <a:rPr lang="en-US" altLang="zh-CN" sz="1050">
                <a:solidFill>
                  <a:schemeClr val="tx1">
                    <a:lumMod val="65000"/>
                    <a:lumOff val="35000"/>
                  </a:schemeClr>
                </a:solidFill>
                <a:latin typeface="Calibri Light" panose="020F0302020204030204" pitchFamily="34" charset="0"/>
                <a:ea typeface="方正兰亭黑_GBK"/>
              </a:rPr>
              <a:t>Demonstration and application of research results</a:t>
            </a:r>
            <a:endParaRPr lang="en-US" altLang="zh-CN" sz="1050">
              <a:solidFill>
                <a:schemeClr val="tx1">
                  <a:lumMod val="65000"/>
                  <a:lumOff val="35000"/>
                </a:schemeClr>
              </a:solidFill>
              <a:latin typeface="Calibri Light" panose="020F0302020204030204" pitchFamily="34" charset="0"/>
              <a:ea typeface="方正兰亭黑_GBK"/>
            </a:endParaRPr>
          </a:p>
        </p:txBody>
      </p:sp>
      <p:sp>
        <p:nvSpPr>
          <p:cNvPr id="38" name="文本框 6"/>
          <p:cNvSpPr txBox="1">
            <a:spLocks noChangeArrowheads="1"/>
          </p:cNvSpPr>
          <p:nvPr/>
        </p:nvSpPr>
        <p:spPr bwMode="auto">
          <a:xfrm>
            <a:off x="4702307" y="3982583"/>
            <a:ext cx="2341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en-US" altLang="zh-CN" sz="2000">
                <a:solidFill>
                  <a:schemeClr val="accent1"/>
                </a:solidFill>
                <a:latin typeface="+mj-ea"/>
                <a:ea typeface="+mj-ea"/>
              </a:rPr>
              <a:t>04\</a:t>
            </a:r>
            <a:r>
              <a:rPr lang="zh-CN" altLang="en-US" sz="2000">
                <a:solidFill>
                  <a:schemeClr val="accent1"/>
                </a:solidFill>
                <a:latin typeface="+mj-ea"/>
                <a:ea typeface="+mj-ea"/>
              </a:rPr>
              <a:t>总结与政策</a:t>
            </a:r>
            <a:r>
              <a:rPr lang="zh-CN" altLang="en-US" sz="2000">
                <a:solidFill>
                  <a:schemeClr val="accent1"/>
                </a:solidFill>
                <a:latin typeface="+mj-ea"/>
                <a:ea typeface="+mj-ea"/>
              </a:rPr>
              <a:t>检验</a:t>
            </a:r>
            <a:endParaRPr lang="zh-CN" altLang="en-US" sz="2000">
              <a:solidFill>
                <a:schemeClr val="accent1"/>
              </a:solidFill>
              <a:latin typeface="+mj-ea"/>
              <a:ea typeface="+mj-ea"/>
            </a:endParaRPr>
          </a:p>
        </p:txBody>
      </p:sp>
      <p:sp>
        <p:nvSpPr>
          <p:cNvPr id="39" name="矩形 38"/>
          <p:cNvSpPr/>
          <p:nvPr/>
        </p:nvSpPr>
        <p:spPr>
          <a:xfrm>
            <a:off x="4702307" y="4382693"/>
            <a:ext cx="1659890" cy="252730"/>
          </a:xfrm>
          <a:prstGeom prst="rect">
            <a:avLst/>
          </a:prstGeom>
        </p:spPr>
        <p:txBody>
          <a:bodyPr wrap="none">
            <a:spAutoFit/>
          </a:bodyPr>
          <a:lstStyle/>
          <a:p>
            <a:pPr lvl="0" fontAlgn="base">
              <a:spcBef>
                <a:spcPct val="0"/>
              </a:spcBef>
              <a:spcAft>
                <a:spcPct val="0"/>
              </a:spcAft>
              <a:defRPr/>
            </a:pPr>
            <a:r>
              <a:rPr lang="en-US" altLang="zh-CN" sz="1050" dirty="0">
                <a:solidFill>
                  <a:schemeClr val="tx1">
                    <a:lumMod val="65000"/>
                    <a:lumOff val="35000"/>
                  </a:schemeClr>
                </a:solidFill>
                <a:latin typeface="Calibri Light" panose="020F0302020204030204" pitchFamily="34" charset="0"/>
                <a:ea typeface="方正兰亭黑_GBK"/>
              </a:rPr>
              <a:t>Summary And Policy Advice</a:t>
            </a:r>
            <a:endParaRPr lang="en-US" altLang="zh-CN" sz="1050" dirty="0">
              <a:solidFill>
                <a:schemeClr val="tx1">
                  <a:lumMod val="65000"/>
                  <a:lumOff val="35000"/>
                </a:schemeClr>
              </a:solidFill>
              <a:latin typeface="Calibri Light" panose="020F0302020204030204" pitchFamily="34" charset="0"/>
              <a:ea typeface="方正兰亭黑_GBK"/>
            </a:endParaRPr>
          </a:p>
        </p:txBody>
      </p:sp>
      <p:sp>
        <p:nvSpPr>
          <p:cNvPr id="40" name="矩形 39"/>
          <p:cNvSpPr/>
          <p:nvPr/>
        </p:nvSpPr>
        <p:spPr bwMode="auto">
          <a:xfrm>
            <a:off x="876133" y="2595465"/>
            <a:ext cx="1327608" cy="400110"/>
          </a:xfrm>
          <a:prstGeom prst="rect">
            <a:avLst/>
          </a:prstGeom>
        </p:spPr>
        <p:txBody>
          <a:bodyPr wrap="none">
            <a:spAutoFit/>
          </a:bodyPr>
          <a:lstStyle/>
          <a:p>
            <a:pPr algn="ctr"/>
            <a:r>
              <a:rPr lang="en-US" altLang="zh-CN" sz="2000" kern="100">
                <a:solidFill>
                  <a:schemeClr val="bg1"/>
                </a:solidFill>
                <a:latin typeface="+mj-lt"/>
                <a:ea typeface="微软雅黑" panose="020B0503020204020204" pitchFamily="34" charset="-122"/>
                <a:cs typeface="Times New Roman" panose="02020603050405020304" pitchFamily="18" charset="0"/>
              </a:rPr>
              <a:t>CONTENTS</a:t>
            </a:r>
            <a:endParaRPr lang="zh-CN" altLang="en-US" sz="2000" kern="100">
              <a:solidFill>
                <a:schemeClr val="bg1"/>
              </a:solidFill>
              <a:latin typeface="+mj-lt"/>
              <a:ea typeface="微软雅黑" panose="020B0503020204020204" pitchFamily="34" charset="-122"/>
              <a:cs typeface="Times New Roman" panose="02020603050405020304" pitchFamily="18" charset="0"/>
            </a:endParaRPr>
          </a:p>
        </p:txBody>
      </p:sp>
      <p:sp>
        <p:nvSpPr>
          <p:cNvPr id="41" name="矩形 40"/>
          <p:cNvSpPr/>
          <p:nvPr/>
        </p:nvSpPr>
        <p:spPr>
          <a:xfrm>
            <a:off x="774993" y="1860485"/>
            <a:ext cx="1569661" cy="830997"/>
          </a:xfrm>
          <a:prstGeom prst="rect">
            <a:avLst/>
          </a:prstGeom>
        </p:spPr>
        <p:txBody>
          <a:bodyPr wrap="none">
            <a:spAutoFit/>
          </a:bodyPr>
          <a:lstStyle/>
          <a:p>
            <a:pPr lvl="0" algn="ctr"/>
            <a:r>
              <a:rPr lang="zh-CN" altLang="en-US" sz="4800" kern="100">
                <a:solidFill>
                  <a:schemeClr val="bg1"/>
                </a:solidFill>
                <a:latin typeface="+mj-ea"/>
                <a:ea typeface="+mj-ea"/>
                <a:cs typeface="Times New Roman" panose="02020603050405020304" pitchFamily="18" charset="0"/>
              </a:rPr>
              <a:t>目 录</a:t>
            </a:r>
            <a:endParaRPr lang="en-US" altLang="zh-CN" sz="4800" kern="100">
              <a:solidFill>
                <a:schemeClr val="bg1"/>
              </a:solidFill>
              <a:latin typeface="+mj-ea"/>
              <a:ea typeface="+mj-ea"/>
              <a:cs typeface="Times New Roman" panose="02020603050405020304" pitchFamily="18" charset="0"/>
            </a:endParaRPr>
          </a:p>
        </p:txBody>
      </p:sp>
      <p:cxnSp>
        <p:nvCxnSpPr>
          <p:cNvPr id="42" name="直接连接符 41"/>
          <p:cNvCxnSpPr/>
          <p:nvPr/>
        </p:nvCxnSpPr>
        <p:spPr>
          <a:xfrm>
            <a:off x="1454040" y="3062643"/>
            <a:ext cx="21156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20" name="矩形 19"/>
          <p:cNvSpPr/>
          <p:nvPr/>
        </p:nvSpPr>
        <p:spPr bwMode="auto">
          <a:xfrm>
            <a:off x="2427824" y="2302213"/>
            <a:ext cx="4288353" cy="707886"/>
          </a:xfrm>
          <a:prstGeom prst="rect">
            <a:avLst/>
          </a:prstGeom>
        </p:spPr>
        <p:txBody>
          <a:bodyPr wrap="none">
            <a:spAutoFit/>
          </a:bodyPr>
          <a:lstStyle/>
          <a:p>
            <a:pPr algn="ctr">
              <a:defRPr/>
            </a:pPr>
            <a:r>
              <a:rPr lang="zh-CN" altLang="en-US" sz="4000" kern="100">
                <a:solidFill>
                  <a:schemeClr val="bg1"/>
                </a:solidFill>
                <a:latin typeface="+mj-ea"/>
                <a:ea typeface="+mj-ea"/>
                <a:cs typeface="Times New Roman" panose="02020603050405020304" pitchFamily="18" charset="0"/>
              </a:rPr>
              <a:t>选题的背景与意义</a:t>
            </a:r>
            <a:endParaRPr lang="zh-CN" altLang="en-US" sz="4000" kern="100">
              <a:solidFill>
                <a:schemeClr val="bg1"/>
              </a:solidFill>
              <a:latin typeface="+mj-ea"/>
              <a:ea typeface="+mj-ea"/>
              <a:cs typeface="Times New Roman" panose="02020603050405020304" pitchFamily="18" charset="0"/>
            </a:endParaRPr>
          </a:p>
        </p:txBody>
      </p:sp>
      <p:sp>
        <p:nvSpPr>
          <p:cNvPr id="22" name="矩形 21"/>
          <p:cNvSpPr/>
          <p:nvPr/>
        </p:nvSpPr>
        <p:spPr>
          <a:xfrm>
            <a:off x="2569028" y="2971264"/>
            <a:ext cx="4005944" cy="215444"/>
          </a:xfrm>
          <a:prstGeom prst="rect">
            <a:avLst/>
          </a:prstGeom>
        </p:spPr>
        <p:txBody>
          <a:bodyPr wrap="square">
            <a:spAutoFit/>
          </a:bodyPr>
          <a:lstStyle/>
          <a:p>
            <a:pPr algn="dist"/>
            <a:r>
              <a:rPr lang="en-US" altLang="zh-CN" sz="800">
                <a:solidFill>
                  <a:schemeClr val="bg1"/>
                </a:solidFill>
                <a:latin typeface="+mj-lt"/>
              </a:rPr>
              <a:t>BACKGROUND AND SIGNIFICANCE OF THE SELECTED TOPIC</a:t>
            </a:r>
            <a:endParaRPr lang="en-US" altLang="zh-CN" sz="800">
              <a:solidFill>
                <a:schemeClr val="bg1"/>
              </a:solidFill>
              <a:latin typeface="+mj-lt"/>
            </a:endParaRPr>
          </a:p>
        </p:txBody>
      </p:sp>
      <p:cxnSp>
        <p:nvCxnSpPr>
          <p:cNvPr id="24" name="直接连接符 23"/>
          <p:cNvCxnSpPr/>
          <p:nvPr/>
        </p:nvCxnSpPr>
        <p:spPr>
          <a:xfrm>
            <a:off x="3349690" y="3432640"/>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3996000" y="3661882"/>
            <a:ext cx="1152000" cy="251847"/>
          </a:xfrm>
          <a:prstGeom prst="roundRect">
            <a:avLst>
              <a:gd name="adj" fmla="val 50000"/>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mj-lt"/>
              </a:rPr>
              <a:t>PART ONE</a:t>
            </a:r>
            <a:endParaRPr lang="zh-CN" altLang="en-US" sz="1100">
              <a:latin typeface="+mj-lt"/>
            </a:endParaRPr>
          </a:p>
        </p:txBody>
      </p:sp>
      <p:sp>
        <p:nvSpPr>
          <p:cNvPr id="3" name="椭圆 2"/>
          <p:cNvSpPr/>
          <p:nvPr/>
        </p:nvSpPr>
        <p:spPr>
          <a:xfrm>
            <a:off x="4101638" y="1275613"/>
            <a:ext cx="940724" cy="940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4400">
                <a:solidFill>
                  <a:schemeClr val="accent1"/>
                </a:solidFill>
                <a:latin typeface="方正清刻本悦宋简体"/>
                <a:ea typeface="方正清刻本悦宋简体"/>
              </a:rPr>
              <a:t>壹</a:t>
            </a:r>
            <a:endParaRPr lang="zh-CN" altLang="en-US" sz="4400">
              <a:solidFill>
                <a:schemeClr val="accent1"/>
              </a:solidFill>
              <a:latin typeface="方正清刻本悦宋简体"/>
              <a:ea typeface="方正清刻本悦宋简体"/>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泥土融化成水"/>
          <p:cNvPicPr>
            <a:picLocks noChangeAspect="1"/>
          </p:cNvPicPr>
          <p:nvPr/>
        </p:nvPicPr>
        <p:blipFill>
          <a:blip r:embed="rId1"/>
          <a:srcRect l="13763" r="8829"/>
          <a:stretch>
            <a:fillRect/>
          </a:stretch>
        </p:blipFill>
        <p:spPr>
          <a:xfrm>
            <a:off x="0" y="1176655"/>
            <a:ext cx="4164330" cy="3025775"/>
          </a:xfrm>
          <a:prstGeom prst="rect">
            <a:avLst/>
          </a:prstGeom>
        </p:spPr>
      </p:pic>
      <p:sp>
        <p:nvSpPr>
          <p:cNvPr id="10" name="文本框 6"/>
          <p:cNvSpPr txBox="1">
            <a:spLocks noChangeArrowheads="1"/>
          </p:cNvSpPr>
          <p:nvPr/>
        </p:nvSpPr>
        <p:spPr bwMode="auto">
          <a:xfrm>
            <a:off x="415480" y="89664"/>
            <a:ext cx="40318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选题的背景与意义：全球持续升温</a:t>
            </a:r>
            <a:endParaRPr lang="zh-CN" altLang="en-US" sz="2000" dirty="0">
              <a:solidFill>
                <a:schemeClr val="accent1"/>
              </a:solidFill>
              <a:latin typeface="+mj-ea"/>
              <a:ea typeface="+mj-ea"/>
            </a:endParaRPr>
          </a:p>
        </p:txBody>
      </p:sp>
      <p:sp>
        <p:nvSpPr>
          <p:cNvPr id="11" name="矩形 10"/>
          <p:cNvSpPr/>
          <p:nvPr/>
        </p:nvSpPr>
        <p:spPr>
          <a:xfrm>
            <a:off x="415480" y="434379"/>
            <a:ext cx="2558714" cy="230832"/>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Background And Significance Of The Selected Topic</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29" name="矩形 28"/>
          <p:cNvSpPr/>
          <p:nvPr/>
        </p:nvSpPr>
        <p:spPr bwMode="auto">
          <a:xfrm>
            <a:off x="4344166" y="1327091"/>
            <a:ext cx="23164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2800">
                <a:solidFill>
                  <a:schemeClr val="bg1"/>
                </a:solidFill>
                <a:latin typeface="+mj-ea"/>
                <a:ea typeface="+mj-ea"/>
              </a:rPr>
              <a:t>全球持续升温</a:t>
            </a:r>
            <a:endParaRPr lang="zh-CN" altLang="en-US" sz="2800">
              <a:solidFill>
                <a:schemeClr val="bg1"/>
              </a:solidFill>
              <a:latin typeface="+mj-ea"/>
              <a:ea typeface="+mj-ea"/>
            </a:endParaRPr>
          </a:p>
        </p:txBody>
      </p:sp>
      <p:sp>
        <p:nvSpPr>
          <p:cNvPr id="30" name="矩形 29"/>
          <p:cNvSpPr/>
          <p:nvPr/>
        </p:nvSpPr>
        <p:spPr>
          <a:xfrm>
            <a:off x="4417738" y="2055487"/>
            <a:ext cx="4726262" cy="818515"/>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bg1"/>
                </a:solidFill>
              </a:rPr>
              <a:t>根据联合国气象组织（WMO）的最新《全球气候状况报告》，自1850年有规律记录以来的最近八年是有记录以来最热的八年，表明全球温度持续升高，气候变化的影响日益显著</a:t>
            </a:r>
            <a:endParaRPr lang="en-US" altLang="zh-CN" sz="1050">
              <a:solidFill>
                <a:schemeClr val="bg1"/>
              </a:solidFill>
            </a:endParaRPr>
          </a:p>
        </p:txBody>
      </p:sp>
      <p:sp>
        <p:nvSpPr>
          <p:cNvPr id="31" name="矩形 30"/>
          <p:cNvSpPr/>
          <p:nvPr/>
        </p:nvSpPr>
        <p:spPr>
          <a:xfrm>
            <a:off x="4417738" y="2890022"/>
            <a:ext cx="4726262" cy="575945"/>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bg1"/>
                </a:solidFill>
              </a:rPr>
              <a:t>2023年被记录为有史以来最热的一年，全球平均气温攀升至空前的高度。南半球经历了特别酷热的冬季和早春，部分地区的温度超过了</a:t>
            </a:r>
            <a:r>
              <a:rPr lang="en-US" altLang="zh-CN" sz="1050" b="1">
                <a:solidFill>
                  <a:schemeClr val="bg1"/>
                </a:solidFill>
              </a:rPr>
              <a:t>40°C（104°F）</a:t>
            </a:r>
            <a:endParaRPr lang="en-US" altLang="zh-CN" sz="1050" b="1">
              <a:solidFill>
                <a:schemeClr val="bg1"/>
              </a:solidFill>
            </a:endParaRPr>
          </a:p>
        </p:txBody>
      </p:sp>
      <p:cxnSp>
        <p:nvCxnSpPr>
          <p:cNvPr id="4" name="直接连接符 3"/>
          <p:cNvCxnSpPr/>
          <p:nvPr/>
        </p:nvCxnSpPr>
        <p:spPr>
          <a:xfrm>
            <a:off x="4501661" y="1950370"/>
            <a:ext cx="2532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矩形 4"/>
          <p:cNvSpPr/>
          <p:nvPr>
            <p:custDataLst>
              <p:tags r:id="rId2"/>
            </p:custDataLst>
          </p:nvPr>
        </p:nvSpPr>
        <p:spPr>
          <a:xfrm>
            <a:off x="4417738" y="3488827"/>
            <a:ext cx="4726262" cy="575945"/>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bg1"/>
                </a:solidFill>
              </a:rPr>
              <a:t>这些极端气温事件对人类健康、农业生产、自然生态系统和经济发展造成了严重影响</a:t>
            </a:r>
            <a:endParaRPr lang="en-US" altLang="zh-CN" sz="105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6"/>
          <p:cNvSpPr txBox="1">
            <a:spLocks noChangeArrowheads="1"/>
          </p:cNvSpPr>
          <p:nvPr/>
        </p:nvSpPr>
        <p:spPr bwMode="auto">
          <a:xfrm>
            <a:off x="415480" y="89664"/>
            <a:ext cx="42883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选题的背景与意义：中国碳减排举措</a:t>
            </a:r>
            <a:endParaRPr lang="zh-CN" altLang="en-US" sz="2000" dirty="0">
              <a:solidFill>
                <a:schemeClr val="accent1"/>
              </a:solidFill>
              <a:latin typeface="+mj-ea"/>
              <a:ea typeface="+mj-ea"/>
            </a:endParaRPr>
          </a:p>
        </p:txBody>
      </p:sp>
      <p:sp>
        <p:nvSpPr>
          <p:cNvPr id="11" name="矩形 10"/>
          <p:cNvSpPr/>
          <p:nvPr/>
        </p:nvSpPr>
        <p:spPr>
          <a:xfrm>
            <a:off x="415480" y="434379"/>
            <a:ext cx="2558714" cy="230832"/>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Background And Significance Of The Selected Topic</a:t>
            </a:r>
            <a:endParaRPr lang="en-US" altLang="zh-CN" sz="900">
              <a:solidFill>
                <a:schemeClr val="tx1">
                  <a:lumMod val="65000"/>
                  <a:lumOff val="35000"/>
                </a:schemeClr>
              </a:solidFill>
              <a:latin typeface="Calibri Light" panose="020F0302020204030204" pitchFamily="34" charset="0"/>
              <a:ea typeface="方正兰亭黑_GBK"/>
            </a:endParaRPr>
          </a:p>
        </p:txBody>
      </p:sp>
      <p:cxnSp>
        <p:nvCxnSpPr>
          <p:cNvPr id="4" name="直接箭头连接符 3"/>
          <p:cNvCxnSpPr/>
          <p:nvPr/>
        </p:nvCxnSpPr>
        <p:spPr>
          <a:xfrm>
            <a:off x="589915" y="893135"/>
            <a:ext cx="0" cy="41396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2" name="矩形 3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599574" y="848820"/>
            <a:ext cx="7399646" cy="551498"/>
          </a:xfrm>
          <a:prstGeom prst="rect">
            <a:avLst/>
          </a:prstGeom>
        </p:spPr>
        <p:txBody>
          <a:bodyPr wrap="square">
            <a:spAutoFit/>
          </a:bodyPr>
          <a:lstStyle/>
          <a:p>
            <a:pPr marL="171450" indent="-171450" algn="just">
              <a:lnSpc>
                <a:spcPct val="150000"/>
              </a:lnSpc>
              <a:buFont typeface="Arial" panose="020B0604020202020204" pitchFamily="34" charset="0"/>
              <a:buChar char="•"/>
            </a:pPr>
            <a:r>
              <a:rPr lang="zh-CN" altLang="en-US" sz="1050" dirty="0">
                <a:solidFill>
                  <a:schemeClr val="tx1">
                    <a:lumMod val="50000"/>
                    <a:lumOff val="50000"/>
                  </a:schemeClr>
                </a:solidFill>
              </a:rPr>
              <a:t>深圳启动了全国首个碳交易市场，后续</a:t>
            </a:r>
            <a:r>
              <a:rPr lang="en-US" altLang="zh-CN" sz="1050" dirty="0">
                <a:solidFill>
                  <a:schemeClr val="tx1">
                    <a:lumMod val="50000"/>
                    <a:lumOff val="50000"/>
                  </a:schemeClr>
                </a:solidFill>
              </a:rPr>
              <a:t>7</a:t>
            </a:r>
            <a:r>
              <a:rPr lang="zh-CN" altLang="en-US" sz="1050" dirty="0">
                <a:solidFill>
                  <a:schemeClr val="tx1">
                    <a:lumMod val="50000"/>
                    <a:lumOff val="50000"/>
                  </a:schemeClr>
                </a:solidFill>
              </a:rPr>
              <a:t>个碳排放交易试点城市又相继建立</a:t>
            </a:r>
            <a:endParaRPr lang="en-US" altLang="zh-CN" sz="1050" dirty="0">
              <a:solidFill>
                <a:schemeClr val="tx1">
                  <a:lumMod val="50000"/>
                  <a:lumOff val="50000"/>
                </a:schemeClr>
              </a:solidFill>
            </a:endParaRPr>
          </a:p>
          <a:p>
            <a:pPr marL="171450" indent="-171450" algn="just">
              <a:lnSpc>
                <a:spcPct val="150000"/>
              </a:lnSpc>
              <a:buFont typeface="Arial" panose="020B0604020202020204" pitchFamily="34" charset="0"/>
              <a:buChar char="•"/>
            </a:pPr>
            <a:r>
              <a:rPr lang="en-US" altLang="zh-CN" sz="1050" dirty="0">
                <a:solidFill>
                  <a:schemeClr val="tx1">
                    <a:lumMod val="50000"/>
                    <a:lumOff val="50000"/>
                  </a:schemeClr>
                </a:solidFill>
              </a:rPr>
              <a:t>2013</a:t>
            </a:r>
            <a:r>
              <a:rPr lang="zh-CN" altLang="en-US" sz="1050" dirty="0">
                <a:solidFill>
                  <a:schemeClr val="tx1">
                    <a:lumMod val="50000"/>
                    <a:lumOff val="50000"/>
                  </a:schemeClr>
                </a:solidFill>
              </a:rPr>
              <a:t>年</a:t>
            </a:r>
            <a:r>
              <a:rPr lang="en-US" altLang="zh-CN" sz="1050" dirty="0">
                <a:solidFill>
                  <a:schemeClr val="tx1">
                    <a:lumMod val="50000"/>
                    <a:lumOff val="50000"/>
                  </a:schemeClr>
                </a:solidFill>
              </a:rPr>
              <a:t>6</a:t>
            </a:r>
            <a:r>
              <a:rPr lang="zh-CN" altLang="en-US" sz="1050" dirty="0">
                <a:solidFill>
                  <a:schemeClr val="tx1">
                    <a:lumMod val="50000"/>
                    <a:lumOff val="50000"/>
                  </a:schemeClr>
                </a:solidFill>
              </a:rPr>
              <a:t>月</a:t>
            </a:r>
            <a:r>
              <a:rPr lang="en-US" altLang="zh-CN" sz="1050" dirty="0">
                <a:solidFill>
                  <a:schemeClr val="tx1">
                    <a:lumMod val="50000"/>
                    <a:lumOff val="50000"/>
                  </a:schemeClr>
                </a:solidFill>
              </a:rPr>
              <a:t>17</a:t>
            </a:r>
            <a:r>
              <a:rPr lang="zh-CN" altLang="en-US" sz="1050" dirty="0">
                <a:solidFill>
                  <a:schemeClr val="tx1">
                    <a:lumMod val="50000"/>
                    <a:lumOff val="50000"/>
                  </a:schemeClr>
                </a:solidFill>
              </a:rPr>
              <a:t>日是中国第一个“全国低碳日”，旨在将低碳的理念推向普罗大众</a:t>
            </a:r>
            <a:endParaRPr lang="zh-CN" altLang="en-US" sz="1050" dirty="0">
              <a:solidFill>
                <a:schemeClr val="tx1">
                  <a:lumMod val="50000"/>
                  <a:lumOff val="50000"/>
                </a:schemeClr>
              </a:solidFill>
            </a:endParaRPr>
          </a:p>
        </p:txBody>
      </p:sp>
      <p:sp>
        <p:nvSpPr>
          <p:cNvPr id="34"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741679" y="964033"/>
            <a:ext cx="723276" cy="369332"/>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2013</a:t>
            </a:r>
            <a:endParaRPr lang="en-US" altLang="zh-CN" sz="1800" dirty="0">
              <a:solidFill>
                <a:schemeClr val="accent1"/>
              </a:solidFill>
              <a:latin typeface="+mj-ea"/>
              <a:ea typeface="+mj-ea"/>
            </a:endParaRPr>
          </a:p>
        </p:txBody>
      </p:sp>
      <p:sp>
        <p:nvSpPr>
          <p:cNvPr id="5" name="椭圆 4"/>
          <p:cNvSpPr/>
          <p:nvPr/>
        </p:nvSpPr>
        <p:spPr>
          <a:xfrm>
            <a:off x="513715" y="1048989"/>
            <a:ext cx="151765" cy="15176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椭圆 6"/>
          <p:cNvSpPr/>
          <p:nvPr>
            <p:custDataLst>
              <p:tags r:id="rId1"/>
            </p:custDataLst>
          </p:nvPr>
        </p:nvSpPr>
        <p:spPr>
          <a:xfrm>
            <a:off x="513715" y="4722375"/>
            <a:ext cx="151765" cy="151765"/>
          </a:xfrm>
          <a:prstGeom prst="ellipse">
            <a:avLst/>
          </a:prstGeom>
          <a:solidFill>
            <a:schemeClr val="accent1">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9" name="矩形 18"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599565" y="1512570"/>
            <a:ext cx="6713855" cy="818515"/>
          </a:xfrm>
          <a:prstGeom prst="rect">
            <a:avLst/>
          </a:prstGeom>
        </p:spPr>
        <p:txBody>
          <a:bodyPr wrap="square">
            <a:spAutoFit/>
          </a:bodyPr>
          <a:lstStyle/>
          <a:p>
            <a:pPr marL="171450" indent="-171450" algn="just">
              <a:lnSpc>
                <a:spcPct val="150000"/>
              </a:lnSpc>
              <a:buFont typeface="Arial" panose="020B0604020202020204" pitchFamily="34" charset="0"/>
              <a:buChar char="•"/>
            </a:pPr>
            <a:r>
              <a:rPr lang="zh-CN" altLang="en-US" sz="1050" dirty="0">
                <a:solidFill>
                  <a:schemeClr val="tx1">
                    <a:lumMod val="50000"/>
                    <a:lumOff val="50000"/>
                  </a:schemeClr>
                </a:solidFill>
              </a:rPr>
              <a:t>中国向联合国提交了应对气候变化的国家自主贡献文件，文件提到到</a:t>
            </a:r>
            <a:r>
              <a:rPr lang="en-US" altLang="zh-CN" sz="1050" dirty="0">
                <a:solidFill>
                  <a:schemeClr val="tx1">
                    <a:lumMod val="50000"/>
                    <a:lumOff val="50000"/>
                  </a:schemeClr>
                </a:solidFill>
              </a:rPr>
              <a:t>2030</a:t>
            </a:r>
            <a:r>
              <a:rPr lang="zh-CN" altLang="en-US" sz="1050" dirty="0">
                <a:solidFill>
                  <a:schemeClr val="tx1">
                    <a:lumMod val="50000"/>
                    <a:lumOff val="50000"/>
                  </a:schemeClr>
                </a:solidFill>
              </a:rPr>
              <a:t>年，单位国内生产总值二氧化碳排放将比 </a:t>
            </a:r>
            <a:r>
              <a:rPr lang="en-US" altLang="zh-CN" sz="1050" dirty="0">
                <a:solidFill>
                  <a:schemeClr val="tx1">
                    <a:lumMod val="50000"/>
                    <a:lumOff val="50000"/>
                  </a:schemeClr>
                </a:solidFill>
              </a:rPr>
              <a:t>2005 </a:t>
            </a:r>
            <a:r>
              <a:rPr lang="zh-CN" altLang="en-US" sz="1050" dirty="0">
                <a:solidFill>
                  <a:schemeClr val="tx1">
                    <a:lumMod val="50000"/>
                    <a:lumOff val="50000"/>
                  </a:schemeClr>
                </a:solidFill>
              </a:rPr>
              <a:t>年下降 </a:t>
            </a:r>
            <a:r>
              <a:rPr lang="en-US" altLang="zh-CN" sz="1050" dirty="0">
                <a:solidFill>
                  <a:schemeClr val="tx1">
                    <a:lumMod val="50000"/>
                    <a:lumOff val="50000"/>
                  </a:schemeClr>
                </a:solidFill>
              </a:rPr>
              <a:t>60</a:t>
            </a:r>
            <a:r>
              <a:rPr lang="zh-CN" altLang="en-US" sz="1050" dirty="0">
                <a:solidFill>
                  <a:schemeClr val="tx1">
                    <a:lumMod val="50000"/>
                    <a:lumOff val="50000"/>
                  </a:schemeClr>
                </a:solidFill>
              </a:rPr>
              <a:t>％－</a:t>
            </a:r>
            <a:r>
              <a:rPr lang="en-US" altLang="zh-CN" sz="1050" dirty="0">
                <a:solidFill>
                  <a:schemeClr val="tx1">
                    <a:lumMod val="50000"/>
                    <a:lumOff val="50000"/>
                  </a:schemeClr>
                </a:solidFill>
              </a:rPr>
              <a:t>65</a:t>
            </a:r>
            <a:r>
              <a:rPr lang="zh-CN" altLang="en-US" sz="1050" dirty="0">
                <a:solidFill>
                  <a:schemeClr val="tx1">
                    <a:lumMod val="50000"/>
                    <a:lumOff val="50000"/>
                  </a:schemeClr>
                </a:solidFill>
              </a:rPr>
              <a:t>％</a:t>
            </a:r>
            <a:endParaRPr lang="en-US" altLang="zh-CN" sz="1050" dirty="0">
              <a:solidFill>
                <a:schemeClr val="tx1">
                  <a:lumMod val="50000"/>
                  <a:lumOff val="50000"/>
                </a:schemeClr>
              </a:solidFill>
            </a:endParaRPr>
          </a:p>
          <a:p>
            <a:pPr marL="171450" indent="-171450" algn="just">
              <a:lnSpc>
                <a:spcPct val="150000"/>
              </a:lnSpc>
              <a:buFont typeface="Arial" panose="020B0604020202020204" pitchFamily="34" charset="0"/>
              <a:buChar char="•"/>
            </a:pPr>
            <a:r>
              <a:rPr lang="en-US" altLang="zh-CN" sz="1050" dirty="0">
                <a:solidFill>
                  <a:schemeClr val="tx1">
                    <a:lumMod val="50000"/>
                    <a:lumOff val="50000"/>
                  </a:schemeClr>
                </a:solidFill>
              </a:rPr>
              <a:t>2015</a:t>
            </a:r>
            <a:r>
              <a:rPr lang="zh-CN" altLang="en-US" sz="1050" dirty="0">
                <a:solidFill>
                  <a:schemeClr val="tx1">
                    <a:lumMod val="50000"/>
                    <a:lumOff val="50000"/>
                  </a:schemeClr>
                </a:solidFill>
              </a:rPr>
              <a:t>年</a:t>
            </a:r>
            <a:r>
              <a:rPr lang="en-US" altLang="zh-CN" sz="1050" dirty="0">
                <a:solidFill>
                  <a:schemeClr val="tx1">
                    <a:lumMod val="50000"/>
                    <a:lumOff val="50000"/>
                  </a:schemeClr>
                </a:solidFill>
              </a:rPr>
              <a:t>12</a:t>
            </a:r>
            <a:r>
              <a:rPr lang="zh-CN" altLang="en-US" sz="1050" dirty="0">
                <a:solidFill>
                  <a:schemeClr val="tx1">
                    <a:lumMod val="50000"/>
                    <a:lumOff val="50000"/>
                  </a:schemeClr>
                </a:solidFill>
              </a:rPr>
              <a:t>月</a:t>
            </a:r>
            <a:r>
              <a:rPr lang="en-US" altLang="zh-CN" sz="1050" dirty="0">
                <a:solidFill>
                  <a:schemeClr val="tx1">
                    <a:lumMod val="50000"/>
                    <a:lumOff val="50000"/>
                  </a:schemeClr>
                </a:solidFill>
              </a:rPr>
              <a:t>12</a:t>
            </a:r>
            <a:r>
              <a:rPr lang="zh-CN" altLang="en-US" sz="1050" dirty="0">
                <a:solidFill>
                  <a:schemeClr val="tx1">
                    <a:lumMod val="50000"/>
                    <a:lumOff val="50000"/>
                  </a:schemeClr>
                </a:solidFill>
              </a:rPr>
              <a:t>日中国等约</a:t>
            </a:r>
            <a:r>
              <a:rPr lang="en-US" altLang="zh-CN" sz="1050" dirty="0">
                <a:solidFill>
                  <a:schemeClr val="tx1">
                    <a:lumMod val="50000"/>
                    <a:lumOff val="50000"/>
                  </a:schemeClr>
                </a:solidFill>
              </a:rPr>
              <a:t>180</a:t>
            </a:r>
            <a:r>
              <a:rPr lang="zh-CN" altLang="en-US" sz="1050" dirty="0">
                <a:solidFill>
                  <a:schemeClr val="tx1">
                    <a:lumMod val="50000"/>
                    <a:lumOff val="50000"/>
                  </a:schemeClr>
                </a:solidFill>
              </a:rPr>
              <a:t>个缔约方在第</a:t>
            </a:r>
            <a:r>
              <a:rPr lang="en-US" altLang="zh-CN" sz="1050" dirty="0">
                <a:solidFill>
                  <a:schemeClr val="tx1">
                    <a:lumMod val="50000"/>
                    <a:lumOff val="50000"/>
                  </a:schemeClr>
                </a:solidFill>
              </a:rPr>
              <a:t>21</a:t>
            </a:r>
            <a:r>
              <a:rPr lang="zh-CN" altLang="en-US" sz="1050" dirty="0">
                <a:solidFill>
                  <a:schemeClr val="tx1">
                    <a:lumMod val="50000"/>
                    <a:lumOff val="50000"/>
                  </a:schemeClr>
                </a:solidFill>
              </a:rPr>
              <a:t>届联合国气候变化大会上通过</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巴黎协定</a:t>
            </a:r>
            <a:r>
              <a:rPr lang="en-US" altLang="zh-CN" sz="1050" dirty="0">
                <a:solidFill>
                  <a:schemeClr val="tx1">
                    <a:lumMod val="50000"/>
                    <a:lumOff val="50000"/>
                  </a:schemeClr>
                </a:solidFill>
              </a:rPr>
              <a:t>》</a:t>
            </a:r>
            <a:endParaRPr lang="zh-CN" altLang="en-US" sz="1050" dirty="0">
              <a:solidFill>
                <a:schemeClr val="tx1">
                  <a:lumMod val="50000"/>
                  <a:lumOff val="50000"/>
                </a:schemeClr>
              </a:solidFill>
            </a:endParaRPr>
          </a:p>
        </p:txBody>
      </p:sp>
      <p:sp>
        <p:nvSpPr>
          <p:cNvPr id="20"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741680" y="1760792"/>
            <a:ext cx="723276" cy="369332"/>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2015</a:t>
            </a:r>
            <a:endParaRPr lang="en-US" altLang="zh-CN" sz="1800" dirty="0">
              <a:solidFill>
                <a:schemeClr val="accent1"/>
              </a:solidFill>
              <a:latin typeface="+mj-ea"/>
              <a:ea typeface="+mj-ea"/>
            </a:endParaRPr>
          </a:p>
        </p:txBody>
      </p:sp>
      <p:sp>
        <p:nvSpPr>
          <p:cNvPr id="21" name="矩形 20"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600200" y="2476500"/>
            <a:ext cx="6745605" cy="575945"/>
          </a:xfrm>
          <a:prstGeom prst="rect">
            <a:avLst/>
          </a:prstGeom>
        </p:spPr>
        <p:txBody>
          <a:bodyPr wrap="square">
            <a:spAutoFit/>
          </a:bodyPr>
          <a:lstStyle/>
          <a:p>
            <a:pPr marL="171450" indent="-171450" algn="just">
              <a:lnSpc>
                <a:spcPct val="150000"/>
              </a:lnSpc>
              <a:buFont typeface="Arial" panose="020B0604020202020204" pitchFamily="34" charset="0"/>
              <a:buChar char="•"/>
            </a:pPr>
            <a:r>
              <a:rPr lang="en-US" altLang="zh-CN" sz="1050" dirty="0">
                <a:solidFill>
                  <a:schemeClr val="tx1">
                    <a:lumMod val="50000"/>
                    <a:lumOff val="50000"/>
                  </a:schemeClr>
                </a:solidFill>
              </a:rPr>
              <a:t>4</a:t>
            </a:r>
            <a:r>
              <a:rPr lang="zh-CN" altLang="en-US" sz="1050" dirty="0">
                <a:solidFill>
                  <a:schemeClr val="tx1">
                    <a:lumMod val="50000"/>
                    <a:lumOff val="50000"/>
                  </a:schemeClr>
                </a:solidFill>
              </a:rPr>
              <a:t>月</a:t>
            </a:r>
            <a:r>
              <a:rPr lang="en-US" altLang="zh-CN" sz="1050" dirty="0">
                <a:solidFill>
                  <a:schemeClr val="tx1">
                    <a:lumMod val="50000"/>
                    <a:lumOff val="50000"/>
                  </a:schemeClr>
                </a:solidFill>
              </a:rPr>
              <a:t>22</a:t>
            </a:r>
            <a:r>
              <a:rPr lang="zh-CN" altLang="en-US" sz="1050" dirty="0">
                <a:solidFill>
                  <a:schemeClr val="tx1">
                    <a:lumMod val="50000"/>
                    <a:lumOff val="50000"/>
                  </a:schemeClr>
                </a:solidFill>
              </a:rPr>
              <a:t>日签署</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巴黎协定</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，中国首次承诺在</a:t>
            </a:r>
            <a:r>
              <a:rPr lang="en-US" altLang="zh-CN" sz="1050" dirty="0">
                <a:solidFill>
                  <a:schemeClr val="tx1">
                    <a:lumMod val="50000"/>
                    <a:lumOff val="50000"/>
                  </a:schemeClr>
                </a:solidFill>
              </a:rPr>
              <a:t>2030</a:t>
            </a:r>
            <a:r>
              <a:rPr lang="zh-CN" altLang="en-US" sz="1050" dirty="0">
                <a:solidFill>
                  <a:schemeClr val="tx1">
                    <a:lumMod val="50000"/>
                    <a:lumOff val="50000"/>
                  </a:schemeClr>
                </a:solidFill>
              </a:rPr>
              <a:t>年前达到二氧化碳排放的峰值，并在</a:t>
            </a:r>
            <a:r>
              <a:rPr lang="en-US" altLang="zh-CN" sz="1050" dirty="0">
                <a:solidFill>
                  <a:schemeClr val="tx1">
                    <a:lumMod val="50000"/>
                    <a:lumOff val="50000"/>
                  </a:schemeClr>
                </a:solidFill>
              </a:rPr>
              <a:t>2060</a:t>
            </a:r>
            <a:r>
              <a:rPr lang="zh-CN" altLang="en-US" sz="1050" dirty="0">
                <a:solidFill>
                  <a:schemeClr val="tx1">
                    <a:lumMod val="50000"/>
                    <a:lumOff val="50000"/>
                  </a:schemeClr>
                </a:solidFill>
              </a:rPr>
              <a:t>年前实现碳中和</a:t>
            </a:r>
            <a:endParaRPr lang="en-US" altLang="zh-CN" sz="1050" dirty="0">
              <a:solidFill>
                <a:schemeClr val="tx1">
                  <a:lumMod val="50000"/>
                  <a:lumOff val="50000"/>
                </a:schemeClr>
              </a:solidFill>
            </a:endParaRPr>
          </a:p>
          <a:p>
            <a:pPr marL="171450" indent="-171450" algn="just">
              <a:lnSpc>
                <a:spcPct val="150000"/>
              </a:lnSpc>
              <a:buFont typeface="Arial" panose="020B0604020202020204" pitchFamily="34" charset="0"/>
              <a:buChar char="•"/>
            </a:pPr>
            <a:r>
              <a:rPr lang="zh-CN" altLang="en-US" sz="1050" dirty="0">
                <a:solidFill>
                  <a:schemeClr val="tx1">
                    <a:lumMod val="50000"/>
                    <a:lumOff val="50000"/>
                  </a:schemeClr>
                </a:solidFill>
              </a:rPr>
              <a:t>七部委联合印发</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关于构建绿色金融体系的指导意见</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，提出我国第一个较为系统的绿色金融发展政策框架</a:t>
            </a:r>
            <a:endParaRPr lang="zh-CN" altLang="en-US" sz="1050" dirty="0">
              <a:solidFill>
                <a:schemeClr val="tx1">
                  <a:lumMod val="50000"/>
                  <a:lumOff val="50000"/>
                </a:schemeClr>
              </a:solidFill>
            </a:endParaRPr>
          </a:p>
        </p:txBody>
      </p:sp>
      <p:sp>
        <p:nvSpPr>
          <p:cNvPr id="22"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710153" y="2584024"/>
            <a:ext cx="723276" cy="369332"/>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2016</a:t>
            </a:r>
            <a:endParaRPr lang="en-US" altLang="zh-CN" sz="1800" dirty="0">
              <a:solidFill>
                <a:schemeClr val="accent1"/>
              </a:solidFill>
              <a:latin typeface="+mj-ea"/>
              <a:ea typeface="+mj-ea"/>
            </a:endParaRPr>
          </a:p>
        </p:txBody>
      </p:sp>
      <p:sp>
        <p:nvSpPr>
          <p:cNvPr id="23" name="矩形 22"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591945" y="3202940"/>
            <a:ext cx="6733540" cy="818515"/>
          </a:xfrm>
          <a:prstGeom prst="rect">
            <a:avLst/>
          </a:prstGeom>
        </p:spPr>
        <p:txBody>
          <a:bodyPr wrap="square">
            <a:spAutoFit/>
          </a:bodyPr>
          <a:lstStyle/>
          <a:p>
            <a:pPr marL="171450" indent="-171450" algn="just">
              <a:lnSpc>
                <a:spcPct val="150000"/>
              </a:lnSpc>
              <a:buFont typeface="Arial" panose="020B0604020202020204" pitchFamily="34" charset="0"/>
              <a:buChar char="•"/>
            </a:pPr>
            <a:r>
              <a:rPr lang="zh-CN" altLang="en-US" sz="1050" dirty="0">
                <a:solidFill>
                  <a:schemeClr val="tx1">
                    <a:lumMod val="50000"/>
                    <a:lumOff val="50000"/>
                  </a:schemeClr>
                </a:solidFill>
              </a:rPr>
              <a:t>国家发改委发布</a:t>
            </a:r>
            <a:r>
              <a:rPr lang="en-US" altLang="zh-CN" sz="1050" dirty="0">
                <a:solidFill>
                  <a:schemeClr val="tx1">
                    <a:lumMod val="50000"/>
                    <a:lumOff val="50000"/>
                  </a:schemeClr>
                </a:solidFill>
              </a:rPr>
              <a:t>《</a:t>
            </a:r>
            <a:r>
              <a:rPr lang="zh-CN" altLang="en-US" sz="1050" dirty="0">
                <a:solidFill>
                  <a:schemeClr val="tx1">
                    <a:lumMod val="50000"/>
                    <a:lumOff val="50000"/>
                  </a:schemeClr>
                </a:solidFill>
              </a:rPr>
              <a:t>能源生产和消费革命战略</a:t>
            </a:r>
            <a:r>
              <a:rPr lang="en-US" altLang="zh-CN" sz="1050" dirty="0">
                <a:solidFill>
                  <a:schemeClr val="tx1">
                    <a:lumMod val="50000"/>
                    <a:lumOff val="50000"/>
                  </a:schemeClr>
                </a:solidFill>
              </a:rPr>
              <a:t>(2016-2030)》</a:t>
            </a:r>
            <a:r>
              <a:rPr lang="zh-CN" altLang="en-US" sz="1050" dirty="0">
                <a:solidFill>
                  <a:schemeClr val="tx1">
                    <a:lumMod val="50000"/>
                    <a:lumOff val="50000"/>
                  </a:schemeClr>
                </a:solidFill>
              </a:rPr>
              <a:t>，提出非化石能源消费比重由</a:t>
            </a:r>
            <a:r>
              <a:rPr lang="en-US" altLang="zh-CN" sz="1050" dirty="0">
                <a:solidFill>
                  <a:schemeClr val="tx1">
                    <a:lumMod val="50000"/>
                    <a:lumOff val="50000"/>
                  </a:schemeClr>
                </a:solidFill>
              </a:rPr>
              <a:t>2020</a:t>
            </a:r>
            <a:r>
              <a:rPr lang="zh-CN" altLang="en-US" sz="1050" dirty="0">
                <a:solidFill>
                  <a:schemeClr val="tx1">
                    <a:lumMod val="50000"/>
                    <a:lumOff val="50000"/>
                  </a:schemeClr>
                </a:solidFill>
              </a:rPr>
              <a:t>年的</a:t>
            </a:r>
            <a:r>
              <a:rPr lang="en-US" altLang="zh-CN" sz="1050" dirty="0">
                <a:solidFill>
                  <a:schemeClr val="tx1">
                    <a:lumMod val="50000"/>
                    <a:lumOff val="50000"/>
                  </a:schemeClr>
                </a:solidFill>
              </a:rPr>
              <a:t>15%</a:t>
            </a:r>
            <a:r>
              <a:rPr lang="zh-CN" altLang="en-US" sz="1050" dirty="0">
                <a:solidFill>
                  <a:schemeClr val="tx1">
                    <a:lumMod val="50000"/>
                    <a:lumOff val="50000"/>
                  </a:schemeClr>
                </a:solidFill>
              </a:rPr>
              <a:t>提升至</a:t>
            </a:r>
            <a:r>
              <a:rPr lang="en-US" altLang="zh-CN" sz="1050" dirty="0">
                <a:solidFill>
                  <a:schemeClr val="tx1">
                    <a:lumMod val="50000"/>
                    <a:lumOff val="50000"/>
                  </a:schemeClr>
                </a:solidFill>
              </a:rPr>
              <a:t>2030</a:t>
            </a:r>
            <a:r>
              <a:rPr lang="zh-CN" altLang="en-US" sz="1050" dirty="0">
                <a:solidFill>
                  <a:schemeClr val="tx1">
                    <a:lumMod val="50000"/>
                    <a:lumOff val="50000"/>
                  </a:schemeClr>
                </a:solidFill>
              </a:rPr>
              <a:t>年的</a:t>
            </a:r>
            <a:r>
              <a:rPr lang="en-US" altLang="zh-CN" sz="1050" dirty="0">
                <a:solidFill>
                  <a:schemeClr val="tx1">
                    <a:lumMod val="50000"/>
                    <a:lumOff val="50000"/>
                  </a:schemeClr>
                </a:solidFill>
              </a:rPr>
              <a:t>20%,</a:t>
            </a:r>
            <a:r>
              <a:rPr lang="zh-CN" altLang="en-US" sz="1050" dirty="0">
                <a:solidFill>
                  <a:schemeClr val="tx1">
                    <a:lumMod val="50000"/>
                    <a:lumOff val="50000"/>
                  </a:schemeClr>
                </a:solidFill>
              </a:rPr>
              <a:t>到</a:t>
            </a:r>
            <a:r>
              <a:rPr lang="en-US" altLang="zh-CN" sz="1050" dirty="0">
                <a:solidFill>
                  <a:schemeClr val="tx1">
                    <a:lumMod val="50000"/>
                    <a:lumOff val="50000"/>
                  </a:schemeClr>
                </a:solidFill>
              </a:rPr>
              <a:t>2050</a:t>
            </a:r>
            <a:r>
              <a:rPr lang="zh-CN" altLang="en-US" sz="1050" dirty="0">
                <a:solidFill>
                  <a:schemeClr val="tx1">
                    <a:lumMod val="50000"/>
                    <a:lumOff val="50000"/>
                  </a:schemeClr>
                </a:solidFill>
              </a:rPr>
              <a:t>年提升至</a:t>
            </a:r>
            <a:r>
              <a:rPr lang="en-US" altLang="zh-CN" sz="1050" dirty="0">
                <a:solidFill>
                  <a:schemeClr val="tx1">
                    <a:lumMod val="50000"/>
                    <a:lumOff val="50000"/>
                  </a:schemeClr>
                </a:solidFill>
              </a:rPr>
              <a:t>50%</a:t>
            </a:r>
            <a:r>
              <a:rPr lang="zh-CN" altLang="en-US" sz="1050" dirty="0">
                <a:solidFill>
                  <a:schemeClr val="tx1">
                    <a:lumMod val="50000"/>
                    <a:lumOff val="50000"/>
                  </a:schemeClr>
                </a:solidFill>
              </a:rPr>
              <a:t>，“煤炭清洁高效利用”被列入“面向</a:t>
            </a:r>
            <a:r>
              <a:rPr lang="en-US" altLang="zh-CN" sz="1050" dirty="0">
                <a:solidFill>
                  <a:schemeClr val="tx1">
                    <a:lumMod val="50000"/>
                    <a:lumOff val="50000"/>
                  </a:schemeClr>
                </a:solidFill>
              </a:rPr>
              <a:t>2030</a:t>
            </a:r>
            <a:r>
              <a:rPr lang="zh-CN" altLang="en-US" sz="1050" dirty="0">
                <a:solidFill>
                  <a:schemeClr val="tx1">
                    <a:lumMod val="50000"/>
                    <a:lumOff val="50000"/>
                  </a:schemeClr>
                </a:solidFill>
              </a:rPr>
              <a:t>国家重大</a:t>
            </a:r>
            <a:r>
              <a:rPr lang="zh-CN" altLang="en-US" sz="1050">
                <a:solidFill>
                  <a:schemeClr val="tx1">
                    <a:lumMod val="50000"/>
                    <a:lumOff val="50000"/>
                  </a:schemeClr>
                </a:solidFill>
              </a:rPr>
              <a:t>项目”</a:t>
            </a:r>
            <a:endParaRPr lang="en-US" altLang="zh-CN" sz="1050" dirty="0">
              <a:solidFill>
                <a:schemeClr val="tx1">
                  <a:lumMod val="50000"/>
                  <a:lumOff val="50000"/>
                </a:schemeClr>
              </a:solidFill>
            </a:endParaRPr>
          </a:p>
          <a:p>
            <a:pPr marL="171450" indent="-171450" algn="just">
              <a:lnSpc>
                <a:spcPct val="150000"/>
              </a:lnSpc>
              <a:buFont typeface="Arial" panose="020B0604020202020204" pitchFamily="34" charset="0"/>
              <a:buChar char="•"/>
            </a:pPr>
            <a:r>
              <a:rPr sz="1050" dirty="0">
                <a:solidFill>
                  <a:schemeClr val="tx1">
                    <a:lumMod val="50000"/>
                    <a:lumOff val="50000"/>
                  </a:schemeClr>
                </a:solidFill>
              </a:rPr>
              <a:t>国家发改委印发《全国碳排放权交易市场建设方案(发电行业)》，正式启动全国碳排放交易体系建设工作</a:t>
            </a:r>
            <a:endParaRPr sz="1050" dirty="0">
              <a:solidFill>
                <a:schemeClr val="tx1">
                  <a:lumMod val="50000"/>
                  <a:lumOff val="50000"/>
                </a:schemeClr>
              </a:solidFill>
            </a:endParaRPr>
          </a:p>
        </p:txBody>
      </p:sp>
      <p:sp>
        <p:nvSpPr>
          <p:cNvPr id="24"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710153" y="3422706"/>
            <a:ext cx="723276" cy="369332"/>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2017</a:t>
            </a:r>
            <a:endParaRPr lang="en-US" altLang="zh-CN" sz="1800" dirty="0">
              <a:solidFill>
                <a:schemeClr val="accent1"/>
              </a:solidFill>
              <a:latin typeface="+mj-ea"/>
              <a:ea typeface="+mj-ea"/>
            </a:endParaRPr>
          </a:p>
        </p:txBody>
      </p:sp>
      <p:sp>
        <p:nvSpPr>
          <p:cNvPr id="25" name="矩形 24"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636395" y="4114165"/>
            <a:ext cx="6866255" cy="333375"/>
          </a:xfrm>
          <a:prstGeom prst="rect">
            <a:avLst/>
          </a:prstGeom>
        </p:spPr>
        <p:txBody>
          <a:bodyPr wrap="square">
            <a:spAutoFit/>
          </a:bodyPr>
          <a:lstStyle/>
          <a:p>
            <a:pPr marL="171450" indent="-171450" algn="just">
              <a:lnSpc>
                <a:spcPct val="150000"/>
              </a:lnSpc>
              <a:buFont typeface="Arial" panose="020B0604020202020204" pitchFamily="34" charset="0"/>
              <a:buChar char="•"/>
            </a:pPr>
            <a:r>
              <a:rPr sz="1050" dirty="0">
                <a:solidFill>
                  <a:schemeClr val="tx1">
                    <a:lumMod val="50000"/>
                    <a:lumOff val="50000"/>
                  </a:schemeClr>
                </a:solidFill>
              </a:rPr>
              <a:t>9月，中国国家主席习近平宣布中国的重大承诺：中国将在2030年前达到碳排放峰值，并在2060年前实现碳中和</a:t>
            </a:r>
            <a:endParaRPr lang="zh-CN" altLang="en-US" sz="1050" dirty="0">
              <a:solidFill>
                <a:schemeClr val="tx1">
                  <a:lumMod val="50000"/>
                  <a:lumOff val="50000"/>
                </a:schemeClr>
              </a:solidFill>
            </a:endParaRPr>
          </a:p>
        </p:txBody>
      </p:sp>
      <p:sp>
        <p:nvSpPr>
          <p:cNvPr id="26"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793126" y="4129392"/>
            <a:ext cx="640080" cy="368300"/>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2020</a:t>
            </a:r>
            <a:endParaRPr lang="en-US" altLang="zh-CN" sz="1800" dirty="0">
              <a:solidFill>
                <a:schemeClr val="accent1"/>
              </a:solidFill>
              <a:latin typeface="+mj-ea"/>
              <a:ea typeface="+mj-ea"/>
            </a:endParaRPr>
          </a:p>
        </p:txBody>
      </p:sp>
      <p:sp>
        <p:nvSpPr>
          <p:cNvPr id="27" name="矩形 26"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592580" y="4591050"/>
            <a:ext cx="6760210" cy="333375"/>
          </a:xfrm>
          <a:prstGeom prst="rect">
            <a:avLst/>
          </a:prstGeom>
        </p:spPr>
        <p:txBody>
          <a:bodyPr wrap="square">
            <a:spAutoFit/>
          </a:bodyPr>
          <a:lstStyle/>
          <a:p>
            <a:pPr marL="171450" indent="-171450" algn="just">
              <a:lnSpc>
                <a:spcPct val="150000"/>
              </a:lnSpc>
              <a:buFont typeface="Arial" panose="020B0604020202020204" pitchFamily="34" charset="0"/>
              <a:buChar char="•"/>
            </a:pPr>
            <a:r>
              <a:rPr lang="zh-CN" altLang="en-US" sz="1050" dirty="0">
                <a:solidFill>
                  <a:schemeClr val="tx1">
                    <a:lumMod val="50000"/>
                    <a:lumOff val="50000"/>
                  </a:schemeClr>
                </a:solidFill>
              </a:rPr>
              <a:t>10月，中国政府公布了名为"1+N"的政策框架，这是一系列旨在实现碳达峰和碳中和目标的指导性文件</a:t>
            </a:r>
            <a:endParaRPr lang="zh-CN" altLang="en-US" sz="1050" dirty="0">
              <a:solidFill>
                <a:schemeClr val="tx1">
                  <a:lumMod val="50000"/>
                  <a:lumOff val="50000"/>
                </a:schemeClr>
              </a:solidFill>
            </a:endParaRPr>
          </a:p>
        </p:txBody>
      </p:sp>
      <p:sp>
        <p:nvSpPr>
          <p:cNvPr id="29"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nvSpPr>
        <p:spPr bwMode="auto">
          <a:xfrm>
            <a:off x="800482" y="4612173"/>
            <a:ext cx="640080" cy="368300"/>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r" fontAlgn="base">
              <a:spcBef>
                <a:spcPct val="0"/>
              </a:spcBef>
              <a:spcAft>
                <a:spcPct val="0"/>
              </a:spcAft>
            </a:pPr>
            <a:r>
              <a:rPr lang="en-US" altLang="zh-CN" sz="1800" dirty="0">
                <a:solidFill>
                  <a:schemeClr val="accent1"/>
                </a:solidFill>
                <a:latin typeface="+mj-ea"/>
                <a:ea typeface="+mj-ea"/>
              </a:rPr>
              <a:t>2021</a:t>
            </a:r>
            <a:endParaRPr lang="en-US" altLang="zh-CN" sz="1800" dirty="0">
              <a:solidFill>
                <a:schemeClr val="accent1"/>
              </a:solidFill>
              <a:latin typeface="+mj-ea"/>
              <a:ea typeface="+mj-ea"/>
            </a:endParaRPr>
          </a:p>
        </p:txBody>
      </p:sp>
      <p:sp>
        <p:nvSpPr>
          <p:cNvPr id="31" name="椭圆 30"/>
          <p:cNvSpPr/>
          <p:nvPr/>
        </p:nvSpPr>
        <p:spPr>
          <a:xfrm>
            <a:off x="513715" y="1063166"/>
            <a:ext cx="151765" cy="15176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7" name="椭圆 36"/>
          <p:cNvSpPr/>
          <p:nvPr/>
        </p:nvSpPr>
        <p:spPr>
          <a:xfrm>
            <a:off x="513715" y="1870487"/>
            <a:ext cx="151765" cy="151765"/>
          </a:xfrm>
          <a:prstGeom prst="ellipse">
            <a:avLst/>
          </a:prstGeom>
          <a:solidFill>
            <a:schemeClr val="accent1">
              <a:lumMod val="9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椭圆 37"/>
          <p:cNvSpPr/>
          <p:nvPr/>
        </p:nvSpPr>
        <p:spPr>
          <a:xfrm>
            <a:off x="513715" y="2677808"/>
            <a:ext cx="151765" cy="151765"/>
          </a:xfrm>
          <a:prstGeom prst="ellipse">
            <a:avLst/>
          </a:prstGeom>
          <a:solidFill>
            <a:schemeClr val="accent1">
              <a:lumMod val="8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椭圆 38"/>
          <p:cNvSpPr/>
          <p:nvPr/>
        </p:nvSpPr>
        <p:spPr>
          <a:xfrm>
            <a:off x="513715" y="3526405"/>
            <a:ext cx="151765" cy="151765"/>
          </a:xfrm>
          <a:prstGeom prst="ellipse">
            <a:avLst/>
          </a:prstGeom>
          <a:solidFill>
            <a:schemeClr val="accent1">
              <a:lumMod val="7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椭圆 39"/>
          <p:cNvSpPr/>
          <p:nvPr/>
        </p:nvSpPr>
        <p:spPr>
          <a:xfrm>
            <a:off x="513715" y="4218156"/>
            <a:ext cx="151765" cy="151765"/>
          </a:xfrm>
          <a:prstGeom prst="ellipse">
            <a:avLst/>
          </a:prstGeom>
          <a:solidFill>
            <a:schemeClr val="accent1">
              <a:lumMod val="60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lumMod val="10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custDataLst>
              <p:tags r:id="rId1"/>
            </p:custDataLst>
          </p:nvPr>
        </p:nvSpPr>
        <p:spPr>
          <a:xfrm>
            <a:off x="638810" y="1146175"/>
            <a:ext cx="7950200" cy="162687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638810" y="3491865"/>
            <a:ext cx="7950200" cy="12547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椭圆 1"/>
          <p:cNvSpPr/>
          <p:nvPr>
            <p:custDataLst>
              <p:tags r:id="rId3"/>
            </p:custDataLst>
          </p:nvPr>
        </p:nvSpPr>
        <p:spPr>
          <a:xfrm>
            <a:off x="354965" y="3703955"/>
            <a:ext cx="648970" cy="6489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6"/>
          <p:cNvSpPr txBox="1">
            <a:spLocks noChangeArrowheads="1"/>
          </p:cNvSpPr>
          <p:nvPr/>
        </p:nvSpPr>
        <p:spPr bwMode="auto">
          <a:xfrm>
            <a:off x="415480" y="89664"/>
            <a:ext cx="348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选题的背景与意义：研究问题</a:t>
            </a:r>
            <a:endParaRPr lang="zh-CN" altLang="en-US" sz="2000">
              <a:solidFill>
                <a:schemeClr val="accent1"/>
              </a:solidFill>
              <a:latin typeface="+mj-ea"/>
              <a:ea typeface="+mj-ea"/>
            </a:endParaRPr>
          </a:p>
        </p:txBody>
      </p:sp>
      <p:sp>
        <p:nvSpPr>
          <p:cNvPr id="11" name="矩形 10"/>
          <p:cNvSpPr/>
          <p:nvPr/>
        </p:nvSpPr>
        <p:spPr>
          <a:xfrm>
            <a:off x="415480" y="434379"/>
            <a:ext cx="2558714" cy="230832"/>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Background And Significance Of The Selected Topic</a:t>
            </a:r>
            <a:endParaRPr lang="en-US" altLang="zh-CN" sz="900">
              <a:solidFill>
                <a:schemeClr val="tx1">
                  <a:lumMod val="65000"/>
                  <a:lumOff val="35000"/>
                </a:schemeClr>
              </a:solidFill>
              <a:latin typeface="Calibri Light" panose="020F0302020204030204" pitchFamily="34" charset="0"/>
              <a:ea typeface="方正兰亭黑_GBK"/>
            </a:endParaRPr>
          </a:p>
        </p:txBody>
      </p:sp>
      <p:grpSp>
        <p:nvGrpSpPr>
          <p:cNvPr id="144" name="组合 143"/>
          <p:cNvGrpSpPr/>
          <p:nvPr/>
        </p:nvGrpSpPr>
        <p:grpSpPr>
          <a:xfrm>
            <a:off x="527685" y="3874770"/>
            <a:ext cx="304800" cy="304165"/>
            <a:chOff x="4675188" y="1422400"/>
            <a:chExt cx="360362" cy="358775"/>
          </a:xfrm>
        </p:grpSpPr>
        <p:sp>
          <p:nvSpPr>
            <p:cNvPr id="145" name="AutoShape 84"/>
            <p:cNvSpPr/>
            <p:nvPr>
              <p:custDataLst>
                <p:tags r:id="rId4"/>
              </p:custDataLst>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46" name="AutoShape 85"/>
            <p:cNvSpPr/>
            <p:nvPr>
              <p:custDataLst>
                <p:tags r:id="rId5"/>
              </p:custDataLst>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47" name="AutoShape 86"/>
            <p:cNvSpPr/>
            <p:nvPr>
              <p:custDataLst>
                <p:tags r:id="rId6"/>
              </p:custDataLst>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48" name="AutoShape 87"/>
            <p:cNvSpPr/>
            <p:nvPr>
              <p:custDataLst>
                <p:tags r:id="rId7"/>
              </p:custDataLst>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49" name="AutoShape 88"/>
            <p:cNvSpPr/>
            <p:nvPr>
              <p:custDataLst>
                <p:tags r:id="rId8"/>
              </p:custDataLst>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0" name="AutoShape 89"/>
            <p:cNvSpPr/>
            <p:nvPr>
              <p:custDataLst>
                <p:tags r:id="rId9"/>
              </p:custDataLst>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1" name="AutoShape 90"/>
            <p:cNvSpPr/>
            <p:nvPr>
              <p:custDataLst>
                <p:tags r:id="rId10"/>
              </p:custDataLst>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2" name="AutoShape 91"/>
            <p:cNvSpPr/>
            <p:nvPr>
              <p:custDataLst>
                <p:tags r:id="rId11"/>
              </p:custDataLst>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3" name="AutoShape 92"/>
            <p:cNvSpPr/>
            <p:nvPr>
              <p:custDataLst>
                <p:tags r:id="rId12"/>
              </p:custDataLst>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4" name="AutoShape 93"/>
            <p:cNvSpPr/>
            <p:nvPr>
              <p:custDataLst>
                <p:tags r:id="rId13"/>
              </p:custDataLst>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5" name="AutoShape 94"/>
            <p:cNvSpPr/>
            <p:nvPr>
              <p:custDataLst>
                <p:tags r:id="rId14"/>
              </p:custDataLst>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6" name="AutoShape 95"/>
            <p:cNvSpPr/>
            <p:nvPr>
              <p:custDataLst>
                <p:tags r:id="rId15"/>
              </p:custDataLst>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7" name="AutoShape 96"/>
            <p:cNvSpPr/>
            <p:nvPr>
              <p:custDataLst>
                <p:tags r:id="rId16"/>
              </p:custDataLst>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 name="矩形 2"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custDataLst>
              <p:tags r:id="rId17"/>
            </p:custDataLst>
          </p:nvPr>
        </p:nvSpPr>
        <p:spPr>
          <a:xfrm>
            <a:off x="1227455" y="4103370"/>
            <a:ext cx="7219950" cy="368300"/>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200">
                <a:solidFill>
                  <a:schemeClr val="tx1">
                    <a:lumMod val="50000"/>
                    <a:lumOff val="50000"/>
                  </a:schemeClr>
                </a:solidFill>
              </a:rPr>
              <a:t>为我国各地区实现碳减排和经济增长的双重目标提供政策建议，也为我国碳减排相关政策分析提供参考</a:t>
            </a:r>
            <a:endParaRPr lang="zh-CN" altLang="en-US" sz="1200">
              <a:solidFill>
                <a:schemeClr val="tx1">
                  <a:lumMod val="50000"/>
                  <a:lumOff val="50000"/>
                </a:schemeClr>
              </a:solidFill>
            </a:endParaRPr>
          </a:p>
        </p:txBody>
      </p:sp>
      <p:sp>
        <p:nvSpPr>
          <p:cNvPr id="5"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custDataLst>
              <p:tags r:id="rId18"/>
            </p:custDataLst>
          </p:nvPr>
        </p:nvSpPr>
        <p:spPr bwMode="auto">
          <a:xfrm>
            <a:off x="1321187" y="3706715"/>
            <a:ext cx="1783080" cy="368300"/>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ctr" fontAlgn="base">
              <a:spcBef>
                <a:spcPct val="0"/>
              </a:spcBef>
              <a:spcAft>
                <a:spcPct val="0"/>
              </a:spcAft>
            </a:pPr>
            <a:r>
              <a:rPr lang="zh-CN" altLang="en-US" sz="1800">
                <a:solidFill>
                  <a:schemeClr val="accent1"/>
                </a:solidFill>
                <a:latin typeface="+mj-ea"/>
                <a:ea typeface="+mj-ea"/>
              </a:rPr>
              <a:t>研究意义与价值</a:t>
            </a:r>
            <a:endParaRPr lang="zh-CN" altLang="en-US" sz="1800">
              <a:solidFill>
                <a:schemeClr val="accent1"/>
              </a:solidFill>
              <a:latin typeface="+mj-ea"/>
              <a:ea typeface="+mj-ea"/>
            </a:endParaRPr>
          </a:p>
        </p:txBody>
      </p:sp>
      <p:cxnSp>
        <p:nvCxnSpPr>
          <p:cNvPr id="24" name="4Y9YIQdtzcQzOF2直接连接符 7"/>
          <p:cNvCxnSpPr/>
          <p:nvPr/>
        </p:nvCxnSpPr>
        <p:spPr>
          <a:xfrm>
            <a:off x="4443095" y="1490345"/>
            <a:ext cx="0" cy="104140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6" name="矩形 25"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custDataLst>
              <p:tags r:id="rId19"/>
            </p:custDataLst>
          </p:nvPr>
        </p:nvSpPr>
        <p:spPr>
          <a:xfrm>
            <a:off x="1321435" y="1752600"/>
            <a:ext cx="2835275" cy="818515"/>
          </a:xfrm>
          <a:prstGeom prst="rect">
            <a:avLst/>
          </a:prstGeom>
        </p:spPr>
        <p:txBody>
          <a:bodyPr wrap="square">
            <a:spAutoFit/>
          </a:bodyPr>
          <a:lstStyle/>
          <a:p>
            <a:pPr indent="0">
              <a:lnSpc>
                <a:spcPct val="150000"/>
              </a:lnSpc>
              <a:buFont typeface="Arial" panose="020B0604020202020204" pitchFamily="34" charset="0"/>
              <a:buNone/>
            </a:pPr>
            <a:r>
              <a:rPr lang="zh-CN" altLang="en-US" sz="1050">
                <a:solidFill>
                  <a:schemeClr val="tx1">
                    <a:lumMod val="50000"/>
                    <a:lumOff val="50000"/>
                  </a:schemeClr>
                </a:solidFill>
                <a:sym typeface="+mn-ea"/>
              </a:rPr>
              <a:t>采用二次型方向性距离函数，从省际层面对我国各区域二氧化碳的影子价格进行模型构建与估算</a:t>
            </a:r>
            <a:endParaRPr lang="zh-CN" altLang="en-US" sz="1050">
              <a:solidFill>
                <a:schemeClr val="tx1">
                  <a:lumMod val="50000"/>
                  <a:lumOff val="50000"/>
                </a:schemeClr>
              </a:solidFill>
              <a:sym typeface="+mn-ea"/>
            </a:endParaRPr>
          </a:p>
        </p:txBody>
      </p:sp>
      <p:sp>
        <p:nvSpPr>
          <p:cNvPr id="36" name="矩形 35"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custDataLst>
              <p:tags r:id="rId20"/>
            </p:custDataLst>
          </p:nvPr>
        </p:nvSpPr>
        <p:spPr>
          <a:xfrm>
            <a:off x="4824095" y="1752600"/>
            <a:ext cx="3487420" cy="818515"/>
          </a:xfrm>
          <a:prstGeom prst="rect">
            <a:avLst/>
          </a:prstGeom>
        </p:spPr>
        <p:txBody>
          <a:bodyPr wrap="square">
            <a:spAutoFit/>
          </a:bodyPr>
          <a:lstStyle/>
          <a:p>
            <a:pPr indent="0">
              <a:lnSpc>
                <a:spcPct val="150000"/>
              </a:lnSpc>
              <a:buFont typeface="Arial" panose="020B0604020202020204" pitchFamily="34" charset="0"/>
              <a:buNone/>
            </a:pPr>
            <a:r>
              <a:rPr lang="en-US" altLang="zh-CN" sz="1050">
                <a:solidFill>
                  <a:schemeClr val="tx1">
                    <a:lumMod val="50000"/>
                    <a:lumOff val="50000"/>
                  </a:schemeClr>
                </a:solidFill>
                <a:sym typeface="+mn-ea"/>
              </a:rPr>
              <a:t>通过二氧化碳影子价格来进行断点回归，从而研究关键时点的政策发布、政策转向、政治目标的确认是否对于原有节能减排的步调带来了结构性的改变</a:t>
            </a:r>
            <a:endParaRPr lang="en-US" altLang="zh-CN" sz="1050">
              <a:solidFill>
                <a:schemeClr val="tx1">
                  <a:lumMod val="50000"/>
                  <a:lumOff val="50000"/>
                </a:schemeClr>
              </a:solidFill>
              <a:sym typeface="+mn-ea"/>
            </a:endParaRPr>
          </a:p>
        </p:txBody>
      </p:sp>
      <p:sp>
        <p:nvSpPr>
          <p:cNvPr id="37" name="椭圆 36"/>
          <p:cNvSpPr/>
          <p:nvPr>
            <p:custDataLst>
              <p:tags r:id="rId21"/>
            </p:custDataLst>
          </p:nvPr>
        </p:nvSpPr>
        <p:spPr>
          <a:xfrm>
            <a:off x="354965" y="1363980"/>
            <a:ext cx="648970" cy="6489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flipH="1">
            <a:off x="516890" y="1510030"/>
            <a:ext cx="328930" cy="328930"/>
            <a:chOff x="2473104" y="2145028"/>
            <a:chExt cx="359165" cy="359165"/>
          </a:xfrm>
          <a:solidFill>
            <a:schemeClr val="bg1"/>
          </a:solidFill>
        </p:grpSpPr>
        <p:sp>
          <p:nvSpPr>
            <p:cNvPr id="39" name="AutoShape 126"/>
            <p:cNvSpPr/>
            <p:nvPr>
              <p:custDataLst>
                <p:tags r:id="rId22"/>
              </p:custDataLst>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0" name="AutoShape 127"/>
            <p:cNvSpPr/>
            <p:nvPr>
              <p:custDataLst>
                <p:tags r:id="rId23"/>
              </p:custDataLst>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42"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custDataLst>
              <p:tags r:id="rId24"/>
            </p:custDataLst>
          </p:nvPr>
        </p:nvSpPr>
        <p:spPr bwMode="auto">
          <a:xfrm>
            <a:off x="1321187" y="1402300"/>
            <a:ext cx="1783080" cy="368300"/>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ctr" fontAlgn="base">
              <a:spcBef>
                <a:spcPct val="0"/>
              </a:spcBef>
              <a:spcAft>
                <a:spcPct val="0"/>
              </a:spcAft>
            </a:pPr>
            <a:r>
              <a:rPr lang="zh-CN" altLang="en-US" sz="1800">
                <a:solidFill>
                  <a:schemeClr val="accent1"/>
                </a:solidFill>
                <a:latin typeface="+mj-ea"/>
                <a:ea typeface="+mj-ea"/>
              </a:rPr>
              <a:t>碳影子价格计算</a:t>
            </a:r>
            <a:endParaRPr lang="zh-CN" altLang="en-US" sz="1800">
              <a:solidFill>
                <a:schemeClr val="accent1"/>
              </a:solidFill>
              <a:latin typeface="+mj-ea"/>
              <a:ea typeface="+mj-ea"/>
            </a:endParaRPr>
          </a:p>
        </p:txBody>
      </p:sp>
      <p:sp>
        <p:nvSpPr>
          <p:cNvPr id="43" name="文本框 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txBox="1">
            <a:spLocks noChangeArrowheads="1"/>
          </p:cNvSpPr>
          <p:nvPr>
            <p:custDataLst>
              <p:tags r:id="rId25"/>
            </p:custDataLst>
          </p:nvPr>
        </p:nvSpPr>
        <p:spPr bwMode="auto">
          <a:xfrm>
            <a:off x="4823847" y="1402300"/>
            <a:ext cx="1097280" cy="368300"/>
          </a:xfrm>
          <a:prstGeom prst="rect">
            <a:avLst/>
          </a:prstGeom>
          <a:noFill/>
          <a:ln>
            <a:noFill/>
          </a:ln>
        </p:spPr>
        <p:txBody>
          <a:bodyPr wrap="none">
            <a:spAutoFit/>
          </a:bodyPr>
          <a:lstStyle>
            <a:lvl1pPr defTabSz="514350">
              <a:defRPr sz="1300">
                <a:solidFill>
                  <a:schemeClr val="tx1"/>
                </a:solidFill>
                <a:latin typeface="Calibri" panose="020F0502020204030204" pitchFamily="34" charset="0"/>
                <a:ea typeface="宋体" panose="02010600030101010101" pitchFamily="2" charset="-122"/>
              </a:defRPr>
            </a:lvl1pPr>
            <a:lvl2pPr marL="742950" indent="-285750" defTabSz="514350">
              <a:defRPr sz="1300">
                <a:solidFill>
                  <a:schemeClr val="tx1"/>
                </a:solidFill>
                <a:latin typeface="Calibri" panose="020F0502020204030204" pitchFamily="34" charset="0"/>
                <a:ea typeface="宋体" panose="02010600030101010101" pitchFamily="2" charset="-122"/>
              </a:defRPr>
            </a:lvl2pPr>
            <a:lvl3pPr marL="1143000" indent="-228600" defTabSz="514350">
              <a:defRPr sz="1300">
                <a:solidFill>
                  <a:schemeClr val="tx1"/>
                </a:solidFill>
                <a:latin typeface="Calibri" panose="020F0502020204030204" pitchFamily="34" charset="0"/>
                <a:ea typeface="宋体" panose="02010600030101010101" pitchFamily="2" charset="-122"/>
              </a:defRPr>
            </a:lvl3pPr>
            <a:lvl4pPr marL="1600200" indent="-228600" defTabSz="514350">
              <a:defRPr sz="1300">
                <a:solidFill>
                  <a:schemeClr val="tx1"/>
                </a:solidFill>
                <a:latin typeface="Calibri" panose="020F0502020204030204" pitchFamily="34" charset="0"/>
                <a:ea typeface="宋体" panose="02010600030101010101" pitchFamily="2" charset="-122"/>
              </a:defRPr>
            </a:lvl4pPr>
            <a:lvl5pPr marL="2057400" indent="-228600" defTabSz="514350">
              <a:defRPr sz="1300">
                <a:solidFill>
                  <a:schemeClr val="tx1"/>
                </a:solidFill>
                <a:latin typeface="Calibri" panose="020F0502020204030204" pitchFamily="34" charset="0"/>
                <a:ea typeface="宋体" panose="02010600030101010101" pitchFamily="2" charset="-122"/>
              </a:defRPr>
            </a:lvl5pPr>
            <a:lvl6pPr marL="25146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6pPr>
            <a:lvl7pPr marL="29718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7pPr>
            <a:lvl8pPr marL="34290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8pPr>
            <a:lvl9pPr marL="3886200" indent="-228600" defTabSz="514350" eaLnBrk="0" fontAlgn="base" hangingPunct="0">
              <a:spcBef>
                <a:spcPct val="0"/>
              </a:spcBef>
              <a:spcAft>
                <a:spcPct val="0"/>
              </a:spcAft>
              <a:defRPr sz="1300">
                <a:solidFill>
                  <a:schemeClr val="tx1"/>
                </a:solidFill>
                <a:latin typeface="Calibri" panose="020F0502020204030204" pitchFamily="34" charset="0"/>
                <a:ea typeface="宋体" panose="02010600030101010101" pitchFamily="2" charset="-122"/>
              </a:defRPr>
            </a:lvl9pPr>
          </a:lstStyle>
          <a:p>
            <a:pPr algn="ctr" fontAlgn="base">
              <a:spcBef>
                <a:spcPct val="0"/>
              </a:spcBef>
              <a:spcAft>
                <a:spcPct val="0"/>
              </a:spcAft>
            </a:pPr>
            <a:r>
              <a:rPr lang="zh-CN" altLang="en-US" sz="1800">
                <a:solidFill>
                  <a:schemeClr val="accent1"/>
                </a:solidFill>
                <a:latin typeface="+mj-ea"/>
                <a:ea typeface="+mj-ea"/>
              </a:rPr>
              <a:t>事件研究</a:t>
            </a:r>
            <a:endParaRPr lang="zh-CN" altLang="en-US" sz="1800">
              <a:solidFill>
                <a:schemeClr val="accent1"/>
              </a:solidFill>
              <a:latin typeface="+mj-ea"/>
              <a:ea typeface="+mj-ea"/>
            </a:endParaRPr>
          </a:p>
        </p:txBody>
      </p:sp>
      <p:sp>
        <p:nvSpPr>
          <p:cNvPr id="44" name="down-arrows_44664"/>
          <p:cNvSpPr/>
          <p:nvPr>
            <p:custDataLst>
              <p:tags r:id="rId26"/>
            </p:custDataLst>
          </p:nvPr>
        </p:nvSpPr>
        <p:spPr>
          <a:xfrm>
            <a:off x="4291330" y="2906395"/>
            <a:ext cx="299085" cy="412115"/>
          </a:xfrm>
          <a:custGeom>
            <a:avLst/>
            <a:gdLst>
              <a:gd name="T0" fmla="*/ 26 w 413"/>
              <a:gd name="T1" fmla="*/ 259 h 570"/>
              <a:gd name="T2" fmla="*/ 19 w 413"/>
              <a:gd name="T3" fmla="*/ 184 h 570"/>
              <a:gd name="T4" fmla="*/ 95 w 413"/>
              <a:gd name="T5" fmla="*/ 178 h 570"/>
              <a:gd name="T6" fmla="*/ 154 w 413"/>
              <a:gd name="T7" fmla="*/ 228 h 570"/>
              <a:gd name="T8" fmla="*/ 154 w 413"/>
              <a:gd name="T9" fmla="*/ 53 h 570"/>
              <a:gd name="T10" fmla="*/ 207 w 413"/>
              <a:gd name="T11" fmla="*/ 0 h 570"/>
              <a:gd name="T12" fmla="*/ 260 w 413"/>
              <a:gd name="T13" fmla="*/ 53 h 570"/>
              <a:gd name="T14" fmla="*/ 260 w 413"/>
              <a:gd name="T15" fmla="*/ 228 h 570"/>
              <a:gd name="T16" fmla="*/ 319 w 413"/>
              <a:gd name="T17" fmla="*/ 178 h 570"/>
              <a:gd name="T18" fmla="*/ 394 w 413"/>
              <a:gd name="T19" fmla="*/ 184 h 570"/>
              <a:gd name="T20" fmla="*/ 388 w 413"/>
              <a:gd name="T21" fmla="*/ 259 h 570"/>
              <a:gd name="T22" fmla="*/ 241 w 413"/>
              <a:gd name="T23" fmla="*/ 384 h 570"/>
              <a:gd name="T24" fmla="*/ 207 w 413"/>
              <a:gd name="T25" fmla="*/ 397 h 570"/>
              <a:gd name="T26" fmla="*/ 172 w 413"/>
              <a:gd name="T27" fmla="*/ 384 h 570"/>
              <a:gd name="T28" fmla="*/ 26 w 413"/>
              <a:gd name="T29" fmla="*/ 259 h 570"/>
              <a:gd name="T30" fmla="*/ 319 w 413"/>
              <a:gd name="T31" fmla="*/ 351 h 570"/>
              <a:gd name="T32" fmla="*/ 207 w 413"/>
              <a:gd name="T33" fmla="*/ 446 h 570"/>
              <a:gd name="T34" fmla="*/ 95 w 413"/>
              <a:gd name="T35" fmla="*/ 351 h 570"/>
              <a:gd name="T36" fmla="*/ 19 w 413"/>
              <a:gd name="T37" fmla="*/ 357 h 570"/>
              <a:gd name="T38" fmla="*/ 26 w 413"/>
              <a:gd name="T39" fmla="*/ 432 h 570"/>
              <a:gd name="T40" fmla="*/ 172 w 413"/>
              <a:gd name="T41" fmla="*/ 557 h 570"/>
              <a:gd name="T42" fmla="*/ 207 w 413"/>
              <a:gd name="T43" fmla="*/ 570 h 570"/>
              <a:gd name="T44" fmla="*/ 241 w 413"/>
              <a:gd name="T45" fmla="*/ 557 h 570"/>
              <a:gd name="T46" fmla="*/ 388 w 413"/>
              <a:gd name="T47" fmla="*/ 432 h 570"/>
              <a:gd name="T48" fmla="*/ 394 w 413"/>
              <a:gd name="T49" fmla="*/ 357 h 570"/>
              <a:gd name="T50" fmla="*/ 319 w 413"/>
              <a:gd name="T51" fmla="*/ 351 h 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3" h="570">
                <a:moveTo>
                  <a:pt x="26" y="259"/>
                </a:moveTo>
                <a:cubicBezTo>
                  <a:pt x="3" y="240"/>
                  <a:pt x="0" y="207"/>
                  <a:pt x="19" y="184"/>
                </a:cubicBezTo>
                <a:cubicBezTo>
                  <a:pt x="38" y="162"/>
                  <a:pt x="72" y="159"/>
                  <a:pt x="95" y="178"/>
                </a:cubicBezTo>
                <a:lnTo>
                  <a:pt x="154" y="228"/>
                </a:lnTo>
                <a:lnTo>
                  <a:pt x="154" y="53"/>
                </a:lnTo>
                <a:cubicBezTo>
                  <a:pt x="154" y="24"/>
                  <a:pt x="177" y="0"/>
                  <a:pt x="207" y="0"/>
                </a:cubicBezTo>
                <a:cubicBezTo>
                  <a:pt x="236" y="0"/>
                  <a:pt x="260" y="24"/>
                  <a:pt x="260" y="53"/>
                </a:cubicBezTo>
                <a:lnTo>
                  <a:pt x="260" y="228"/>
                </a:lnTo>
                <a:lnTo>
                  <a:pt x="319" y="178"/>
                </a:lnTo>
                <a:cubicBezTo>
                  <a:pt x="342" y="159"/>
                  <a:pt x="375" y="162"/>
                  <a:pt x="394" y="184"/>
                </a:cubicBezTo>
                <a:cubicBezTo>
                  <a:pt x="413" y="207"/>
                  <a:pt x="411" y="240"/>
                  <a:pt x="388" y="259"/>
                </a:cubicBezTo>
                <a:lnTo>
                  <a:pt x="241" y="384"/>
                </a:lnTo>
                <a:cubicBezTo>
                  <a:pt x="231" y="392"/>
                  <a:pt x="219" y="397"/>
                  <a:pt x="207" y="397"/>
                </a:cubicBezTo>
                <a:cubicBezTo>
                  <a:pt x="195" y="397"/>
                  <a:pt x="182" y="392"/>
                  <a:pt x="172" y="384"/>
                </a:cubicBezTo>
                <a:lnTo>
                  <a:pt x="26" y="259"/>
                </a:lnTo>
                <a:close/>
                <a:moveTo>
                  <a:pt x="319" y="351"/>
                </a:moveTo>
                <a:lnTo>
                  <a:pt x="207" y="446"/>
                </a:lnTo>
                <a:lnTo>
                  <a:pt x="95" y="351"/>
                </a:lnTo>
                <a:cubicBezTo>
                  <a:pt x="72" y="332"/>
                  <a:pt x="38" y="335"/>
                  <a:pt x="19" y="357"/>
                </a:cubicBezTo>
                <a:cubicBezTo>
                  <a:pt x="0" y="380"/>
                  <a:pt x="3" y="413"/>
                  <a:pt x="26" y="432"/>
                </a:cubicBezTo>
                <a:lnTo>
                  <a:pt x="172" y="557"/>
                </a:lnTo>
                <a:cubicBezTo>
                  <a:pt x="182" y="565"/>
                  <a:pt x="195" y="570"/>
                  <a:pt x="207" y="570"/>
                </a:cubicBezTo>
                <a:cubicBezTo>
                  <a:pt x="219" y="570"/>
                  <a:pt x="231" y="565"/>
                  <a:pt x="241" y="557"/>
                </a:cubicBezTo>
                <a:lnTo>
                  <a:pt x="388" y="432"/>
                </a:lnTo>
                <a:cubicBezTo>
                  <a:pt x="411" y="413"/>
                  <a:pt x="413" y="380"/>
                  <a:pt x="394" y="357"/>
                </a:cubicBezTo>
                <a:cubicBezTo>
                  <a:pt x="375" y="335"/>
                  <a:pt x="342" y="332"/>
                  <a:pt x="319" y="35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20" name="矩形 19"/>
          <p:cNvSpPr/>
          <p:nvPr/>
        </p:nvSpPr>
        <p:spPr bwMode="auto">
          <a:xfrm>
            <a:off x="2702561" y="2302213"/>
            <a:ext cx="3738880" cy="706755"/>
          </a:xfrm>
          <a:prstGeom prst="rect">
            <a:avLst/>
          </a:prstGeom>
        </p:spPr>
        <p:txBody>
          <a:bodyPr wrap="none">
            <a:spAutoFit/>
          </a:bodyPr>
          <a:lstStyle/>
          <a:p>
            <a:pPr algn="ctr">
              <a:defRPr/>
            </a:pPr>
            <a:r>
              <a:rPr lang="zh-CN" altLang="en-US" sz="4000" kern="100">
                <a:solidFill>
                  <a:schemeClr val="bg1"/>
                </a:solidFill>
                <a:latin typeface="+mj-ea"/>
                <a:ea typeface="+mj-ea"/>
                <a:cs typeface="Times New Roman" panose="02020603050405020304" pitchFamily="18" charset="0"/>
              </a:rPr>
              <a:t>研究方法及</a:t>
            </a:r>
            <a:r>
              <a:rPr lang="zh-CN" altLang="en-US" sz="4000" kern="100">
                <a:solidFill>
                  <a:schemeClr val="bg1"/>
                </a:solidFill>
                <a:latin typeface="+mj-ea"/>
                <a:ea typeface="+mj-ea"/>
                <a:cs typeface="Times New Roman" panose="02020603050405020304" pitchFamily="18" charset="0"/>
              </a:rPr>
              <a:t>数据</a:t>
            </a:r>
            <a:endParaRPr lang="zh-CN" altLang="en-US" sz="4000" kern="100">
              <a:solidFill>
                <a:schemeClr val="bg1"/>
              </a:solidFill>
              <a:latin typeface="+mj-ea"/>
              <a:ea typeface="+mj-ea"/>
              <a:cs typeface="Times New Roman" panose="02020603050405020304" pitchFamily="18" charset="0"/>
            </a:endParaRPr>
          </a:p>
        </p:txBody>
      </p:sp>
      <p:sp>
        <p:nvSpPr>
          <p:cNvPr id="22" name="矩形 21"/>
          <p:cNvSpPr/>
          <p:nvPr/>
        </p:nvSpPr>
        <p:spPr>
          <a:xfrm>
            <a:off x="2569028" y="2971264"/>
            <a:ext cx="4005944" cy="213995"/>
          </a:xfrm>
          <a:prstGeom prst="rect">
            <a:avLst/>
          </a:prstGeom>
        </p:spPr>
        <p:txBody>
          <a:bodyPr wrap="square">
            <a:spAutoFit/>
          </a:bodyPr>
          <a:lstStyle/>
          <a:p>
            <a:pPr algn="dist"/>
            <a:r>
              <a:rPr lang="en-US" altLang="zh-CN" sz="800">
                <a:solidFill>
                  <a:schemeClr val="bg1"/>
                </a:solidFill>
                <a:latin typeface="+mj-lt"/>
              </a:rPr>
              <a:t>RESEARCH METHODS AND DATA</a:t>
            </a:r>
            <a:endParaRPr lang="en-US" altLang="zh-CN" sz="800">
              <a:solidFill>
                <a:schemeClr val="bg1"/>
              </a:solidFill>
              <a:latin typeface="+mj-lt"/>
            </a:endParaRPr>
          </a:p>
        </p:txBody>
      </p:sp>
      <p:cxnSp>
        <p:nvCxnSpPr>
          <p:cNvPr id="24" name="直接连接符 23"/>
          <p:cNvCxnSpPr/>
          <p:nvPr/>
        </p:nvCxnSpPr>
        <p:spPr>
          <a:xfrm>
            <a:off x="3349690" y="3432640"/>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3996000" y="3661882"/>
            <a:ext cx="1152000" cy="251847"/>
          </a:xfrm>
          <a:prstGeom prst="roundRect">
            <a:avLst>
              <a:gd name="adj" fmla="val 50000"/>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mj-lt"/>
              </a:rPr>
              <a:t>PART TWO</a:t>
            </a:r>
            <a:endParaRPr lang="zh-CN" altLang="en-US" sz="1100">
              <a:latin typeface="+mj-lt"/>
            </a:endParaRPr>
          </a:p>
        </p:txBody>
      </p:sp>
      <p:sp>
        <p:nvSpPr>
          <p:cNvPr id="3" name="椭圆 2"/>
          <p:cNvSpPr/>
          <p:nvPr/>
        </p:nvSpPr>
        <p:spPr>
          <a:xfrm>
            <a:off x="4101638" y="1275613"/>
            <a:ext cx="940724" cy="940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4400">
                <a:solidFill>
                  <a:schemeClr val="accent1"/>
                </a:solidFill>
                <a:latin typeface="方正清刻本悦宋简体"/>
                <a:ea typeface="方正清刻本悦宋简体"/>
              </a:rPr>
              <a:t>贰</a:t>
            </a:r>
            <a:endParaRPr lang="zh-CN" altLang="en-US" sz="4400">
              <a:solidFill>
                <a:schemeClr val="accent1"/>
              </a:solidFill>
              <a:latin typeface="方正清刻本悦宋简体"/>
              <a:ea typeface="方正清刻本悦宋简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这个概念描述了二氧化碳排放的问题及其对自然的影响，它的形式是一个位于茂盛森林的二氧化碳标志形状的池塘。3 d渲染。"/>
          <p:cNvPicPr>
            <a:picLocks noChangeAspect="1"/>
          </p:cNvPicPr>
          <p:nvPr/>
        </p:nvPicPr>
        <p:blipFill>
          <a:blip r:embed="rId1"/>
          <a:srcRect r="30050" b="-12"/>
          <a:stretch>
            <a:fillRect/>
          </a:stretch>
        </p:blipFill>
        <p:spPr>
          <a:xfrm>
            <a:off x="3745865" y="0"/>
            <a:ext cx="5398135" cy="5143500"/>
          </a:xfrm>
          <a:prstGeom prst="rect">
            <a:avLst/>
          </a:prstGeom>
        </p:spPr>
      </p:pic>
      <p:sp>
        <p:nvSpPr>
          <p:cNvPr id="10" name="文本框 6"/>
          <p:cNvSpPr txBox="1">
            <a:spLocks noChangeArrowheads="1"/>
          </p:cNvSpPr>
          <p:nvPr/>
        </p:nvSpPr>
        <p:spPr bwMode="auto">
          <a:xfrm>
            <a:off x="415480" y="89664"/>
            <a:ext cx="196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a:t>
            </a:r>
            <a:r>
              <a:rPr lang="zh-CN" altLang="en-US" sz="2000">
                <a:solidFill>
                  <a:schemeClr val="accent1"/>
                </a:solidFill>
                <a:latin typeface="+mj-ea"/>
                <a:ea typeface="+mj-ea"/>
              </a:rPr>
              <a:t>数据</a:t>
            </a:r>
            <a:endParaRPr lang="zh-CN" altLang="en-US" sz="2000">
              <a:solidFill>
                <a:schemeClr val="accent1"/>
              </a:solidFill>
              <a:latin typeface="+mj-ea"/>
              <a:ea typeface="+mj-ea"/>
            </a:endParaRPr>
          </a:p>
        </p:txBody>
      </p:sp>
      <p:sp>
        <p:nvSpPr>
          <p:cNvPr id="11" name="矩形 10"/>
          <p:cNvSpPr/>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5" name="平行四边形 4"/>
          <p:cNvSpPr/>
          <p:nvPr/>
        </p:nvSpPr>
        <p:spPr>
          <a:xfrm>
            <a:off x="1951990" y="0"/>
            <a:ext cx="4898390" cy="5208270"/>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275965" y="950595"/>
            <a:ext cx="2900045" cy="720090"/>
          </a:xfrm>
          <a:prstGeom prst="rect">
            <a:avLst/>
          </a:prstGeom>
        </p:spPr>
        <p:txBody>
          <a:bodyPr wrap="square">
            <a:spAutoFit/>
          </a:bodyPr>
          <a:lstStyle/>
          <a:p>
            <a:pPr algn="ctr">
              <a:lnSpc>
                <a:spcPct val="130000"/>
              </a:lnSpc>
              <a:spcBef>
                <a:spcPts val="600"/>
              </a:spcBef>
            </a:pPr>
            <a:r>
              <a:rPr lang="zh-CN" altLang="zh-CN" sz="1050" dirty="0">
                <a:solidFill>
                  <a:schemeClr val="bg1"/>
                </a:solidFill>
              </a:rPr>
              <a:t>由</a:t>
            </a:r>
            <a:r>
              <a:rPr lang="en-US" altLang="zh-CN" sz="1050" dirty="0">
                <a:solidFill>
                  <a:schemeClr val="bg1"/>
                </a:solidFill>
              </a:rPr>
              <a:t>Chung</a:t>
            </a:r>
            <a:r>
              <a:rPr lang="zh-CN" altLang="zh-CN" sz="1050" dirty="0">
                <a:solidFill>
                  <a:schemeClr val="bg1"/>
                </a:solidFill>
              </a:rPr>
              <a:t>等提出的方法，它克服了传统谢泼德距离函数的缺点，具有期望产出和非期望产出可以按照任意的比例和方向进行变化的特点。 </a:t>
            </a:r>
            <a:r>
              <a:rPr lang="en-US" altLang="zh-CN" sz="1050" dirty="0">
                <a:solidFill>
                  <a:schemeClr val="bg1"/>
                </a:solidFill>
              </a:rPr>
              <a:t> </a:t>
            </a:r>
            <a:endParaRPr lang="en-US" altLang="zh-CN" sz="1050" dirty="0">
              <a:solidFill>
                <a:schemeClr val="bg1"/>
              </a:solidFill>
            </a:endParaRPr>
          </a:p>
        </p:txBody>
      </p:sp>
      <p:sp>
        <p:nvSpPr>
          <p:cNvPr id="24" name="矩形 23"/>
          <p:cNvSpPr/>
          <p:nvPr/>
        </p:nvSpPr>
        <p:spPr>
          <a:xfrm>
            <a:off x="3900804" y="585413"/>
            <a:ext cx="1536500" cy="337185"/>
          </a:xfrm>
          <a:prstGeom prst="rect">
            <a:avLst/>
          </a:prstGeom>
        </p:spPr>
        <p:txBody>
          <a:bodyPr wrap="square">
            <a:spAutoFit/>
          </a:bodyPr>
          <a:lstStyle/>
          <a:p>
            <a:pPr algn="ctr"/>
            <a:r>
              <a:rPr lang="zh-CN" altLang="zh-CN" sz="1600" b="1" dirty="0">
                <a:solidFill>
                  <a:schemeClr val="bg1"/>
                </a:solidFill>
                <a:latin typeface="+mj-ea"/>
                <a:ea typeface="+mj-ea"/>
              </a:rPr>
              <a:t>方向距离函数</a:t>
            </a:r>
            <a:endParaRPr lang="zh-CN" altLang="en-US" sz="1600" b="1" dirty="0">
              <a:solidFill>
                <a:schemeClr val="bg1"/>
              </a:solidFill>
              <a:latin typeface="+mj-ea"/>
              <a:ea typeface="+mj-ea"/>
            </a:endParaRPr>
          </a:p>
        </p:txBody>
      </p:sp>
      <p:sp>
        <p:nvSpPr>
          <p:cNvPr id="25" name="矩形 24"/>
          <p:cNvSpPr/>
          <p:nvPr/>
        </p:nvSpPr>
        <p:spPr>
          <a:xfrm>
            <a:off x="2988945" y="2508250"/>
            <a:ext cx="2900045" cy="510540"/>
          </a:xfrm>
          <a:prstGeom prst="rect">
            <a:avLst/>
          </a:prstGeom>
        </p:spPr>
        <p:txBody>
          <a:bodyPr wrap="square">
            <a:spAutoFit/>
          </a:bodyPr>
          <a:lstStyle/>
          <a:p>
            <a:pPr algn="ctr">
              <a:lnSpc>
                <a:spcPct val="130000"/>
              </a:lnSpc>
              <a:spcBef>
                <a:spcPts val="600"/>
              </a:spcBef>
            </a:pPr>
            <a:r>
              <a:rPr lang="zh-CN" altLang="zh-CN" sz="1050" dirty="0">
                <a:solidFill>
                  <a:schemeClr val="bg1"/>
                </a:solidFill>
              </a:rPr>
              <a:t>由</a:t>
            </a:r>
            <a:r>
              <a:rPr lang="en-US" altLang="zh-CN" sz="1050" dirty="0">
                <a:solidFill>
                  <a:schemeClr val="bg1"/>
                </a:solidFill>
              </a:rPr>
              <a:t>Aigner</a:t>
            </a:r>
            <a:r>
              <a:rPr lang="zh-CN" altLang="zh-CN" sz="1050" dirty="0">
                <a:solidFill>
                  <a:schemeClr val="bg1"/>
                </a:solidFill>
              </a:rPr>
              <a:t>等最早提出，通过给定的函数形式利用计量模型估计效率与影子价格。 </a:t>
            </a:r>
            <a:endParaRPr lang="en-US" altLang="zh-CN" sz="1050" dirty="0">
              <a:solidFill>
                <a:schemeClr val="bg1"/>
              </a:solidFill>
            </a:endParaRPr>
          </a:p>
        </p:txBody>
      </p:sp>
      <p:sp>
        <p:nvSpPr>
          <p:cNvPr id="26" name="矩形 25"/>
          <p:cNvSpPr/>
          <p:nvPr/>
        </p:nvSpPr>
        <p:spPr>
          <a:xfrm>
            <a:off x="3614419" y="2193785"/>
            <a:ext cx="1480517" cy="337185"/>
          </a:xfrm>
          <a:prstGeom prst="rect">
            <a:avLst/>
          </a:prstGeom>
        </p:spPr>
        <p:txBody>
          <a:bodyPr wrap="square">
            <a:spAutoFit/>
          </a:bodyPr>
          <a:lstStyle/>
          <a:p>
            <a:pPr algn="ctr"/>
            <a:r>
              <a:rPr lang="zh-CN" altLang="en-US" sz="1600" b="1" dirty="0">
                <a:solidFill>
                  <a:schemeClr val="bg1"/>
                </a:solidFill>
                <a:latin typeface="+mj-ea"/>
                <a:ea typeface="+mj-ea"/>
              </a:rPr>
              <a:t>随机前沿分析</a:t>
            </a:r>
            <a:endParaRPr lang="zh-CN" altLang="en-US" sz="1600" b="1" dirty="0">
              <a:solidFill>
                <a:schemeClr val="bg1"/>
              </a:solidFill>
              <a:latin typeface="+mj-ea"/>
              <a:ea typeface="+mj-ea"/>
            </a:endParaRPr>
          </a:p>
        </p:txBody>
      </p:sp>
      <p:sp>
        <p:nvSpPr>
          <p:cNvPr id="36" name="矩形 35"/>
          <p:cNvSpPr/>
          <p:nvPr/>
        </p:nvSpPr>
        <p:spPr>
          <a:xfrm>
            <a:off x="2687955" y="3800475"/>
            <a:ext cx="2900680" cy="300990"/>
          </a:xfrm>
          <a:prstGeom prst="rect">
            <a:avLst/>
          </a:prstGeom>
        </p:spPr>
        <p:txBody>
          <a:bodyPr wrap="square">
            <a:spAutoFit/>
          </a:bodyPr>
          <a:lstStyle/>
          <a:p>
            <a:pPr algn="ctr">
              <a:lnSpc>
                <a:spcPct val="130000"/>
              </a:lnSpc>
              <a:spcBef>
                <a:spcPts val="600"/>
              </a:spcBef>
            </a:pPr>
            <a:r>
              <a:rPr lang="zh-CN" altLang="en-US" sz="1050" dirty="0">
                <a:solidFill>
                  <a:schemeClr val="bg1"/>
                </a:solidFill>
              </a:rPr>
              <a:t>使用单纯形法求解线性规划问题的内点解</a:t>
            </a:r>
            <a:endParaRPr lang="en-US" altLang="zh-CN" sz="1050" dirty="0">
              <a:solidFill>
                <a:schemeClr val="bg1"/>
              </a:solidFill>
            </a:endParaRPr>
          </a:p>
        </p:txBody>
      </p:sp>
      <p:sp>
        <p:nvSpPr>
          <p:cNvPr id="37" name="矩形 36"/>
          <p:cNvSpPr/>
          <p:nvPr/>
        </p:nvSpPr>
        <p:spPr>
          <a:xfrm>
            <a:off x="3413100" y="3499485"/>
            <a:ext cx="1282444" cy="337185"/>
          </a:xfrm>
          <a:prstGeom prst="rect">
            <a:avLst/>
          </a:prstGeom>
        </p:spPr>
        <p:txBody>
          <a:bodyPr wrap="square">
            <a:spAutoFit/>
          </a:bodyPr>
          <a:lstStyle/>
          <a:p>
            <a:pPr algn="ctr"/>
            <a:r>
              <a:rPr lang="zh-CN" altLang="en-US" sz="1600" b="1" dirty="0">
                <a:solidFill>
                  <a:schemeClr val="bg1"/>
                </a:solidFill>
                <a:latin typeface="+mj-ea"/>
                <a:ea typeface="+mj-ea"/>
              </a:rPr>
              <a:t>线性规划法</a:t>
            </a:r>
            <a:endParaRPr lang="zh-CN" altLang="en-US" sz="1600" b="1" dirty="0">
              <a:solidFill>
                <a:schemeClr val="bg1"/>
              </a:solidFill>
              <a:latin typeface="+mj-ea"/>
              <a:ea typeface="+mj-ea"/>
            </a:endParaRPr>
          </a:p>
        </p:txBody>
      </p:sp>
      <p:sp>
        <p:nvSpPr>
          <p:cNvPr id="38" name="矩形 37"/>
          <p:cNvSpPr/>
          <p:nvPr/>
        </p:nvSpPr>
        <p:spPr bwMode="auto">
          <a:xfrm>
            <a:off x="620353" y="1483615"/>
            <a:ext cx="18261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3200" dirty="0">
                <a:solidFill>
                  <a:schemeClr val="accent1"/>
                </a:solidFill>
                <a:latin typeface="+mj-ea"/>
                <a:ea typeface="+mj-ea"/>
              </a:rPr>
              <a:t>研究方法</a:t>
            </a:r>
            <a:endParaRPr lang="zh-CN" altLang="en-US" sz="3200" dirty="0">
              <a:solidFill>
                <a:schemeClr val="accent1"/>
              </a:solidFill>
              <a:latin typeface="+mj-ea"/>
              <a:ea typeface="+mj-ea"/>
            </a:endParaRPr>
          </a:p>
        </p:txBody>
      </p:sp>
      <p:cxnSp>
        <p:nvCxnSpPr>
          <p:cNvPr id="40" name="直接连接符 39"/>
          <p:cNvCxnSpPr/>
          <p:nvPr/>
        </p:nvCxnSpPr>
        <p:spPr>
          <a:xfrm>
            <a:off x="777848" y="2162774"/>
            <a:ext cx="253219"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599594" y="910627"/>
            <a:ext cx="1564862" cy="369332"/>
          </a:xfrm>
          <a:prstGeom prst="rect">
            <a:avLst/>
          </a:prstGeom>
        </p:spPr>
        <p:txBody>
          <a:bodyPr wrap="square">
            <a:spAutoFit/>
          </a:bodyPr>
          <a:lstStyle/>
          <a:p>
            <a:pPr algn="ctr"/>
            <a:r>
              <a:rPr lang="zh-CN" altLang="en-US" dirty="0">
                <a:solidFill>
                  <a:schemeClr val="accent1"/>
                </a:solidFill>
                <a:latin typeface="+mj-ea"/>
                <a:ea typeface="+mj-ea"/>
              </a:rPr>
              <a:t>方向</a:t>
            </a:r>
            <a:r>
              <a:rPr lang="zh-CN" altLang="en-US" sz="1800" dirty="0">
                <a:solidFill>
                  <a:schemeClr val="accent1"/>
                </a:solidFill>
                <a:latin typeface="+mj-ea"/>
                <a:ea typeface="+mj-ea"/>
              </a:rPr>
              <a:t>距离函数</a:t>
            </a:r>
            <a:endParaRPr lang="zh-CN" altLang="en-US" sz="1800" dirty="0">
              <a:solidFill>
                <a:schemeClr val="accent1"/>
              </a:solidFill>
              <a:latin typeface="+mj-ea"/>
              <a:ea typeface="+mj-ea"/>
            </a:endParaRPr>
          </a:p>
        </p:txBody>
      </p:sp>
      <p:grpSp>
        <p:nvGrpSpPr>
          <p:cNvPr id="74" name="组合 73"/>
          <p:cNvGrpSpPr/>
          <p:nvPr/>
        </p:nvGrpSpPr>
        <p:grpSpPr>
          <a:xfrm flipH="1">
            <a:off x="289560" y="960120"/>
            <a:ext cx="233045" cy="247015"/>
            <a:chOff x="2473104" y="2145028"/>
            <a:chExt cx="359165" cy="359165"/>
          </a:xfrm>
          <a:solidFill>
            <a:schemeClr val="bg1"/>
          </a:solidFill>
        </p:grpSpPr>
        <p:sp>
          <p:nvSpPr>
            <p:cNvPr id="75"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6"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77" name="文本框 6"/>
          <p:cNvSpPr txBox="1">
            <a:spLocks noChangeArrowheads="1"/>
          </p:cNvSpPr>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研究方法及数据：</a:t>
            </a:r>
            <a:r>
              <a:rPr lang="zh-CN" altLang="en-US" sz="2000">
                <a:solidFill>
                  <a:schemeClr val="accent1"/>
                </a:solidFill>
                <a:latin typeface="+mj-ea"/>
                <a:ea typeface="+mj-ea"/>
              </a:rPr>
              <a:t>研究方法</a:t>
            </a:r>
            <a:endParaRPr lang="zh-CN" altLang="en-US" sz="2000">
              <a:solidFill>
                <a:schemeClr val="accent1"/>
              </a:solidFill>
              <a:latin typeface="+mj-ea"/>
              <a:ea typeface="+mj-ea"/>
            </a:endParaRPr>
          </a:p>
        </p:txBody>
      </p:sp>
      <p:sp>
        <p:nvSpPr>
          <p:cNvPr id="78" name="矩形 77"/>
          <p:cNvSpPr/>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mc:AlternateContent xmlns:mc="http://schemas.openxmlformats.org/markup-compatibility/2006">
        <mc:Choice xmlns:a14="http://schemas.microsoft.com/office/drawing/2010/main" Requires="a14">
          <p:sp>
            <p:nvSpPr>
              <p:cNvPr id="2" name="文本框 1"/>
              <p:cNvSpPr txBox="1"/>
              <p:nvPr/>
            </p:nvSpPr>
            <p:spPr>
              <a:xfrm>
                <a:off x="481965" y="3086735"/>
                <a:ext cx="8208645" cy="1637665"/>
              </a:xfrm>
              <a:prstGeom prst="rect">
                <a:avLst/>
              </a:prstGeom>
              <a:noFill/>
            </p:spPr>
            <p:txBody>
              <a:bodyPr wrap="square" rtlCol="0">
                <a:spAutoFit/>
              </a:bodyPr>
              <a:lstStyle/>
              <a:p>
                <a:pPr indent="152400">
                  <a:lnSpc>
                    <a:spcPct val="150000"/>
                  </a:lnSpc>
                </a:pPr>
                <a:r>
                  <a:rPr lang="zh-CN" altLang="en-US"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rPr>
                  <a:t>在上述假设的约束下，方向距离函数的函数形式则可表示为：</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52400">
                  <a:lnSpc>
                    <a:spcPct val="150000"/>
                  </a:lnSpc>
                </a:pPr>
                <a14:m>
                  <m:oMathPara xmlns:m="http://schemas.openxmlformats.org/officeDocument/2006/math">
                    <m:oMathParaPr>
                      <m:jc m:val="centerGroup"/>
                    </m:oMathParaPr>
                    <m:oMath xmlns:m="http://schemas.openxmlformats.org/officeDocument/2006/math">
                      <m:acc>
                        <m:accPr>
                          <m:chr m:val="⃑"/>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𝐷</m:t>
                          </m:r>
                        </m:e>
                      </m:acc>
                      <m:d>
                        <m:dPr>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sub>
                          </m:sSub>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𝑚𝑎𝑥</m:t>
                      </m:r>
                      <m:d>
                        <m:dPr>
                          <m:begChr m:val="{"/>
                          <m:endChr m:val="}"/>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𝜃</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𝜃</m:t>
                              </m:r>
                              <m:sSub>
                                <m:sSubPr>
                                  <m:ctrlPr>
                                    <a:rPr lang="zh-CN" altLang="zh-CN" sz="1000" i="1" kern="100" baseline="-250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baseline="-250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𝜃</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sub>
                              </m:sSub>
                            </m:e>
                          </m:d>
                          <m:r>
                            <a:rPr lang="zh-CN"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d>
                            <m:dPr>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e>
                      </m:d>
                    </m:oMath>
                  </m:oMathPara>
                </a14:m>
                <a:endPar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152400">
                  <a:lnSpc>
                    <a:spcPct val="150000"/>
                  </a:lnSpc>
                </a:pPr>
                <a:r>
                  <a:rPr lang="zh-CN" altLang="en-US" sz="1000" kern="100" dirty="0">
                    <a:solidFill>
                      <a:schemeClr val="accent3">
                        <a:lumMod val="75000"/>
                      </a:schemeClr>
                    </a:solidFill>
                    <a:effectLst/>
                    <a:ea typeface="宋体" panose="02010600030101010101" pitchFamily="2" charset="-122"/>
                    <a:cs typeface="Times New Roman" panose="02020603050405020304" pitchFamily="18" charset="0"/>
                  </a:rPr>
                  <a:t>     </a:t>
                </a:r>
                <a:r>
                  <a:rPr lang="zh-CN" altLang="zh-CN" sz="1000" kern="100" dirty="0">
                    <a:solidFill>
                      <a:schemeClr val="accent3">
                        <a:lumMod val="75000"/>
                      </a:schemeClr>
                    </a:solidFill>
                    <a:effectLst/>
                    <a:ea typeface="宋体" panose="02010600030101010101" pitchFamily="2" charset="-122"/>
                    <a:cs typeface="Times New Roman" panose="02020603050405020304" pitchFamily="18" charset="0"/>
                  </a:rPr>
                  <a:t>其中，</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a:solidFill>
                              <a:schemeClr val="accent3">
                                <a:lumMod val="75000"/>
                              </a:schemeClr>
                            </a:solidFill>
                            <a:effectLst/>
                            <a:latin typeface="Cambria Math" panose="02040503050406030204" pitchFamily="18" charset="0"/>
                            <a:ea typeface="Cambria Math" panose="020405030504060302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baseline="-250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zh-CN" altLang="en-US" sz="1000" i="1" kern="100">
                        <a:solidFill>
                          <a:schemeClr val="accent3">
                            <a:lumMod val="75000"/>
                          </a:schemeClr>
                        </a:solidFill>
                        <a:effectLst/>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1000" i="1">
                            <a:solidFill>
                              <a:schemeClr val="accent3">
                                <a:lumMod val="75000"/>
                              </a:schemeClr>
                            </a:solidFill>
                            <a:effectLst/>
                            <a:latin typeface="Cambria Math" panose="02040503050406030204" pitchFamily="18" charset="0"/>
                            <a:ea typeface="Cambria Math" panose="020405030504060302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kern="100" dirty="0">
                    <a:solidFill>
                      <a:schemeClr val="accent3">
                        <a:lumMod val="75000"/>
                      </a:schemeClr>
                    </a:solidFill>
                    <a:effectLst/>
                    <a:ea typeface="宋体" panose="02010600030101010101" pitchFamily="2" charset="-122"/>
                    <a:cs typeface="Times New Roman" panose="02020603050405020304" pitchFamily="18" charset="0"/>
                  </a:rPr>
                  <a:t>为期望产出和非期望产出缩放方向向量，</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𝜃</m:t>
                    </m:r>
                  </m:oMath>
                </a14:m>
                <a:r>
                  <a:rPr lang="zh-CN" altLang="zh-CN" sz="1000" kern="100" dirty="0">
                    <a:solidFill>
                      <a:schemeClr val="accent3">
                        <a:lumMod val="75000"/>
                      </a:schemeClr>
                    </a:solidFill>
                    <a:effectLst/>
                    <a:ea typeface="宋体" panose="02010600030101010101" pitchFamily="2" charset="-122"/>
                    <a:cs typeface="Times New Roman" panose="02020603050405020304" pitchFamily="18" charset="0"/>
                  </a:rPr>
                  <a:t>为无效率值。</a:t>
                </a:r>
                <a:endParaRPr lang="en-US" altLang="zh-CN" sz="1000" kern="100" dirty="0">
                  <a:solidFill>
                    <a:schemeClr val="accent3">
                      <a:lumMod val="75000"/>
                    </a:schemeClr>
                  </a:solidFill>
                  <a:effectLst/>
                  <a:ea typeface="宋体" panose="02010600030101010101" pitchFamily="2" charset="-122"/>
                  <a:cs typeface="Times New Roman" panose="02020603050405020304" pitchFamily="18" charset="0"/>
                </a:endParaRPr>
              </a:p>
              <a:p>
                <a:pPr indent="152400">
                  <a:lnSpc>
                    <a:spcPct val="150000"/>
                  </a:lnSpc>
                  <a:spcBef>
                    <a:spcPts val="160"/>
                  </a:spcBef>
                  <a:spcAft>
                    <a:spcPts val="0"/>
                  </a:spcAft>
                </a:pPr>
                <a:r>
                  <a:rPr lang="zh-CN" altLang="en-US"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除此之外，方向距离函数也满足转换性的特性，即：</a:t>
                </a: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152400" algn="ctr">
                  <a:lnSpc>
                    <a:spcPct val="150000"/>
                  </a:lnSpc>
                  <a:spcBef>
                    <a:spcPts val="160"/>
                  </a:spcBef>
                  <a:spcAft>
                    <a:spcPts val="0"/>
                  </a:spcAft>
                </a:pPr>
                <a14:m>
                  <m:oMath xmlns:m="http://schemas.openxmlformats.org/officeDocument/2006/math">
                    <m:acc>
                      <m:accPr>
                        <m:chr m:val="⃑"/>
                        <m:ctrlPr>
                          <a:rPr lang="zh-CN" altLang="zh-CN" sz="1000" i="1" kern="100">
                            <a:solidFill>
                              <a:schemeClr val="accent3">
                                <a:lumMod val="75000"/>
                              </a:schemeClr>
                            </a:solidFill>
                            <a:latin typeface="Cambria Math" panose="02040503050406030204" pitchFamily="18" charset="0"/>
                          </a:rPr>
                        </m:ctrlPr>
                      </m:accPr>
                      <m:e>
                        <m:r>
                          <a:rPr lang="en-US" altLang="zh-CN" sz="1000" kern="100">
                            <a:solidFill>
                              <a:schemeClr val="accent3">
                                <a:lumMod val="75000"/>
                              </a:schemeClr>
                            </a:solidFill>
                            <a:latin typeface="Cambria Math" panose="02040503050406030204" pitchFamily="18" charset="0"/>
                          </a:rPr>
                          <m:t>𝐷</m:t>
                        </m:r>
                      </m:e>
                    </m:acc>
                    <m:d>
                      <m:dPr>
                        <m:ctrlPr>
                          <a:rPr lang="zh-CN" altLang="zh-CN" sz="1000" i="1" kern="100">
                            <a:solidFill>
                              <a:schemeClr val="accent3">
                                <a:lumMod val="75000"/>
                              </a:schemeClr>
                            </a:solidFill>
                            <a:latin typeface="Cambria Math" panose="02040503050406030204" pitchFamily="18" charset="0"/>
                          </a:rPr>
                        </m:ctrlPr>
                      </m:dPr>
                      <m:e>
                        <m:r>
                          <a:rPr lang="en-US" altLang="zh-CN" sz="1000" kern="100">
                            <a:solidFill>
                              <a:schemeClr val="accent3">
                                <a:lumMod val="75000"/>
                              </a:schemeClr>
                            </a:solidFill>
                            <a:latin typeface="Cambria Math" panose="02040503050406030204" pitchFamily="18" charset="0"/>
                          </a:rPr>
                          <m:t>𝑥</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𝑦</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𝑎</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𝑦</m:t>
                            </m:r>
                          </m:sub>
                        </m:sSub>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𝑏</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𝑎</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𝑦</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e>
                    </m:d>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a:rPr lang="en-US" altLang="zh-CN" sz="1000" kern="100">
                            <a:solidFill>
                              <a:schemeClr val="accent3">
                                <a:lumMod val="75000"/>
                              </a:schemeClr>
                            </a:solidFill>
                            <a:latin typeface="Cambria Math" panose="02040503050406030204" pitchFamily="18" charset="0"/>
                          </a:rPr>
                          <m:t>𝐷</m:t>
                        </m:r>
                      </m:e>
                    </m:acc>
                    <m:d>
                      <m:dPr>
                        <m:ctrlPr>
                          <a:rPr lang="zh-CN" altLang="zh-CN" sz="1000" i="1" kern="100">
                            <a:solidFill>
                              <a:schemeClr val="accent3">
                                <a:lumMod val="75000"/>
                              </a:schemeClr>
                            </a:solidFill>
                            <a:latin typeface="Cambria Math" panose="02040503050406030204" pitchFamily="18" charset="0"/>
                          </a:rPr>
                        </m:ctrlPr>
                      </m:dPr>
                      <m:e>
                        <m:r>
                          <a:rPr lang="en-US" altLang="zh-CN" sz="1000" kern="100">
                            <a:solidFill>
                              <a:schemeClr val="accent3">
                                <a:lumMod val="75000"/>
                              </a:schemeClr>
                            </a:solidFill>
                            <a:latin typeface="Cambria Math" panose="02040503050406030204" pitchFamily="18" charset="0"/>
                          </a:rPr>
                          <m:t>𝑥</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𝑦</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𝑏</m:t>
                        </m:r>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𝑦</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𝑎</m:t>
                    </m:r>
                    <m:r>
                      <a:rPr lang="en-US" altLang="zh-CN" sz="1000" kern="100">
                        <a:solidFill>
                          <a:schemeClr val="accent3">
                            <a:lumMod val="75000"/>
                          </a:schemeClr>
                        </a:solidFill>
                        <a:latin typeface="Cambria Math" panose="02040503050406030204" pitchFamily="18" charset="0"/>
                      </a:rPr>
                      <m:t>   (</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m:t>
                    </m:r>
                  </m:oMath>
                </a14:m>
                <a:r>
                  <a:rPr lang="en-US"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marR="129540" indent="152400">
                  <a:lnSpc>
                    <a:spcPct val="150000"/>
                  </a:lnSpc>
                  <a:spcBef>
                    <a:spcPts val="20"/>
                  </a:spcBef>
                  <a:spcAft>
                    <a:spcPts val="0"/>
                  </a:spcAft>
                  <a:tabLst>
                    <a:tab pos="5858510" algn="l"/>
                  </a:tabLst>
                </a:pPr>
                <a:r>
                  <a:rPr lang="zh-CN" altLang="en-US"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1000" kern="100">
                        <a:solidFill>
                          <a:schemeClr val="accent3">
                            <a:lumMod val="75000"/>
                          </a:schemeClr>
                        </a:solidFill>
                        <a:latin typeface="Cambria Math" panose="02040503050406030204" pitchFamily="18" charset="0"/>
                      </a:rPr>
                      <m:t>𝑎</m:t>
                    </m:r>
                    <m:r>
                      <a:rPr lang="en-US" altLang="zh-CN" sz="1000" kern="100">
                        <a:solidFill>
                          <a:schemeClr val="accent3">
                            <a:lumMod val="75000"/>
                          </a:schemeClr>
                        </a:solidFill>
                        <a:latin typeface="Cambria Math" panose="02040503050406030204" pitchFamily="18" charset="0"/>
                      </a:rPr>
                      <m:t> </m:t>
                    </m:r>
                  </m:oMath>
                </a14:m>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是一个标量。公式</a:t>
                </a:r>
                <a:r>
                  <a:rPr lang="en-US"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(3)</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含义为，若期望产出和非期望产出同时分别增加</a:t>
                </a:r>
                <a14:m>
                  <m:oMath xmlns:m="http://schemas.openxmlformats.org/officeDocument/2006/math">
                    <m:r>
                      <a:rPr lang="en-US" altLang="zh-CN" sz="1000" kern="100">
                        <a:solidFill>
                          <a:schemeClr val="accent3">
                            <a:lumMod val="75000"/>
                          </a:schemeClr>
                        </a:solidFill>
                        <a:latin typeface="Cambria Math" panose="02040503050406030204" pitchFamily="18" charset="0"/>
                      </a:rPr>
                      <m:t>𝑎</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𝑦</m:t>
                        </m:r>
                      </m:sub>
                    </m:sSub>
                    <m:r>
                      <a:rPr lang="en-US" altLang="zh-CN" sz="1000" kern="100">
                        <a:solidFill>
                          <a:schemeClr val="accent3">
                            <a:lumMod val="75000"/>
                          </a:schemeClr>
                        </a:solidFill>
                        <a:latin typeface="Cambria Math" panose="02040503050406030204" pitchFamily="18" charset="0"/>
                      </a:rPr>
                      <m:t> </m:t>
                    </m:r>
                  </m:oMath>
                </a14:m>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和减少</a:t>
                </a:r>
                <a14:m>
                  <m:oMath xmlns:m="http://schemas.openxmlformats.org/officeDocument/2006/math">
                    <m:r>
                      <a:rPr lang="en-US" altLang="zh-CN" sz="1000" kern="100">
                        <a:solidFill>
                          <a:schemeClr val="accent3">
                            <a:lumMod val="75000"/>
                          </a:schemeClr>
                        </a:solidFill>
                        <a:latin typeface="Cambria Math" panose="02040503050406030204" pitchFamily="18" charset="0"/>
                      </a:rPr>
                      <m:t>𝑎</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oMath>
                </a14:m>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则方向距离函数的数值则会减少</a:t>
                </a:r>
                <a14:m>
                  <m:oMath xmlns:m="http://schemas.openxmlformats.org/officeDocument/2006/math">
                    <m:r>
                      <a:rPr lang="en-US" altLang="zh-CN" sz="1000" kern="100">
                        <a:solidFill>
                          <a:schemeClr val="accent3">
                            <a:lumMod val="75000"/>
                          </a:schemeClr>
                        </a:solidFill>
                        <a:latin typeface="Cambria Math" panose="02040503050406030204" pitchFamily="18" charset="0"/>
                      </a:rPr>
                      <m:t>𝑎</m:t>
                    </m:r>
                  </m:oMath>
                </a14:m>
                <a:r>
                  <a:rPr lang="zh-CN" altLang="en-US" sz="1000" kern="100">
                    <a:solidFill>
                      <a:schemeClr val="accent3">
                        <a:lumMod val="75000"/>
                      </a:schemeClr>
                    </a:solidFill>
                    <a:latin typeface="Cambria Math" panose="02040503050406030204" pitchFamily="18" charset="0"/>
                  </a:rPr>
                  <a:t>。</a:t>
                </a:r>
                <a:endParaRPr kumimoji="1" lang="zh-CN" altLang="en-US" sz="1000" kern="100" dirty="0">
                  <a:solidFill>
                    <a:schemeClr val="accent3">
                      <a:lumMod val="75000"/>
                    </a:schemeClr>
                  </a:solidFill>
                  <a:latin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481965" y="3086735"/>
                <a:ext cx="8208645" cy="16376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4436110" y="1323340"/>
                <a:ext cx="4568825" cy="1476375"/>
              </a:xfrm>
              <a:prstGeom prst="rect">
                <a:avLst/>
              </a:prstGeom>
              <a:noFill/>
            </p:spPr>
            <p:txBody>
              <a:bodyPr wrap="square" rtlCol="0" anchor="t">
                <a:spAutoFit/>
              </a:bodyPr>
              <a:p>
                <a:pPr marL="171450" lvl="0" indent="-171450">
                  <a:lnSpc>
                    <a:spcPct val="150000"/>
                  </a:lnSpc>
                  <a:buFont typeface="Wingdings" panose="05000000000000000000" charset="0"/>
                  <a:buChar char="ü"/>
                </a:pP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环境生产技术还满足弱可处置性和零结合性，其数学表达形式如下：</a:t>
                </a:r>
                <a:endPar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buFont typeface="Wingdings" panose="05000000000000000000" charset="0"/>
                  <a:buNone/>
                </a:pPr>
                <a:r>
                  <a:rPr lang="en-US" altLang="zh-CN" sz="1000" b="1" kern="100" dirty="0">
                    <a:solidFill>
                      <a:schemeClr val="accent3">
                        <a:lumMod val="75000"/>
                      </a:schemeClr>
                    </a:solidFill>
                    <a:effectLst/>
                    <a:latin typeface="宋体" panose="02010600030101010101" pitchFamily="2" charset="-122"/>
                    <a:ea typeface="宋体" panose="02010600030101010101" pitchFamily="2" charset="-122"/>
                    <a:cs typeface="Times New Roman" panose="02020603050405020304" pitchFamily="18" charset="0"/>
                    <a:sym typeface="+mn-ea"/>
                  </a:rPr>
                  <a:t>(</a:t>
                </a:r>
                <a:r>
                  <a:rPr lang="en-US" altLang="zh-CN" sz="1000" b="1" kern="100" dirty="0" err="1">
                    <a:solidFill>
                      <a:schemeClr val="accent3">
                        <a:lumMod val="75000"/>
                      </a:schemeClr>
                    </a:solidFill>
                    <a:effectLst/>
                    <a:latin typeface="宋体" panose="02010600030101010101" pitchFamily="2" charset="-122"/>
                    <a:ea typeface="宋体" panose="02010600030101010101" pitchFamily="2" charset="-122"/>
                    <a:cs typeface="Times New Roman" panose="02020603050405020304" pitchFamily="18" charset="0"/>
                    <a:sym typeface="+mn-ea"/>
                  </a:rPr>
                  <a:t>i</a:t>
                </a:r>
                <a:r>
                  <a:rPr lang="en-US" altLang="zh-CN" sz="1000" b="1" kern="100" dirty="0">
                    <a:solidFill>
                      <a:schemeClr val="accent3">
                        <a:lumMod val="75000"/>
                      </a:schemeClr>
                    </a:solidFill>
                    <a:effectLst/>
                    <a:latin typeface="宋体" panose="02010600030101010101" pitchFamily="2" charset="-122"/>
                    <a:ea typeface="宋体" panose="02010600030101010101" pitchFamily="2" charset="-122"/>
                    <a:cs typeface="Times New Roman" panose="02020603050405020304" pitchFamily="18" charset="0"/>
                    <a:sym typeface="+mn-ea"/>
                  </a:rPr>
                  <a:t>)</a:t>
                </a:r>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若</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𝒚</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𝒃</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𝑷</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且</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𝟎</m:t>
                    </m:r>
                    <m:r>
                      <a:rPr lang="zh-CN"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𝜽</m:t>
                    </m:r>
                    <m:r>
                      <a:rPr lang="zh-CN"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𝟏</m:t>
                    </m:r>
                  </m:oMath>
                </a14:m>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，则</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𝜽</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𝒚</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𝜽</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𝒃</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𝑷</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457200">
                  <a:lnSpc>
                    <a:spcPct val="150000"/>
                  </a:lnSpc>
                  <a:buFont typeface="Wingdings" panose="05000000000000000000" charset="0"/>
                  <a:buNone/>
                </a:pPr>
                <a:r>
                  <a:rPr lang="en-US" altLang="zh-CN" sz="1000" b="1" kern="100" dirty="0">
                    <a:solidFill>
                      <a:schemeClr val="accent3">
                        <a:lumMod val="75000"/>
                      </a:schemeClr>
                    </a:solidFill>
                    <a:effectLst/>
                    <a:latin typeface="宋体" panose="02010600030101010101" pitchFamily="2" charset="-122"/>
                    <a:ea typeface="宋体" panose="02010600030101010101" pitchFamily="2" charset="-122"/>
                    <a:cs typeface="Times New Roman" panose="02020603050405020304" pitchFamily="18" charset="0"/>
                    <a:sym typeface="+mn-ea"/>
                  </a:rPr>
                  <a:t>(ii)</a:t>
                </a:r>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若</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𝒚</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𝒃</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𝑷</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𝒙</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且</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𝒃</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，则</a:t>
                </a:r>
                <a14:m>
                  <m:oMath xmlns:m="http://schemas.openxmlformats.org/officeDocument/2006/math">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𝒚</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b="1"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𝟎</m:t>
                    </m:r>
                  </m:oMath>
                </a14:m>
                <a:endPar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endParaRPr>
              </a:p>
              <a:p>
                <a:pPr indent="0">
                  <a:lnSpc>
                    <a:spcPct val="150000"/>
                  </a:lnSpc>
                  <a:buFont typeface="Wingdings" panose="05000000000000000000" charset="0"/>
                  <a:buNone/>
                </a:pPr>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弱可处置性假设</a:t>
                </a:r>
                <a:r>
                  <a:rPr lang="en-US"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000" b="1" kern="100" dirty="0" err="1">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表示，减少非期望产出（如二氧化碳）需要以减少期望产出（如</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GDP</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）为机会成本。</a:t>
                </a:r>
                <a:endParaRPr lang="en-US"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0">
                  <a:lnSpc>
                    <a:spcPct val="150000"/>
                  </a:lnSpc>
                  <a:buFont typeface="Wingdings" panose="05000000000000000000" charset="0"/>
                  <a:buNone/>
                </a:pPr>
                <a:r>
                  <a:rPr lang="zh-CN"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零结合性假设</a:t>
                </a:r>
                <a:r>
                  <a:rPr lang="en-US" altLang="zh-CN" sz="1000" b="1"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(ii)</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则表明，若不停止对期望产出的生产，非期望产出将不可避免。</a:t>
                </a:r>
                <a:endPar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4436110" y="1323340"/>
                <a:ext cx="4568825" cy="1476375"/>
              </a:xfrm>
              <a:prstGeom prst="rect">
                <a:avLst/>
              </a:prstGeom>
              <a:blipFill rotWithShape="1">
                <a:blip r:embed="rId2"/>
                <a:stretch>
                  <a:fillRect r="-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32410" y="1323340"/>
                <a:ext cx="4377690" cy="1470025"/>
              </a:xfrm>
              <a:prstGeom prst="rect">
                <a:avLst/>
              </a:prstGeom>
              <a:noFill/>
            </p:spPr>
            <p:txBody>
              <a:bodyPr wrap="square" rtlCol="0" anchor="t">
                <a:spAutoFit/>
              </a:bodyPr>
              <a:p>
                <a:pPr marL="171450" indent="-171450">
                  <a:lnSpc>
                    <a:spcPct val="150000"/>
                  </a:lnSpc>
                  <a:buFont typeface="Wingdings" panose="05000000000000000000" charset="0"/>
                  <a:buChar char="ü"/>
                </a:pP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假设每一个决策单元都使用</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种投入要素</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𝑁</m:t>
                            </m:r>
                          </m:sub>
                        </m:sSub>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𝑁</m:t>
                        </m:r>
                      </m:sub>
                      <m:sup>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marL="171450" indent="-171450">
                  <a:lnSpc>
                    <a:spcPct val="150000"/>
                  </a:lnSpc>
                  <a:buFont typeface="Wingdings" panose="05000000000000000000" charset="0"/>
                  <a:buChar char="ü"/>
                </a:pP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生产</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M</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种期望产出</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𝑀</m:t>
                            </m:r>
                          </m:sub>
                        </m:sSub>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𝑀</m:t>
                        </m:r>
                      </m:sub>
                      <m:sup>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up>
                    </m:sSubSup>
                  </m:oMath>
                </a14:m>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S</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种非期望产出</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𝑆</m:t>
                            </m:r>
                          </m:sub>
                        </m:sSub>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𝑠</m:t>
                        </m:r>
                      </m:sub>
                      <m:sup>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sup>
                    </m:sSubSup>
                  </m:oMath>
                </a14:m>
                <a:endPar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p>
                <a:pPr marL="171450" indent="-171450">
                  <a:lnSpc>
                    <a:spcPct val="150000"/>
                  </a:lnSpc>
                  <a:buFont typeface="Wingdings" panose="05000000000000000000" charset="0"/>
                  <a:buChar char="ü"/>
                </a:pP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则多产出的环境生产技术为：</a:t>
                </a:r>
                <a:r>
                  <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	</a:t>
                </a:r>
                <a:endParaRPr lang="en-US"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50000"/>
                  </a:lnSpc>
                </a:pPr>
                <a14:m>
                  <m:oMathPara xmlns:m="http://schemas.openxmlformats.org/officeDocument/2006/math">
                    <m:oMathParaPr>
                      <m:jc m:val="centerGroup"/>
                    </m:oMathParaPr>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𝑏</m:t>
                              </m:r>
                            </m:e>
                          </m:d>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r>
                            <a:rPr lang="zh-CN"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可以生产</m:t>
                          </m:r>
                          <m:d>
                            <m:dPr>
                              <m:ctrlP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ctrlPr>
                            </m:dPr>
                            <m:e>
                              <m:r>
                                <m:rPr>
                                  <m:sty m:val="p"/>
                                </m:rPr>
                                <a:rPr lang="en-US"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b</m:t>
                              </m:r>
                            </m:e>
                          </m:d>
                        </m:e>
                      </m:d>
                    </m:oMath>
                  </m:oMathPara>
                </a14:m>
                <a:endParaRPr lang="en-US"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endParaRPr>
              </a:p>
              <a:p>
                <a:pPr indent="0">
                  <a:lnSpc>
                    <a:spcPct val="150000"/>
                  </a:lnSpc>
                </a:pPr>
                <a:r>
                  <a:rPr lang="en-US" altLang="zh-CN" sz="1000"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sym typeface="+mn-ea"/>
                  </a:rPr>
                  <a:t>       </a:t>
                </a:r>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其中，</a:t>
                </a:r>
                <a14:m>
                  <m:oMath xmlns:m="http://schemas.openxmlformats.org/officeDocument/2006/math">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𝑃</m:t>
                    </m:r>
                    <m:d>
                      <m:dPr>
                        <m:ctrlPr>
                          <a:rPr lang="zh-CN" altLang="zh-CN" sz="1000" i="1" kern="100">
                            <a:solidFill>
                              <a:schemeClr val="accent3">
                                <a:lumMod val="75000"/>
                              </a:schemeClr>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kern="100">
                            <a:solidFill>
                              <a:schemeClr val="accent3">
                                <a:lumMod val="75000"/>
                              </a:schemeClr>
                            </a:solidFill>
                            <a:effectLst/>
                            <a:latin typeface="Cambria Math" panose="02040503050406030204" pitchFamily="18" charset="0"/>
                            <a:ea typeface="宋体" panose="02010600030101010101" pitchFamily="2" charset="-122"/>
                            <a:cs typeface="Times New Roman" panose="02020603050405020304" pitchFamily="18" charset="0"/>
                          </a:rPr>
                          <m:t>𝑥</m:t>
                        </m:r>
                      </m:e>
                    </m:d>
                  </m:oMath>
                </a14:m>
                <a:r>
                  <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rPr>
                  <a:t>被认为是满足生产理论公理。</a:t>
                </a:r>
                <a:endParaRPr lang="zh-CN" altLang="zh-CN" sz="1000" kern="100" dirty="0">
                  <a:solidFill>
                    <a:schemeClr val="accent3">
                      <a:lumMod val="75000"/>
                    </a:schemeClr>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232410" y="1323340"/>
                <a:ext cx="4377690" cy="1470025"/>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6" name="直接连接符 5"/>
          <p:cNvCxnSpPr/>
          <p:nvPr/>
        </p:nvCxnSpPr>
        <p:spPr>
          <a:xfrm>
            <a:off x="250825" y="2972435"/>
            <a:ext cx="85236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6"/>
          <p:cNvSpPr txBox="1">
            <a:spLocks noChangeArrowheads="1"/>
          </p:cNvSpPr>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研究方法及过程：研究</a:t>
            </a:r>
            <a:r>
              <a:rPr lang="zh-CN" altLang="en-US" sz="2000">
                <a:solidFill>
                  <a:schemeClr val="accent1"/>
                </a:solidFill>
                <a:latin typeface="+mj-ea"/>
                <a:ea typeface="+mj-ea"/>
              </a:rPr>
              <a:t>方法</a:t>
            </a:r>
            <a:endParaRPr lang="zh-CN" altLang="en-US" sz="2000">
              <a:solidFill>
                <a:schemeClr val="accent1"/>
              </a:solidFill>
              <a:latin typeface="+mj-ea"/>
              <a:ea typeface="+mj-ea"/>
            </a:endParaRPr>
          </a:p>
        </p:txBody>
      </p:sp>
      <p:sp>
        <p:nvSpPr>
          <p:cNvPr id="78" name="矩形 77"/>
          <p:cNvSpPr/>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mc:AlternateContent xmlns:mc="http://schemas.openxmlformats.org/markup-compatibility/2006">
        <mc:Choice xmlns:a14="http://schemas.microsoft.com/office/drawing/2010/main" Requires="a14">
          <p:sp>
            <p:nvSpPr>
              <p:cNvPr id="2" name="文本框 1"/>
              <p:cNvSpPr txBox="1"/>
              <p:nvPr/>
            </p:nvSpPr>
            <p:spPr>
              <a:xfrm>
                <a:off x="241935" y="2293620"/>
                <a:ext cx="8652510" cy="2809875"/>
              </a:xfrm>
              <a:prstGeom prst="rect">
                <a:avLst/>
              </a:prstGeom>
              <a:noFill/>
            </p:spPr>
            <p:txBody>
              <a:bodyPr wrap="square" rtlCol="0">
                <a:spAutoFit/>
              </a:bodyPr>
              <a:lstStyle/>
              <a:p>
                <a:pPr marL="171450" indent="-171450">
                  <a:lnSpc>
                    <a:spcPct val="16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一般情况下方向距离函数的参数形式有两种：</a:t>
                </a:r>
                <a:r>
                  <a:rPr lang="zh-CN" altLang="zh-CN" sz="1000" b="1"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超越对数函数</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和</a:t>
                </a:r>
                <a:r>
                  <a:rPr lang="zh-CN" altLang="zh-CN" sz="1000" b="1"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二次型函数</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。由于超越对数函数不满足方向距离函数的转换性，故采用二次型函数形式：</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gn="ctr">
                  <a:lnSpc>
                    <a:spcPct val="169000"/>
                  </a:lnSpc>
                  <a:buFont typeface="Wingdings" panose="05000000000000000000" charset="0"/>
                  <a:buNone/>
                </a:pPr>
                <a14:m>
                  <m:oMath xmlns:m="http://schemas.openxmlformats.org/officeDocument/2006/math">
                    <m:acc>
                      <m:accPr>
                        <m:chr m:val="⃑"/>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acc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D</m:t>
                        </m:r>
                      </m:e>
                    </m:acc>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g</m:t>
                        </m:r>
                      </m:e>
                    </m:d>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0</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γ</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den>
                        </m:f>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den>
                                </m:f>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Sup>
                                  <m:sSubSup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Sup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den>
                                </m:f>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γ</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Sup>
                                  <m:sSubSup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Sup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δ</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η</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μ</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e>
                                    </m:nary>
                                  </m:e>
                                </m:nary>
                              </m:e>
                            </m:nary>
                          </m:e>
                        </m:nary>
                      </m:e>
                    </m:nary>
                  </m:oMath>
                </a14:m>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a:t>
                </a:r>
                <a:r>
                  <a:rPr lang="en-US"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6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如</a:t>
                </a:r>
                <a:r>
                  <a:rPr lang="zh-CN" altLang="en-US"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所示，本文选取了</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3</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种投入要素（劳动力</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、资本</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和能源消耗量</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1</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种期望产出（地区生产总值</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）和</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1</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种非期望产出（</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CO2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排放量</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）。在公式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(1)</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的基础上，令</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g</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，以</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CO2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排放量</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为被解释变量（</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），则可以推导出：</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69000"/>
                  </a:lnSpc>
                  <a:buFont typeface="Wingdings" panose="05000000000000000000" charset="0"/>
                  <a:buNone/>
                </a:pPr>
                <a14:m>
                  <m:oMathPara xmlns:m="http://schemas.openxmlformats.org/officeDocument/2006/math">
                    <m:oMathParaPr>
                      <m:jc m:val="centerGroup"/>
                    </m:oMathParaPr>
                    <m:oMath xmlns:m="http://schemas.openxmlformats.org/officeDocument/2006/math">
                      <m:acc>
                        <m:accPr>
                          <m:chr m:val="⃑"/>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acc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D</m:t>
                          </m:r>
                        </m:e>
                      </m:acc>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0</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e>
                      </m:d>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v</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6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进一步地，根据公式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，我们可以将公式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(3)</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进行推导并化简为：</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69000"/>
                  </a:lnSpc>
                  <a:buFont typeface="Wingdings" panose="05000000000000000000" charset="0"/>
                  <a:buNone/>
                </a:pPr>
                <a14:m>
                  <m:oMathPara xmlns:m="http://schemas.openxmlformats.org/officeDocument/2006/math">
                    <m:oMathParaPr>
                      <m:jc m:val="centerGroup"/>
                    </m:oMathParaPr>
                    <m:oMath xmlns:m="http://schemas.openxmlformats.org/officeDocument/2006/math">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α</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den>
                          </m:f>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a</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den>
                                  </m:f>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p>
                                    <m:sSup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pPr>
                                    <m:e>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e>
                                      </m:d>
                                    </m:e>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δ</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v</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e>
                                  </m:nary>
                                </m:e>
                              </m:nary>
                            </m:e>
                          </m:nary>
                        </m:e>
                      </m:nary>
                    </m:oMath>
                  </m:oMathPara>
                </a14:m>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69000"/>
                  </a:lnSpc>
                  <a:buFont typeface="Wingdings" panose="05000000000000000000" charset="0"/>
                  <a:buNone/>
                </a:pPr>
                <a14:m>
                  <m:oMathPara xmlns:m="http://schemas.openxmlformats.org/officeDocument/2006/math">
                    <m:oMathParaPr>
                      <m:jc m:val="centerGroup"/>
                    </m:oMathParaPr>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γ</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γ</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μ</m:t>
                          </m:r>
                        </m:e>
                        <m: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δ</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η</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n</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oMath>
                  </m:oMathPara>
                </a14:m>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6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其中</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D</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b</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g</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a:t>，表示决策单元的无效率值。</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241935" y="2293620"/>
                <a:ext cx="8652510" cy="2809875"/>
              </a:xfrm>
              <a:prstGeom prst="rect">
                <a:avLst/>
              </a:prstGeom>
              <a:blipFill rotWithShape="1">
                <a:blip r:embed="rId1"/>
                <a:stretch>
                  <a:fillRect/>
                </a:stretch>
              </a:blipFill>
            </p:spPr>
            <p:txBody>
              <a:bodyPr/>
              <a:lstStyle/>
              <a:p>
                <a:r>
                  <a:rPr lang="zh-CN" altLang="en-US">
                    <a:noFill/>
                  </a:rPr>
                  <a:t> </a:t>
                </a:r>
              </a:p>
            </p:txBody>
          </p:sp>
        </mc:Fallback>
      </mc:AlternateContent>
      <p:sp>
        <p:nvSpPr>
          <p:cNvPr id="5" name="矩形 4"/>
          <p:cNvSpPr/>
          <p:nvPr/>
        </p:nvSpPr>
        <p:spPr>
          <a:xfrm>
            <a:off x="644715" y="857287"/>
            <a:ext cx="1701579" cy="369332"/>
          </a:xfrm>
          <a:prstGeom prst="rect">
            <a:avLst/>
          </a:prstGeom>
        </p:spPr>
        <p:txBody>
          <a:bodyPr wrap="square">
            <a:spAutoFit/>
          </a:bodyPr>
          <a:lstStyle/>
          <a:p>
            <a:pPr algn="ctr"/>
            <a:r>
              <a:rPr lang="zh-CN" altLang="en-US" sz="1800" dirty="0">
                <a:solidFill>
                  <a:schemeClr val="accent1"/>
                </a:solidFill>
                <a:latin typeface="+mj-ea"/>
                <a:ea typeface="+mj-ea"/>
              </a:rPr>
              <a:t>随机前沿分析</a:t>
            </a:r>
            <a:endParaRPr lang="zh-CN" altLang="en-US" sz="1800" dirty="0">
              <a:solidFill>
                <a:schemeClr val="accent1"/>
              </a:solidFill>
              <a:latin typeface="+mj-ea"/>
              <a:ea typeface="+mj-ea"/>
            </a:endParaRPr>
          </a:p>
        </p:txBody>
      </p:sp>
      <p:grpSp>
        <p:nvGrpSpPr>
          <p:cNvPr id="6" name="组合 5"/>
          <p:cNvGrpSpPr/>
          <p:nvPr/>
        </p:nvGrpSpPr>
        <p:grpSpPr>
          <a:xfrm>
            <a:off x="241935" y="878205"/>
            <a:ext cx="313055" cy="313055"/>
            <a:chOff x="5394312" y="2141343"/>
            <a:chExt cx="359165" cy="359165"/>
          </a:xfrm>
          <a:solidFill>
            <a:schemeClr val="bg1"/>
          </a:solidFill>
        </p:grpSpPr>
        <p:sp>
          <p:nvSpPr>
            <p:cNvPr id="7"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mc:AlternateContent xmlns:mc="http://schemas.openxmlformats.org/markup-compatibility/2006">
        <mc:Choice xmlns:a14="http://schemas.microsoft.com/office/drawing/2010/main" Requires="a14">
          <p:sp>
            <p:nvSpPr>
              <p:cNvPr id="11" name="文本框 10"/>
              <p:cNvSpPr txBox="1"/>
              <p:nvPr/>
            </p:nvSpPr>
            <p:spPr>
              <a:xfrm>
                <a:off x="241935" y="1292860"/>
                <a:ext cx="8515985" cy="1001395"/>
              </a:xfrm>
              <a:prstGeom prst="rect">
                <a:avLst/>
              </a:prstGeom>
              <a:noFill/>
            </p:spPr>
            <p:txBody>
              <a:bodyPr wrap="square" rtlCol="0" anchor="t">
                <a:spAutoFit/>
              </a:bodyPr>
              <a:p>
                <a:pPr marL="171450" indent="-171450">
                  <a:lnSpc>
                    <a:spcPct val="148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随机前沿分析的一般表达形式为：</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		</a:t>
                </a:r>
                <a:endPar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48000"/>
                  </a:lnSpc>
                  <a:buFont typeface="Wingdings" panose="05000000000000000000" charset="0"/>
                  <a:buNone/>
                </a:pPr>
                <a14:m>
                  <m:oMathPara xmlns:m="http://schemas.openxmlformats.org/officeDocument/2006/math">
                    <m:oMathParaPr>
                      <m:jc m:val="centerGroup"/>
                    </m:oMathParaPr>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βx</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v</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oMath>
                  </m:oMathPara>
                </a14:m>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48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其中 </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x</m:t>
                    </m:r>
                  </m:oMath>
                </a14:m>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 </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和 </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y</m:t>
                    </m:r>
                  </m:oMath>
                </a14:m>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 </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分别为投入和产出，</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v</m:t>
                    </m:r>
                  </m:oMath>
                </a14:m>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 </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为随机误差项，</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是无效率值。随机前沿分析的本质就是将</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v</m:t>
                    </m:r>
                  </m:oMath>
                </a14:m>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 </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纳入至回归方程中以区分</a:t>
                </a:r>
                <a14:m>
                  <m:oMath xmlns:m="http://schemas.openxmlformats.org/officeDocument/2006/math">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u</m:t>
                    </m:r>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a:t>
                </a:r>
                <a:endPar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48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但在一般情况下，认为观测值在生产前沿上时，无效率值为</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0</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241935" y="1292860"/>
                <a:ext cx="8515985" cy="100139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44715" y="857287"/>
            <a:ext cx="1701579" cy="369332"/>
          </a:xfrm>
          <a:prstGeom prst="rect">
            <a:avLst/>
          </a:prstGeom>
        </p:spPr>
        <p:txBody>
          <a:bodyPr wrap="square">
            <a:spAutoFit/>
          </a:bodyPr>
          <a:lstStyle/>
          <a:p>
            <a:pPr algn="ctr"/>
            <a:r>
              <a:rPr lang="zh-CN" altLang="en-US" sz="1800" dirty="0">
                <a:solidFill>
                  <a:schemeClr val="accent1"/>
                </a:solidFill>
                <a:latin typeface="+mj-ea"/>
                <a:ea typeface="+mj-ea"/>
              </a:rPr>
              <a:t>随机前沿分析</a:t>
            </a:r>
            <a:endParaRPr lang="zh-CN" altLang="en-US" sz="1800" dirty="0">
              <a:solidFill>
                <a:schemeClr val="accent1"/>
              </a:solidFill>
              <a:latin typeface="+mj-ea"/>
              <a:ea typeface="+mj-ea"/>
            </a:endParaRPr>
          </a:p>
        </p:txBody>
      </p:sp>
      <p:grpSp>
        <p:nvGrpSpPr>
          <p:cNvPr id="6" name="组合 5"/>
          <p:cNvGrpSpPr/>
          <p:nvPr/>
        </p:nvGrpSpPr>
        <p:grpSpPr>
          <a:xfrm>
            <a:off x="241935" y="878205"/>
            <a:ext cx="313055" cy="313055"/>
            <a:chOff x="5394312" y="2141343"/>
            <a:chExt cx="359165" cy="359165"/>
          </a:xfrm>
          <a:solidFill>
            <a:schemeClr val="bg1"/>
          </a:solidFill>
        </p:grpSpPr>
        <p:sp>
          <p:nvSpPr>
            <p:cNvPr id="7"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solidFill>
                <a:schemeClr val="accent1"/>
              </a:solid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mc:AlternateContent xmlns:mc="http://schemas.openxmlformats.org/markup-compatibility/2006">
        <mc:Choice xmlns:a14="http://schemas.microsoft.com/office/drawing/2010/main" Requires="a14">
          <p:sp>
            <p:nvSpPr>
              <p:cNvPr id="12" name="文本框 11"/>
              <p:cNvSpPr txBox="1"/>
              <p:nvPr/>
            </p:nvSpPr>
            <p:spPr>
              <a:xfrm>
                <a:off x="554990" y="1548765"/>
                <a:ext cx="8235950" cy="2954655"/>
              </a:xfrm>
              <a:prstGeom prst="rect">
                <a:avLst/>
              </a:prstGeom>
              <a:noFill/>
            </p:spPr>
            <p:txBody>
              <a:bodyPr wrap="square" rtlCol="0" anchor="t">
                <a:spAutoFit/>
              </a:bodyPr>
              <a:p>
                <a:pPr marL="171450" indent="-171450">
                  <a:lnSpc>
                    <a:spcPct val="18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利用以下公式对</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CO2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影子价格进行估算：</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89000"/>
                  </a:lnSpc>
                  <a:buFont typeface="Wingdings" panose="05000000000000000000" charset="0"/>
                  <a:buNone/>
                </a:pPr>
                <a14:m>
                  <m:oMathPara xmlns:m="http://schemas.openxmlformats.org/officeDocument/2006/math">
                    <m:oMathParaPr>
                      <m:jc m:val="centerGroup"/>
                    </m:oMathParaPr>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q</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i</m:t>
                          </m:r>
                        </m:sub>
                      </m:sSub>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p</m:t>
                          </m:r>
                        </m:e>
                        <m:sub>
                          <m:r>
                            <m:rPr>
                              <m:sty m:val="p"/>
                            </m:rP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i</m:t>
                          </m:r>
                        </m:sub>
                      </m:sSub>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100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accPr>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e>
                          </m:acc>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𝑏</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𝑔</m:t>
                              </m:r>
                            </m:e>
                          </m:d>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num>
                        <m:den>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accPr>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e>
                          </m:acc>
                          <m:d>
                            <m:d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d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𝑥</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𝑦</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𝑏</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𝑔</m:t>
                              </m:r>
                            </m:e>
                          </m:d>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den>
                      </m:f>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1000" b="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4</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oMath>
                  </m:oMathPara>
                </a14:m>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8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其中</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为</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CO2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的影子价格，</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为期望产出的价格，但由于本研究选取的期望产出为地区生产总值，所以</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。这意味着在其他条件不变的情况下，额外降低一单位二氧化碳排放需要的机会成本为</a:t>
                </a:r>
                <a14:m>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oMath>
                </a14:m>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endParaRPr>
              </a:p>
              <a:p>
                <a:pPr indent="0">
                  <a:lnSpc>
                    <a:spcPct val="189000"/>
                  </a:lnSpc>
                  <a:buFont typeface="Wingdings" panose="05000000000000000000" charset="0"/>
                  <a:buNone/>
                </a:pPr>
                <a:endPar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marL="171450" indent="-171450">
                  <a:lnSpc>
                    <a:spcPct val="189000"/>
                  </a:lnSpc>
                  <a:buFont typeface="Wingdings" panose="05000000000000000000" charset="0"/>
                  <a:buChar char="ü"/>
                </a:pP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通过公式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分别对期望产出和非期望产出求导，并将结果代入至公式</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(4)</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中，可以得到估算</a:t>
                </a:r>
                <a:r>
                  <a:rPr lang="en-US"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CO2</a:t>
                </a:r>
                <a:r>
                  <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sym typeface="+mn-ea"/>
                  </a:rPr>
                  <a:t>影子价格的具体形式：</a:t>
                </a:r>
                <a:endParaRPr lang="zh-CN" altLang="zh-CN" sz="1000" kern="100" dirty="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a:p>
                <a:pPr indent="0">
                  <a:lnSpc>
                    <a:spcPct val="189000"/>
                  </a:lnSpc>
                  <a:buFont typeface="Wingdings" panose="05000000000000000000" charset="0"/>
                  <a:buNone/>
                </a:pPr>
                <a14:m>
                  <m:oMathPara xmlns:m="http://schemas.openxmlformats.org/officeDocument/2006/math">
                    <m:oMathParaPr>
                      <m:jc m:val="centerGroup"/>
                    </m:oMathParaPr>
                    <m:oMath xmlns:m="http://schemas.openxmlformats.org/officeDocument/2006/math">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𝑞</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𝑖</m:t>
                          </m:r>
                        </m:sub>
                      </m:sSub>
                      <m:f>
                        <m:f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𝛾</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𝛾</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𝜂</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𝜇</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e>
                          </m:nary>
                        </m:num>
                        <m:den>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𝛽</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𝛽</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𝑦</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nary>
                            <m:naryPr>
                              <m:chr m:val="∑"/>
                              <m:limLoc m:val="subSup"/>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naryPr>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3</m:t>
                              </m:r>
                            </m:sup>
                            <m:e>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𝛿</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𝑛</m:t>
                                  </m:r>
                                </m:sub>
                              </m:s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𝜇</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11</m:t>
                                  </m:r>
                                </m:sub>
                              </m:sSub>
                              <m:sSub>
                                <m:sSubPr>
                                  <m:ctrlPr>
                                    <a:rPr lang="zh-CN" altLang="zh-CN" sz="1000" i="1"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𝑏</m:t>
                                  </m:r>
                                </m:e>
                                <m:sub>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1</m:t>
                                  </m:r>
                                </m:sub>
                              </m:sSub>
                            </m:e>
                          </m:nary>
                        </m:den>
                      </m:f>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     (</m:t>
                      </m:r>
                      <m:r>
                        <a:rPr lang="en-US" altLang="zh-CN" sz="1000" b="0" i="0" kern="100" smtClean="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5</m:t>
                      </m:r>
                      <m:r>
                        <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rPr>
                        <m:t>)</m:t>
                      </m:r>
                    </m:oMath>
                  </m:oMathPara>
                </a14:m>
                <a:endParaRPr lang="en-US" altLang="zh-CN" sz="1000" kern="100">
                  <a:solidFill>
                    <a:schemeClr val="accent3">
                      <a:lumMod val="75000"/>
                    </a:schemeClr>
                  </a:solidFill>
                  <a:latin typeface="Cambria Math" panose="02040503050406030204" pitchFamily="18" charset="0"/>
                  <a:ea typeface="宋体" panose="02010600030101010101" pitchFamily="2" charset="-122"/>
                  <a:cs typeface="Times New Roman" panose="020206030504050203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554990" y="1548765"/>
                <a:ext cx="8235950" cy="2954655"/>
              </a:xfrm>
              <a:prstGeom prst="rect">
                <a:avLst/>
              </a:prstGeom>
              <a:blipFill rotWithShape="1">
                <a:blip r:embed="rId1"/>
                <a:stretch>
                  <a:fillRect/>
                </a:stretch>
              </a:blipFill>
            </p:spPr>
            <p:txBody>
              <a:bodyPr/>
              <a:lstStyle/>
              <a:p>
                <a:r>
                  <a:rPr lang="zh-CN" altLang="en-US">
                    <a:noFill/>
                  </a:rPr>
                  <a:t> </a:t>
                </a:r>
              </a:p>
            </p:txBody>
          </p:sp>
        </mc:Fallback>
      </mc:AlternateContent>
      <p:sp>
        <p:nvSpPr>
          <p:cNvPr id="3" name="文本框 6"/>
          <p:cNvSpPr txBox="1">
            <a:spLocks noChangeArrowheads="1"/>
          </p:cNvSpPr>
          <p:nvPr>
            <p:custDataLst>
              <p:tags r:id="rId2"/>
            </p:custDataLst>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研究方法及过程：研究</a:t>
            </a:r>
            <a:r>
              <a:rPr lang="zh-CN" altLang="en-US" sz="2000">
                <a:solidFill>
                  <a:schemeClr val="accent1"/>
                </a:solidFill>
                <a:latin typeface="+mj-ea"/>
                <a:ea typeface="+mj-ea"/>
              </a:rPr>
              <a:t>方法</a:t>
            </a:r>
            <a:endParaRPr lang="zh-CN" altLang="en-US" sz="2000">
              <a:solidFill>
                <a:schemeClr val="accent1"/>
              </a:solidFill>
              <a:latin typeface="+mj-ea"/>
              <a:ea typeface="+mj-ea"/>
            </a:endParaRPr>
          </a:p>
        </p:txBody>
      </p:sp>
      <p:sp>
        <p:nvSpPr>
          <p:cNvPr id="4" name="矩形 3"/>
          <p:cNvSpPr/>
          <p:nvPr>
            <p:custDataLst>
              <p:tags r:id="rId3"/>
            </p:custDataLst>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289560" y="1441450"/>
                <a:ext cx="5190490" cy="3145790"/>
              </a:xfrm>
              <a:prstGeom prst="rect">
                <a:avLst/>
              </a:prstGeom>
              <a:noFill/>
            </p:spPr>
            <p:txBody>
              <a:bodyPr wrap="square" rtlCol="0">
                <a:spAutoFit/>
              </a:bodyPr>
              <a:lstStyle/>
              <a:p>
                <a:pPr indent="304800">
                  <a:lnSpc>
                    <a:spcPct val="170000"/>
                  </a:lnSpc>
                </a:pP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根据上一部分整理出来的方向距离函数公式（</a:t>
                </a:r>
                <a:r>
                  <a:rPr lang="en-SG"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5</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），同样可以采用线性规划的方法来求解方向性距离函数最小化问题，该线性规划的目标与约束条件如右</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求解</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该线性规划问题，并令得到的方向性距离函数为零，即可得到生产可能性边界：</a:t>
                </a: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14:m>
                  <m:oMathPara xmlns:m="http://schemas.openxmlformats.org/officeDocument/2006/math">
                    <m:oMathParaPr>
                      <m:jc m:val="centerGroup"/>
                    </m:oMathParaPr>
                    <m:oMath xmlns:m="http://schemas.openxmlformats.org/officeDocument/2006/math">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oMath>
                  </m:oMathPara>
                </a14:m>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交通运输行业碳排放的影子价格即减排</a:t>
                </a:r>
                <a:r>
                  <a:rPr lang="en-SG"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1</a:t>
                </a: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单位二氧化碳的目标产出损失，故我们对上式进行微分并求解，</a:t>
                </a:r>
                <a:endParaRPr lang="en-US"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r>
                  <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rPr>
                  <a:t>得到碳排放的影子价格为：</a:t>
                </a:r>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lnSpc>
                    <a:spcPct val="170000"/>
                  </a:lnSpc>
                </a:pPr>
                <a14:m>
                  <m:oMathPara xmlns:m="http://schemas.openxmlformats.org/officeDocument/2006/math">
                    <m:oMathParaPr>
                      <m:jc m:val="centerGroup"/>
                    </m:oMathParaPr>
                    <m:oMath xmlns:m="http://schemas.openxmlformats.org/officeDocument/2006/math">
                      <m:r>
                        <a:rPr lang="en-US" altLang="zh-CN" sz="1000" kern="100">
                          <a:solidFill>
                            <a:schemeClr val="accent3">
                              <a:lumMod val="75000"/>
                            </a:schemeClr>
                          </a:solidFill>
                          <a:latin typeface="Cambria Math" panose="02040503050406030204" pitchFamily="18" charset="0"/>
                        </a:rPr>
                        <m:t>𝑃</m:t>
                      </m:r>
                      <m:r>
                        <a:rPr lang="en-US" altLang="zh-CN" sz="1000" kern="100">
                          <a:solidFill>
                            <a:schemeClr val="accent3">
                              <a:lumMod val="75000"/>
                            </a:schemeClr>
                          </a:solidFill>
                          <a:latin typeface="Cambria Math" panose="02040503050406030204" pitchFamily="18" charset="0"/>
                        </a:rPr>
                        <m:t>=</m:t>
                      </m:r>
                      <m:f>
                        <m:fPr>
                          <m:ctrlPr>
                            <a:rPr lang="zh-CN" altLang="zh-CN" sz="1000" i="1" kern="100">
                              <a:solidFill>
                                <a:schemeClr val="accent3">
                                  <a:lumMod val="75000"/>
                                </a:schemeClr>
                              </a:solidFill>
                              <a:latin typeface="Cambria Math" panose="02040503050406030204" pitchFamily="18" charset="0"/>
                            </a:rPr>
                          </m:ctrlPr>
                        </m:fPr>
                        <m:num>
                          <m:r>
                            <a:rPr lang="en-US" altLang="zh-CN" sz="1000" kern="100">
                              <a:solidFill>
                                <a:schemeClr val="accent3">
                                  <a:lumMod val="75000"/>
                                </a:schemeClr>
                              </a:solidFill>
                              <a:latin typeface="Cambria Math" panose="02040503050406030204" pitchFamily="18" charset="0"/>
                            </a:rPr>
                            <m:t>𝑑</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𝑦</m:t>
                              </m:r>
                            </m:e>
                            <m:sub>
                              <m:r>
                                <a:rPr lang="en-US" altLang="zh-CN" sz="1000" kern="100">
                                  <a:solidFill>
                                    <a:schemeClr val="accent3">
                                      <a:lumMod val="75000"/>
                                    </a:schemeClr>
                                  </a:solidFill>
                                  <a:latin typeface="Cambria Math" panose="02040503050406030204" pitchFamily="18" charset="0"/>
                                </a:rPr>
                                <m:t>𝑘</m:t>
                              </m:r>
                            </m:sub>
                          </m:sSub>
                        </m:num>
                        <m:den>
                          <m:r>
                            <a:rPr lang="en-US" altLang="zh-CN" sz="1000" kern="100">
                              <a:solidFill>
                                <a:schemeClr val="accent3">
                                  <a:lumMod val="75000"/>
                                </a:schemeClr>
                              </a:solidFill>
                              <a:latin typeface="Cambria Math" panose="02040503050406030204" pitchFamily="18" charset="0"/>
                            </a:rPr>
                            <m:t>𝑑</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𝑏</m:t>
                              </m:r>
                            </m:e>
                            <m:sub>
                              <m:r>
                                <a:rPr lang="en-US" altLang="zh-CN" sz="1000" kern="100">
                                  <a:solidFill>
                                    <a:schemeClr val="accent3">
                                      <a:lumMod val="75000"/>
                                    </a:schemeClr>
                                  </a:solidFill>
                                  <a:latin typeface="Cambria Math" panose="02040503050406030204" pitchFamily="18" charset="0"/>
                                </a:rPr>
                                <m:t>𝑘</m:t>
                              </m:r>
                            </m:sub>
                          </m:sSub>
                        </m:den>
                      </m:f>
                      <m:r>
                        <a:rPr lang="en-US" altLang="zh-CN" sz="1000" kern="100">
                          <a:solidFill>
                            <a:schemeClr val="accent3">
                              <a:lumMod val="75000"/>
                            </a:schemeClr>
                          </a:solidFill>
                          <a:latin typeface="Cambria Math" panose="02040503050406030204" pitchFamily="18" charset="0"/>
                        </a:rPr>
                        <m:t>=−</m:t>
                      </m:r>
                      <m:f>
                        <m:fPr>
                          <m:ctrlPr>
                            <a:rPr lang="zh-CN" altLang="zh-CN" sz="1000" i="1" kern="100">
                              <a:solidFill>
                                <a:schemeClr val="accent3">
                                  <a:lumMod val="75000"/>
                                </a:schemeClr>
                              </a:solidFill>
                              <a:latin typeface="Cambria Math" panose="02040503050406030204" pitchFamily="18" charset="0"/>
                            </a:rPr>
                          </m:ctrlPr>
                        </m:fPr>
                        <m:num>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r>
                                <m:rPr>
                                  <m:sty m:val="p"/>
                                </m:rPr>
                                <a:rPr lang="en-US" altLang="zh-CN" sz="1000" kern="100">
                                  <a:solidFill>
                                    <a:schemeClr val="accent3">
                                      <a:lumMod val="75000"/>
                                    </a:schemeClr>
                                  </a:solidFill>
                                  <a:latin typeface="Cambria Math" panose="02040503050406030204" pitchFamily="18" charset="0"/>
                                </a:rPr>
                                <m:t>x</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y</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b</m:t>
                              </m:r>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𝑏</m:t>
                          </m:r>
                        </m:num>
                        <m:den>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r>
                                <m:rPr>
                                  <m:sty m:val="p"/>
                                </m:rPr>
                                <a:rPr lang="en-US" altLang="zh-CN" sz="1000" kern="100">
                                  <a:solidFill>
                                    <a:schemeClr val="accent3">
                                      <a:lumMod val="75000"/>
                                    </a:schemeClr>
                                  </a:solidFill>
                                  <a:latin typeface="Cambria Math" panose="02040503050406030204" pitchFamily="18" charset="0"/>
                                </a:rPr>
                                <m:t>x</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y</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b</m:t>
                              </m:r>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a:rPr lang="en-US" altLang="zh-CN" sz="1000" kern="100">
                                      <a:solidFill>
                                        <a:schemeClr val="accent3">
                                          <a:lumMod val="75000"/>
                                        </a:schemeClr>
                                      </a:solidFill>
                                      <a:latin typeface="Cambria Math" panose="02040503050406030204" pitchFamily="18" charset="0"/>
                                    </a:rPr>
                                    <m:t>𝑔</m:t>
                                  </m:r>
                                </m:e>
                                <m:sub>
                                  <m:r>
                                    <a:rPr lang="en-US" altLang="zh-CN" sz="1000" kern="100">
                                      <a:solidFill>
                                        <a:schemeClr val="accent3">
                                          <a:lumMod val="75000"/>
                                        </a:schemeClr>
                                      </a:solidFill>
                                      <a:latin typeface="Cambria Math" panose="02040503050406030204" pitchFamily="18" charset="0"/>
                                    </a:rPr>
                                    <m:t>𝑏</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𝑦</m:t>
                          </m:r>
                        </m:den>
                      </m:f>
                    </m:oMath>
                  </m:oMathPara>
                </a14:m>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152400">
                  <a:lnSpc>
                    <a:spcPct val="150000"/>
                  </a:lnSpc>
                </a:pPr>
                <a:endParaRPr kumimoji="1" lang="zh-CN" altLang="en-US" sz="1000" dirty="0">
                  <a:solidFill>
                    <a:srgbClr val="91A99E"/>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289560" y="1441450"/>
                <a:ext cx="5190490" cy="3145790"/>
              </a:xfrm>
              <a:prstGeom prst="rect">
                <a:avLst/>
              </a:prstGeom>
              <a:blipFill rotWithShape="1">
                <a:blip r:embed="rId1"/>
                <a:stretch>
                  <a:fillRect/>
                </a:stretch>
              </a:blipFill>
            </p:spPr>
            <p:txBody>
              <a:bodyPr/>
              <a:lstStyle/>
              <a:p>
                <a:r>
                  <a:rPr lang="zh-CN" altLang="en-US">
                    <a:noFill/>
                  </a:rPr>
                  <a:t> </a:t>
                </a:r>
              </a:p>
            </p:txBody>
          </p:sp>
        </mc:Fallback>
      </mc:AlternateContent>
      <p:sp>
        <p:nvSpPr>
          <p:cNvPr id="4" name="矩形 3"/>
          <p:cNvSpPr/>
          <p:nvPr>
            <p:custDataLst>
              <p:tags r:id="rId2"/>
            </p:custDataLst>
          </p:nvPr>
        </p:nvSpPr>
        <p:spPr>
          <a:xfrm>
            <a:off x="599594" y="910627"/>
            <a:ext cx="1564862" cy="369332"/>
          </a:xfrm>
          <a:prstGeom prst="rect">
            <a:avLst/>
          </a:prstGeom>
        </p:spPr>
        <p:txBody>
          <a:bodyPr wrap="square">
            <a:spAutoFit/>
          </a:bodyPr>
          <a:p>
            <a:pPr algn="ctr"/>
            <a:r>
              <a:rPr lang="zh-CN" altLang="en-US" dirty="0">
                <a:solidFill>
                  <a:schemeClr val="accent1"/>
                </a:solidFill>
                <a:latin typeface="+mj-ea"/>
                <a:ea typeface="+mj-ea"/>
              </a:rPr>
              <a:t>方向</a:t>
            </a:r>
            <a:r>
              <a:rPr lang="zh-CN" altLang="en-US" sz="1800" dirty="0">
                <a:solidFill>
                  <a:schemeClr val="accent1"/>
                </a:solidFill>
                <a:latin typeface="+mj-ea"/>
                <a:ea typeface="+mj-ea"/>
              </a:rPr>
              <a:t>距离函数</a:t>
            </a:r>
            <a:endParaRPr lang="zh-CN" altLang="en-US" sz="1800" dirty="0">
              <a:solidFill>
                <a:schemeClr val="accent1"/>
              </a:solidFill>
              <a:latin typeface="+mj-ea"/>
              <a:ea typeface="+mj-ea"/>
            </a:endParaRPr>
          </a:p>
        </p:txBody>
      </p:sp>
      <p:grpSp>
        <p:nvGrpSpPr>
          <p:cNvPr id="5" name="组合 4"/>
          <p:cNvGrpSpPr/>
          <p:nvPr/>
        </p:nvGrpSpPr>
        <p:grpSpPr>
          <a:xfrm flipH="1">
            <a:off x="289560" y="960120"/>
            <a:ext cx="233045" cy="247015"/>
            <a:chOff x="2473104" y="2145028"/>
            <a:chExt cx="359165" cy="359165"/>
          </a:xfrm>
          <a:solidFill>
            <a:schemeClr val="bg1"/>
          </a:solidFill>
        </p:grpSpPr>
        <p:sp>
          <p:nvSpPr>
            <p:cNvPr id="6" name="AutoShape 126"/>
            <p:cNvSpPr/>
            <p:nvPr>
              <p:custDataLst>
                <p:tags r:id="rId3"/>
              </p:custDataLst>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solidFill>
                <a:schemeClr val="accent1"/>
              </a:solid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 name="AutoShape 127"/>
            <p:cNvSpPr/>
            <p:nvPr>
              <p:custDataLst>
                <p:tags r:id="rId4"/>
              </p:custDataLst>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solidFill>
                <a:schemeClr val="accent1"/>
              </a:solidFill>
            </a:ln>
            <a:effectLst/>
          </p:spPr>
          <p:txBody>
            <a:bodyPr lIns="19050" tIns="19050" rIns="19050" bIns="19050" anchor="ctr"/>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mc:AlternateContent xmlns:mc="http://schemas.openxmlformats.org/markup-compatibility/2006">
        <mc:Choice xmlns:a14="http://schemas.microsoft.com/office/drawing/2010/main" Requires="a14">
          <p:sp>
            <p:nvSpPr>
              <p:cNvPr id="8" name="文本框 7"/>
              <p:cNvSpPr txBox="1"/>
              <p:nvPr/>
            </p:nvSpPr>
            <p:spPr>
              <a:xfrm>
                <a:off x="5340350" y="1522730"/>
                <a:ext cx="3619500" cy="2488565"/>
              </a:xfrm>
              <a:prstGeom prst="rect">
                <a:avLst/>
              </a:prstGeom>
              <a:noFill/>
            </p:spPr>
            <p:txBody>
              <a:bodyPr wrap="square" rtlCol="0" anchor="t">
                <a:spAutoFit/>
              </a:bodyPr>
              <a:p>
                <a:pPr indent="304800"/>
                <a14:m>
                  <m:oMathPara xmlns:m="http://schemas.openxmlformats.org/officeDocument/2006/math">
                    <m:oMathParaPr>
                      <m:jc m:val="centerGroup"/>
                    </m:oMathParaPr>
                    <m:oMath xmlns:m="http://schemas.openxmlformats.org/officeDocument/2006/math">
                      <m:func>
                        <m:funcPr>
                          <m:ctrlPr>
                            <a:rPr lang="zh-CN" altLang="zh-CN" sz="1000" i="1" kern="100">
                              <a:solidFill>
                                <a:schemeClr val="accent3">
                                  <a:lumMod val="75000"/>
                                </a:schemeClr>
                              </a:solidFill>
                              <a:latin typeface="Cambria Math" panose="02040503050406030204" pitchFamily="18" charset="0"/>
                            </a:rPr>
                          </m:ctrlPr>
                        </m:funcPr>
                        <m:fName>
                          <m:r>
                            <m:rPr>
                              <m:sty m:val="p"/>
                            </m:rPr>
                            <a:rPr lang="en-US" altLang="zh-CN" sz="1000" kern="100">
                              <a:solidFill>
                                <a:schemeClr val="accent3">
                                  <a:lumMod val="75000"/>
                                </a:schemeClr>
                              </a:solidFill>
                              <a:latin typeface="Cambria Math" panose="02040503050406030204" pitchFamily="18" charset="0"/>
                            </a:rPr>
                            <m:t>min</m:t>
                          </m:r>
                        </m:fName>
                        <m:e>
                          <m:nary>
                            <m:naryPr>
                              <m:chr m:val="∑"/>
                              <m:ctrlPr>
                                <a:rPr lang="zh-CN" altLang="zh-CN" sz="1000" i="1" kern="100">
                                  <a:solidFill>
                                    <a:schemeClr val="accent3">
                                      <a:lumMod val="75000"/>
                                    </a:schemeClr>
                                  </a:solidFill>
                                  <a:latin typeface="Cambria Math" panose="02040503050406030204" pitchFamily="18" charset="0"/>
                                </a:rPr>
                              </m:ctrlPr>
                            </m:naryPr>
                            <m:sub>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sub>
                            <m:sup>
                              <m:r>
                                <m:rPr>
                                  <m:sty m:val="p"/>
                                </m:rPr>
                                <a:rPr lang="en-US" altLang="zh-CN" sz="1000" kern="100">
                                  <a:solidFill>
                                    <a:schemeClr val="accent3">
                                      <a:lumMod val="75000"/>
                                    </a:schemeClr>
                                  </a:solidFill>
                                  <a:latin typeface="Cambria Math" panose="02040503050406030204" pitchFamily="18" charset="0"/>
                                </a:rPr>
                                <m:t>K</m:t>
                              </m:r>
                            </m:sup>
                            <m:e>
                              <m:d>
                                <m:dPr>
                                  <m:ctrlPr>
                                    <a:rPr lang="zh-CN" altLang="zh-CN" sz="1000" i="1" kern="100">
                                      <a:solidFill>
                                        <a:schemeClr val="accent3">
                                          <a:lumMod val="75000"/>
                                        </a:schemeClr>
                                      </a:solidFill>
                                      <a:latin typeface="Cambria Math" panose="02040503050406030204" pitchFamily="18" charset="0"/>
                                    </a:rPr>
                                  </m:ctrlPr>
                                </m:dPr>
                                <m:e>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e>
                              </m:d>
                            </m:e>
                          </m:nary>
                        </m:e>
                      </m:func>
                    </m:oMath>
                  </m:oMathPara>
                </a14:m>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14:m>
                  <m:oMathPara xmlns:m="http://schemas.openxmlformats.org/officeDocument/2006/math">
                    <m:oMathParaPr>
                      <m:jc m:val="centerGroup"/>
                    </m:oMathParaPr>
                    <m:oMath xmlns:m="http://schemas.openxmlformats.org/officeDocument/2006/math">
                      <m:r>
                        <a:rPr lang="en-SG" altLang="zh-CN" sz="1000" kern="100">
                          <a:solidFill>
                            <a:schemeClr val="accent3">
                              <a:lumMod val="75000"/>
                            </a:schemeClr>
                          </a:solidFill>
                          <a:latin typeface="Cambria Math" panose="02040503050406030204" pitchFamily="18" charset="0"/>
                        </a:rPr>
                        <m:t>𝑠</m:t>
                      </m:r>
                      <m:r>
                        <a:rPr lang="en-SG" altLang="zh-CN" sz="1000" kern="100">
                          <a:solidFill>
                            <a:schemeClr val="accent3">
                              <a:lumMod val="75000"/>
                            </a:schemeClr>
                          </a:solidFill>
                          <a:latin typeface="Cambria Math" panose="02040503050406030204" pitchFamily="18" charset="0"/>
                        </a:rPr>
                        <m:t>.</m:t>
                      </m:r>
                      <m:r>
                        <a:rPr lang="en-SG" altLang="zh-CN" sz="1000" kern="100">
                          <a:solidFill>
                            <a:schemeClr val="accent3">
                              <a:lumMod val="75000"/>
                            </a:schemeClr>
                          </a:solidFill>
                          <a:latin typeface="Cambria Math" panose="02040503050406030204" pitchFamily="18" charset="0"/>
                        </a:rPr>
                        <m:t>𝑡</m:t>
                      </m:r>
                      <m:r>
                        <a:rPr lang="en-SG" altLang="zh-CN" sz="1000" kern="100">
                          <a:solidFill>
                            <a:schemeClr val="accent3">
                              <a:lumMod val="75000"/>
                            </a:schemeClr>
                          </a:solidFill>
                          <a:latin typeface="Cambria Math" panose="02040503050406030204" pitchFamily="18" charset="0"/>
                        </a:rPr>
                        <m:t>.</m:t>
                      </m:r>
                    </m:oMath>
                  </m:oMathPara>
                </a14:m>
                <a:endParaRPr lang="zh-CN" altLang="zh-CN" sz="1000" kern="100" dirty="0">
                  <a:solidFill>
                    <a:schemeClr val="accent3">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a:p>
                <a:pPr indent="304800"/>
                <a14:m>
                  <m:oMathPara xmlns:m="http://schemas.openxmlformats.org/officeDocument/2006/math">
                    <m:oMathParaPr>
                      <m:jc m:val="centerGroup"/>
                    </m:oMathParaPr>
                    <m:oMath xmlns:m="http://schemas.openxmlformats.org/officeDocument/2006/math">
                      <m:d>
                        <m:dPr>
                          <m:begChr m:val="{"/>
                          <m:endChr m:val=""/>
                          <m:ctrlPr>
                            <a:rPr lang="zh-CN" altLang="zh-CN" sz="1000" i="1" kern="100">
                              <a:solidFill>
                                <a:schemeClr val="accent3">
                                  <a:lumMod val="75000"/>
                                </a:schemeClr>
                              </a:solidFill>
                              <a:latin typeface="Cambria Math" panose="02040503050406030204" pitchFamily="18" charset="0"/>
                            </a:rPr>
                          </m:ctrlPr>
                        </m:dPr>
                        <m:e>
                          <m:eqArr>
                            <m:eqArrPr>
                              <m:ctrlPr>
                                <a:rPr lang="zh-CN" altLang="zh-CN" sz="1000" i="1" kern="100">
                                  <a:solidFill>
                                    <a:schemeClr val="accent3">
                                      <a:lumMod val="75000"/>
                                    </a:schemeClr>
                                  </a:solidFill>
                                  <a:latin typeface="Cambria Math" panose="02040503050406030204" pitchFamily="18" charset="0"/>
                                </a:rPr>
                              </m:ctrlPr>
                            </m:eqArrPr>
                            <m:e>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 </m:t>
                              </m:r>
                              <m:r>
                                <m:rPr>
                                  <m:sty m:val="p"/>
                                </m:rPr>
                                <a:rPr lang="en-US" altLang="zh-CN" sz="1000" kern="100">
                                  <a:solidFill>
                                    <a:schemeClr val="accent3">
                                      <a:lumMod val="75000"/>
                                    </a:schemeClr>
                                  </a:solidFill>
                                  <a:latin typeface="Cambria Math" panose="02040503050406030204" pitchFamily="18" charset="0"/>
                                </a:rPr>
                                <m:t>K</m:t>
                              </m:r>
                            </m:e>
                            <m:e>
                              <m:f>
                                <m:fPr>
                                  <m:ctrlPr>
                                    <a:rPr lang="zh-CN" altLang="zh-CN" sz="1000" i="1" kern="100">
                                      <a:solidFill>
                                        <a:schemeClr val="accent3">
                                          <a:lumMod val="75000"/>
                                        </a:schemeClr>
                                      </a:solidFill>
                                      <a:latin typeface="Cambria Math" panose="02040503050406030204" pitchFamily="18" charset="0"/>
                                    </a:rPr>
                                  </m:ctrlPr>
                                </m:fPr>
                                <m:num>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num>
                                <m:den>
                                  <m:r>
                                    <a:rPr lang="en-US" altLang="zh-CN" sz="1000" kern="100">
                                      <a:solidFill>
                                        <a:schemeClr val="accent3">
                                          <a:lumMod val="75000"/>
                                        </a:schemeClr>
                                      </a:solidFill>
                                      <a:latin typeface="Cambria Math" panose="02040503050406030204" pitchFamily="18" charset="0"/>
                                    </a:rPr>
                                    <m:t>𝜕</m:t>
                                  </m:r>
                                  <m:r>
                                    <m:rPr>
                                      <m:sty m:val="p"/>
                                    </m:rPr>
                                    <a:rPr lang="en-US" altLang="zh-CN" sz="1000" kern="100">
                                      <a:solidFill>
                                        <a:schemeClr val="accent3">
                                          <a:lumMod val="75000"/>
                                        </a:schemeClr>
                                      </a:solidFill>
                                      <a:latin typeface="Cambria Math" panose="02040503050406030204" pitchFamily="18" charset="0"/>
                                    </a:rPr>
                                    <m:t>b</m:t>
                                  </m:r>
                                </m:den>
                              </m:f>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 </m:t>
                              </m:r>
                              <m:r>
                                <m:rPr>
                                  <m:sty m:val="p"/>
                                </m:rPr>
                                <a:rPr lang="en-US" altLang="zh-CN" sz="1000" kern="100">
                                  <a:solidFill>
                                    <a:schemeClr val="accent3">
                                      <a:lumMod val="75000"/>
                                    </a:schemeClr>
                                  </a:solidFill>
                                  <a:latin typeface="Cambria Math" panose="02040503050406030204" pitchFamily="18" charset="0"/>
                                </a:rPr>
                                <m:t>K</m:t>
                              </m:r>
                            </m:e>
                            <m:e>
                              <m:f>
                                <m:fPr>
                                  <m:ctrlPr>
                                    <a:rPr lang="zh-CN" altLang="zh-CN" sz="1000" i="1" kern="100">
                                      <a:solidFill>
                                        <a:schemeClr val="accent3">
                                          <a:lumMod val="75000"/>
                                        </a:schemeClr>
                                      </a:solidFill>
                                      <a:latin typeface="Cambria Math" panose="02040503050406030204" pitchFamily="18" charset="0"/>
                                    </a:rPr>
                                  </m:ctrlPr>
                                </m:fPr>
                                <m:num>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num>
                                <m:den>
                                  <m:r>
                                    <a:rPr lang="en-US" altLang="zh-CN" sz="1000" kern="100">
                                      <a:solidFill>
                                        <a:schemeClr val="accent3">
                                          <a:lumMod val="75000"/>
                                        </a:schemeClr>
                                      </a:solidFill>
                                      <a:latin typeface="Cambria Math" panose="02040503050406030204" pitchFamily="18" charset="0"/>
                                    </a:rPr>
                                    <m:t>𝜕</m:t>
                                  </m:r>
                                  <m:r>
                                    <m:rPr>
                                      <m:sty m:val="p"/>
                                    </m:rPr>
                                    <a:rPr lang="en-US" altLang="zh-CN" sz="1000" kern="100">
                                      <a:solidFill>
                                        <a:schemeClr val="accent3">
                                          <a:lumMod val="75000"/>
                                        </a:schemeClr>
                                      </a:solidFill>
                                      <a:latin typeface="Cambria Math" panose="02040503050406030204" pitchFamily="18" charset="0"/>
                                    </a:rPr>
                                    <m:t>x</m:t>
                                  </m:r>
                                </m:den>
                              </m:f>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 </m:t>
                              </m:r>
                              <m:r>
                                <m:rPr>
                                  <m:sty m:val="p"/>
                                </m:rPr>
                                <a:rPr lang="en-US" altLang="zh-CN" sz="1000" kern="100">
                                  <a:solidFill>
                                    <a:schemeClr val="accent3">
                                      <a:lumMod val="75000"/>
                                    </a:schemeClr>
                                  </a:solidFill>
                                  <a:latin typeface="Cambria Math" panose="02040503050406030204" pitchFamily="18" charset="0"/>
                                </a:rPr>
                                <m:t>K</m:t>
                              </m:r>
                            </m:e>
                            <m:e>
                              <m:r>
                                <a:rPr lang="en-US" altLang="zh-CN" sz="1000" kern="100">
                                  <a:solidFill>
                                    <a:schemeClr val="accent3">
                                      <a:lumMod val="75000"/>
                                    </a:schemeClr>
                                  </a:solidFill>
                                  <a:latin typeface="Cambria Math" panose="02040503050406030204" pitchFamily="18" charset="0"/>
                                </a:rPr>
                                <m:t> </m:t>
                              </m:r>
                              <m:f>
                                <m:fPr>
                                  <m:ctrlPr>
                                    <a:rPr lang="zh-CN" altLang="zh-CN" sz="1000" i="1" kern="100">
                                      <a:solidFill>
                                        <a:schemeClr val="accent3">
                                          <a:lumMod val="75000"/>
                                        </a:schemeClr>
                                      </a:solidFill>
                                      <a:latin typeface="Cambria Math" panose="02040503050406030204" pitchFamily="18" charset="0"/>
                                    </a:rPr>
                                  </m:ctrlPr>
                                </m:fPr>
                                <m:num>
                                  <m:r>
                                    <a:rPr lang="en-US" altLang="zh-CN" sz="1000" kern="100">
                                      <a:solidFill>
                                        <a:schemeClr val="accent3">
                                          <a:lumMod val="75000"/>
                                        </a:schemeClr>
                                      </a:solidFill>
                                      <a:latin typeface="Cambria Math" panose="02040503050406030204" pitchFamily="18" charset="0"/>
                                    </a:rPr>
                                    <m:t>𝜕</m:t>
                                  </m:r>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b</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num>
                                <m:den>
                                  <m:r>
                                    <a:rPr lang="en-US" altLang="zh-CN" sz="1000" kern="100">
                                      <a:solidFill>
                                        <a:schemeClr val="accent3">
                                          <a:lumMod val="75000"/>
                                        </a:schemeClr>
                                      </a:solidFill>
                                      <a:latin typeface="Cambria Math" panose="02040503050406030204" pitchFamily="18" charset="0"/>
                                    </a:rPr>
                                    <m:t>𝜕</m:t>
                                  </m:r>
                                  <m:r>
                                    <m:rPr>
                                      <m:sty m:val="p"/>
                                    </m:rPr>
                                    <a:rPr lang="en-US" altLang="zh-CN" sz="1000" kern="100">
                                      <a:solidFill>
                                        <a:schemeClr val="accent3">
                                          <a:lumMod val="75000"/>
                                        </a:schemeClr>
                                      </a:solidFill>
                                      <a:latin typeface="Cambria Math" panose="02040503050406030204" pitchFamily="18" charset="0"/>
                                    </a:rPr>
                                    <m:t>y</m:t>
                                  </m:r>
                                </m:den>
                              </m:f>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 </m:t>
                              </m:r>
                              <m:r>
                                <m:rPr>
                                  <m:sty m:val="p"/>
                                </m:rPr>
                                <a:rPr lang="en-US" altLang="zh-CN" sz="1000" kern="100">
                                  <a:solidFill>
                                    <a:schemeClr val="accent3">
                                      <a:lumMod val="75000"/>
                                    </a:schemeClr>
                                  </a:solidFill>
                                  <a:latin typeface="Cambria Math" panose="02040503050406030204" pitchFamily="18" charset="0"/>
                                </a:rPr>
                                <m:t>K</m:t>
                              </m:r>
                            </m:e>
                            <m:e>
                              <m:acc>
                                <m:accPr>
                                  <m:chr m:val="⃗"/>
                                  <m:ctrlPr>
                                    <a:rPr lang="zh-CN" altLang="zh-CN" sz="1000" i="1" kern="100">
                                      <a:solidFill>
                                        <a:schemeClr val="accent3">
                                          <a:lumMod val="75000"/>
                                        </a:schemeClr>
                                      </a:solidFill>
                                      <a:latin typeface="Cambria Math" panose="02040503050406030204" pitchFamily="18" charset="0"/>
                                    </a:rPr>
                                  </m:ctrlPr>
                                </m:accPr>
                                <m:e>
                                  <m:r>
                                    <m:rPr>
                                      <m:sty m:val="p"/>
                                    </m:rPr>
                                    <a:rPr lang="en-US" altLang="zh-CN" sz="1000" kern="100">
                                      <a:solidFill>
                                        <a:schemeClr val="accent3">
                                          <a:lumMod val="75000"/>
                                        </a:schemeClr>
                                      </a:solidFill>
                                      <a:latin typeface="Cambria Math" panose="02040503050406030204" pitchFamily="18" charset="0"/>
                                    </a:rPr>
                                    <m:t>D</m:t>
                                  </m:r>
                                </m:e>
                              </m:acc>
                              <m:d>
                                <m:dPr>
                                  <m:ctrlPr>
                                    <a:rPr lang="zh-CN" altLang="zh-CN" sz="1000" i="1" kern="100">
                                      <a:solidFill>
                                        <a:schemeClr val="accent3">
                                          <a:lumMod val="75000"/>
                                        </a:schemeClr>
                                      </a:solidFill>
                                      <a:latin typeface="Cambria Math" panose="02040503050406030204" pitchFamily="18" charset="0"/>
                                    </a:rPr>
                                  </m:ctrlPr>
                                </m:dPr>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x</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y</m:t>
                                      </m:r>
                                    </m:e>
                                    <m:sub>
                                      <m:r>
                                        <m:rPr>
                                          <m:sty m:val="p"/>
                                        </m:rPr>
                                        <a:rPr lang="en-US" altLang="zh-CN" sz="1000" kern="100">
                                          <a:solidFill>
                                            <a:schemeClr val="accent3">
                                              <a:lumMod val="75000"/>
                                            </a:schemeClr>
                                          </a:solidFill>
                                          <a:latin typeface="Cambria Math" panose="02040503050406030204" pitchFamily="18" charset="0"/>
                                        </a:rPr>
                                        <m:t>k</m:t>
                                      </m:r>
                                    </m:sub>
                                  </m:sSub>
                                  <m:r>
                                    <a:rPr lang="en-US" altLang="zh-CN" sz="1000" kern="100">
                                      <a:solidFill>
                                        <a:schemeClr val="accent3">
                                          <a:lumMod val="75000"/>
                                        </a:schemeClr>
                                      </a:solidFill>
                                      <a:latin typeface="Cambria Math" panose="02040503050406030204" pitchFamily="18" charset="0"/>
                                    </a:rPr>
                                    <m:t>, </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y</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g</m:t>
                                      </m:r>
                                    </m:e>
                                    <m:sub>
                                      <m:r>
                                        <m:rPr>
                                          <m:sty m:val="p"/>
                                        </m:rPr>
                                        <a:rPr lang="en-US" altLang="zh-CN" sz="1000" kern="100">
                                          <a:solidFill>
                                            <a:schemeClr val="accent3">
                                              <a:lumMod val="75000"/>
                                            </a:schemeClr>
                                          </a:solidFill>
                                          <a:latin typeface="Cambria Math" panose="02040503050406030204" pitchFamily="18" charset="0"/>
                                        </a:rPr>
                                        <m:t>b</m:t>
                                      </m:r>
                                    </m:sub>
                                  </m:sSub>
                                </m:e>
                              </m:d>
                              <m:r>
                                <a:rPr lang="en-US" altLang="zh-CN" sz="1000" kern="100">
                                  <a:solidFill>
                                    <a:schemeClr val="accent3">
                                      <a:lumMod val="75000"/>
                                    </a:schemeClr>
                                  </a:solidFill>
                                  <a:latin typeface="Cambria Math" panose="02040503050406030204" pitchFamily="18" charset="0"/>
                                </a:rPr>
                                <m:t>&lt;</m:t>
                              </m:r>
                              <m:r>
                                <a:rPr lang="en-US" altLang="zh-CN" sz="1000" kern="100">
                                  <a:solidFill>
                                    <a:schemeClr val="accent3">
                                      <a:lumMod val="75000"/>
                                    </a:schemeClr>
                                  </a:solidFill>
                                  <a:latin typeface="Cambria Math" panose="02040503050406030204" pitchFamily="18" charset="0"/>
                                </a:rPr>
                                <m:t>0</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m:t>
                              </m:r>
                              <m:r>
                                <m:rPr>
                                  <m:sty m:val="p"/>
                                </m:rPr>
                                <a:rPr lang="en-US" altLang="zh-CN" sz="1000" kern="100">
                                  <a:solidFill>
                                    <a:schemeClr val="accent3">
                                      <a:lumMod val="75000"/>
                                    </a:schemeClr>
                                  </a:solidFill>
                                  <a:latin typeface="Cambria Math" panose="02040503050406030204" pitchFamily="18" charset="0"/>
                                </a:rPr>
                                <m:t>K</m:t>
                              </m:r>
                            </m:e>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β</m:t>
                                  </m:r>
                                </m:e>
                                <m:sub>
                                  <m:r>
                                    <a:rPr lang="en-US" altLang="zh-CN" sz="1000" kern="100">
                                      <a:solidFill>
                                        <a:schemeClr val="accent3">
                                          <a:lumMod val="75000"/>
                                        </a:schemeClr>
                                      </a:solidFill>
                                      <a:latin typeface="Cambria Math" panose="02040503050406030204" pitchFamily="18" charset="0"/>
                                    </a:rPr>
                                    <m:t>1</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γ</m:t>
                                  </m:r>
                                </m:e>
                                <m:sub>
                                  <m:r>
                                    <a:rPr lang="en-US" altLang="zh-CN" sz="1000" kern="100">
                                      <a:solidFill>
                                        <a:schemeClr val="accent3">
                                          <a:lumMod val="75000"/>
                                        </a:schemeClr>
                                      </a:solidFill>
                                      <a:latin typeface="Cambria Math" panose="02040503050406030204" pitchFamily="18" charset="0"/>
                                    </a:rPr>
                                    <m:t>1</m:t>
                                  </m:r>
                                </m:sub>
                              </m:sSub>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1</m:t>
                              </m:r>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β</m:t>
                                  </m:r>
                                </m:e>
                                <m:sub>
                                  <m:r>
                                    <a:rPr lang="en-US" altLang="zh-CN" sz="1000" kern="100">
                                      <a:solidFill>
                                        <a:schemeClr val="accent3">
                                          <a:lumMod val="75000"/>
                                        </a:schemeClr>
                                      </a:solidFill>
                                      <a:latin typeface="Cambria Math" panose="02040503050406030204" pitchFamily="18" charset="0"/>
                                    </a:rPr>
                                    <m:t>11</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μ</m:t>
                                  </m:r>
                                </m:e>
                                <m:sub>
                                  <m:r>
                                    <a:rPr lang="en-US" altLang="zh-CN" sz="1000" kern="100">
                                      <a:solidFill>
                                        <a:schemeClr val="accent3">
                                          <a:lumMod val="75000"/>
                                        </a:schemeClr>
                                      </a:solidFill>
                                      <a:latin typeface="Cambria Math" panose="02040503050406030204" pitchFamily="18" charset="0"/>
                                    </a:rPr>
                                    <m:t>11</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γ</m:t>
                                  </m:r>
                                </m:e>
                                <m:sub>
                                  <m:r>
                                    <a:rPr lang="en-US" altLang="zh-CN" sz="1000" kern="100">
                                      <a:solidFill>
                                        <a:schemeClr val="accent3">
                                          <a:lumMod val="75000"/>
                                        </a:schemeClr>
                                      </a:solidFill>
                                      <a:latin typeface="Cambria Math" panose="02040503050406030204" pitchFamily="18" charset="0"/>
                                    </a:rPr>
                                    <m:t>11</m:t>
                                  </m:r>
                                </m:sub>
                              </m:sSub>
                              <m:r>
                                <a:rPr lang="en-US" altLang="zh-CN" sz="1000" kern="100">
                                  <a:solidFill>
                                    <a:schemeClr val="accent3">
                                      <a:lumMod val="75000"/>
                                    </a:schemeClr>
                                  </a:solidFill>
                                  <a:latin typeface="Cambria Math" panose="02040503050406030204" pitchFamily="18" charset="0"/>
                                </a:rPr>
                                <m:t>; </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δ</m:t>
                                  </m:r>
                                </m:e>
                                <m:sub>
                                  <m:r>
                                    <m:rPr>
                                      <m:sty m:val="p"/>
                                    </m:rPr>
                                    <a:rPr lang="en-US" altLang="zh-CN" sz="1000" kern="100">
                                      <a:solidFill>
                                        <a:schemeClr val="accent3">
                                          <a:lumMod val="75000"/>
                                        </a:schemeClr>
                                      </a:solidFill>
                                      <a:latin typeface="Cambria Math" panose="02040503050406030204" pitchFamily="18" charset="0"/>
                                    </a:rPr>
                                    <m:t>n</m:t>
                                  </m:r>
                                  <m:r>
                                    <a:rPr lang="en-US" altLang="zh-CN" sz="1000" kern="100">
                                      <a:solidFill>
                                        <a:schemeClr val="accent3">
                                          <a:lumMod val="75000"/>
                                        </a:schemeClr>
                                      </a:solidFill>
                                      <a:latin typeface="Cambria Math" panose="02040503050406030204" pitchFamily="18" charset="0"/>
                                    </a:rPr>
                                    <m:t>1</m:t>
                                  </m:r>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η</m:t>
                                  </m:r>
                                </m:e>
                                <m:sub>
                                  <m:r>
                                    <m:rPr>
                                      <m:sty m:val="p"/>
                                    </m:rPr>
                                    <a:rPr lang="en-US" altLang="zh-CN" sz="1000" kern="100">
                                      <a:solidFill>
                                        <a:schemeClr val="accent3">
                                          <a:lumMod val="75000"/>
                                        </a:schemeClr>
                                      </a:solidFill>
                                      <a:latin typeface="Cambria Math" panose="02040503050406030204" pitchFamily="18" charset="0"/>
                                    </a:rPr>
                                    <m:t>n</m:t>
                                  </m:r>
                                  <m:r>
                                    <a:rPr lang="en-US" altLang="zh-CN" sz="1000" kern="100">
                                      <a:solidFill>
                                        <a:schemeClr val="accent3">
                                          <a:lumMod val="75000"/>
                                        </a:schemeClr>
                                      </a:solidFill>
                                      <a:latin typeface="Cambria Math" panose="02040503050406030204" pitchFamily="18" charset="0"/>
                                    </a:rPr>
                                    <m:t>1</m:t>
                                  </m:r>
                                </m:sub>
                              </m:sSub>
                              <m:r>
                                <a:rPr lang="en-US" altLang="zh-CN" sz="1000" kern="100">
                                  <a:solidFill>
                                    <a:schemeClr val="accent3">
                                      <a:lumMod val="75000"/>
                                    </a:schemeClr>
                                  </a:solidFill>
                                  <a:latin typeface="Cambria Math" panose="02040503050406030204" pitchFamily="18" charset="0"/>
                                </a:rPr>
                                <m:t>=</m:t>
                              </m:r>
                              <m:r>
                                <a:rPr lang="en-US" altLang="zh-CN" sz="1000" kern="100">
                                  <a:solidFill>
                                    <a:schemeClr val="accent3">
                                      <a:lumMod val="75000"/>
                                    </a:schemeClr>
                                  </a:solidFill>
                                  <a:latin typeface="Cambria Math" panose="02040503050406030204" pitchFamily="18" charset="0"/>
                                </a:rPr>
                                <m:t>0</m:t>
                              </m:r>
                            </m:e>
                            <m:e>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α</m:t>
                                  </m:r>
                                </m:e>
                                <m:sub>
                                  <m:r>
                                    <m:rPr>
                                      <m:sty m:val="p"/>
                                    </m:rPr>
                                    <a:rPr lang="en-US" altLang="zh-CN" sz="1000" kern="100">
                                      <a:solidFill>
                                        <a:schemeClr val="accent3">
                                          <a:lumMod val="75000"/>
                                        </a:schemeClr>
                                      </a:solidFill>
                                      <a:latin typeface="Cambria Math" panose="02040503050406030204" pitchFamily="18" charset="0"/>
                                    </a:rPr>
                                    <m:t>n</m:t>
                                  </m:r>
                                  <m:r>
                                    <a:rPr lang="en-US" altLang="zh-CN" sz="1000" kern="100">
                                      <a:solidFill>
                                        <a:schemeClr val="accent3">
                                          <a:lumMod val="75000"/>
                                        </a:schemeClr>
                                      </a:solidFill>
                                      <a:latin typeface="Cambria Math" panose="02040503050406030204" pitchFamily="18" charset="0"/>
                                    </a:rPr>
                                    <m:t>, </m:t>
                                  </m:r>
                                  <m:sSup>
                                    <m:sSupPr>
                                      <m:ctrlPr>
                                        <a:rPr lang="zh-CN" altLang="zh-CN" sz="1000" i="1" kern="100">
                                          <a:solidFill>
                                            <a:schemeClr val="accent3">
                                              <a:lumMod val="75000"/>
                                            </a:schemeClr>
                                          </a:solidFill>
                                          <a:latin typeface="Cambria Math" panose="02040503050406030204" pitchFamily="18" charset="0"/>
                                        </a:rPr>
                                      </m:ctrlPr>
                                    </m:sSupPr>
                                    <m:e>
                                      <m:r>
                                        <m:rPr>
                                          <m:sty m:val="p"/>
                                        </m:rPr>
                                        <a:rPr lang="en-US" altLang="zh-CN" sz="1000" kern="100">
                                          <a:solidFill>
                                            <a:schemeClr val="accent3">
                                              <a:lumMod val="75000"/>
                                            </a:schemeClr>
                                          </a:solidFill>
                                          <a:latin typeface="Cambria Math" panose="02040503050406030204" pitchFamily="18" charset="0"/>
                                        </a:rPr>
                                        <m:t>n</m:t>
                                      </m:r>
                                    </m:e>
                                    <m:sup>
                                      <m:r>
                                        <a:rPr lang="en-US" altLang="zh-CN" sz="1000" kern="100">
                                          <a:solidFill>
                                            <a:schemeClr val="accent3">
                                              <a:lumMod val="75000"/>
                                            </a:schemeClr>
                                          </a:solidFill>
                                          <a:latin typeface="Cambria Math" panose="02040503050406030204" pitchFamily="18" charset="0"/>
                                        </a:rPr>
                                        <m:t>′</m:t>
                                      </m:r>
                                    </m:sup>
                                  </m:sSup>
                                </m:sub>
                              </m:sSub>
                              <m:r>
                                <a:rPr lang="en-US" altLang="zh-CN" sz="1000" kern="100">
                                  <a:solidFill>
                                    <a:schemeClr val="accent3">
                                      <a:lumMod val="75000"/>
                                    </a:schemeClr>
                                  </a:solidFill>
                                  <a:latin typeface="Cambria Math" panose="02040503050406030204" pitchFamily="18" charset="0"/>
                                </a:rPr>
                                <m:t>=</m:t>
                              </m:r>
                              <m:sSub>
                                <m:sSubPr>
                                  <m:ctrlPr>
                                    <a:rPr lang="zh-CN" altLang="zh-CN" sz="1000" i="1" kern="100">
                                      <a:solidFill>
                                        <a:schemeClr val="accent3">
                                          <a:lumMod val="75000"/>
                                        </a:schemeClr>
                                      </a:solidFill>
                                      <a:latin typeface="Cambria Math" panose="02040503050406030204" pitchFamily="18" charset="0"/>
                                    </a:rPr>
                                  </m:ctrlPr>
                                </m:sSubPr>
                                <m:e>
                                  <m:r>
                                    <m:rPr>
                                      <m:sty m:val="p"/>
                                    </m:rPr>
                                    <a:rPr lang="en-US" altLang="zh-CN" sz="1000" kern="100">
                                      <a:solidFill>
                                        <a:schemeClr val="accent3">
                                          <a:lumMod val="75000"/>
                                        </a:schemeClr>
                                      </a:solidFill>
                                      <a:latin typeface="Cambria Math" panose="02040503050406030204" pitchFamily="18" charset="0"/>
                                    </a:rPr>
                                    <m:t>α</m:t>
                                  </m:r>
                                </m:e>
                                <m:sub>
                                  <m:sSup>
                                    <m:sSupPr>
                                      <m:ctrlPr>
                                        <a:rPr lang="zh-CN" altLang="zh-CN" sz="1000" i="1" kern="100">
                                          <a:solidFill>
                                            <a:schemeClr val="accent3">
                                              <a:lumMod val="75000"/>
                                            </a:schemeClr>
                                          </a:solidFill>
                                          <a:latin typeface="Cambria Math" panose="02040503050406030204" pitchFamily="18" charset="0"/>
                                        </a:rPr>
                                      </m:ctrlPr>
                                    </m:sSupPr>
                                    <m:e>
                                      <m:r>
                                        <m:rPr>
                                          <m:sty m:val="p"/>
                                        </m:rPr>
                                        <a:rPr lang="en-US" altLang="zh-CN" sz="1000" kern="100">
                                          <a:solidFill>
                                            <a:schemeClr val="accent3">
                                              <a:lumMod val="75000"/>
                                            </a:schemeClr>
                                          </a:solidFill>
                                          <a:latin typeface="Cambria Math" panose="02040503050406030204" pitchFamily="18" charset="0"/>
                                        </a:rPr>
                                        <m:t>n</m:t>
                                      </m:r>
                                    </m:e>
                                    <m:sup>
                                      <m:r>
                                        <a:rPr lang="en-US" altLang="zh-CN" sz="1000" kern="100">
                                          <a:solidFill>
                                            <a:schemeClr val="accent3">
                                              <a:lumMod val="75000"/>
                                            </a:schemeClr>
                                          </a:solidFill>
                                          <a:latin typeface="Cambria Math" panose="02040503050406030204" pitchFamily="18" charset="0"/>
                                        </a:rPr>
                                        <m:t>′</m:t>
                                      </m:r>
                                    </m:sup>
                                  </m:sSup>
                                  <m:r>
                                    <a:rPr lang="en-US" altLang="zh-CN" sz="1000" kern="100">
                                      <a:solidFill>
                                        <a:schemeClr val="accent3">
                                          <a:lumMod val="75000"/>
                                        </a:schemeClr>
                                      </a:solidFill>
                                      <a:latin typeface="Cambria Math" panose="02040503050406030204" pitchFamily="18" charset="0"/>
                                    </a:rPr>
                                    <m:t>,</m:t>
                                  </m:r>
                                  <m:r>
                                    <m:rPr>
                                      <m:sty m:val="p"/>
                                    </m:rPr>
                                    <a:rPr lang="en-US" altLang="zh-CN" sz="1000" kern="100">
                                      <a:solidFill>
                                        <a:schemeClr val="accent3">
                                          <a:lumMod val="75000"/>
                                        </a:schemeClr>
                                      </a:solidFill>
                                      <a:latin typeface="Cambria Math" panose="02040503050406030204" pitchFamily="18" charset="0"/>
                                    </a:rPr>
                                    <m:t>n</m:t>
                                  </m:r>
                                </m:sub>
                              </m:sSub>
                            </m:e>
                          </m:eqArr>
                        </m:e>
                      </m:d>
                    </m:oMath>
                  </m:oMathPara>
                </a14:m>
                <a:endParaRPr lang="en-US" altLang="zh-CN" sz="1000" kern="100">
                  <a:solidFill>
                    <a:schemeClr val="accent3">
                      <a:lumMod val="75000"/>
                    </a:schemeClr>
                  </a:solidFill>
                  <a:latin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5340350" y="1522730"/>
                <a:ext cx="3619500" cy="2488565"/>
              </a:xfrm>
              <a:prstGeom prst="rect">
                <a:avLst/>
              </a:prstGeom>
              <a:blipFill rotWithShape="1">
                <a:blip r:embed="rId5"/>
                <a:stretch>
                  <a:fillRect/>
                </a:stretch>
              </a:blipFill>
            </p:spPr>
            <p:txBody>
              <a:bodyPr/>
              <a:lstStyle/>
              <a:p>
                <a:r>
                  <a:rPr lang="zh-CN" altLang="en-US">
                    <a:noFill/>
                  </a:rPr>
                  <a:t> </a:t>
                </a:r>
              </a:p>
            </p:txBody>
          </p:sp>
        </mc:Fallback>
      </mc:AlternateContent>
      <p:sp>
        <p:nvSpPr>
          <p:cNvPr id="9" name="文本框 6"/>
          <p:cNvSpPr txBox="1">
            <a:spLocks noChangeArrowheads="1"/>
          </p:cNvSpPr>
          <p:nvPr>
            <p:custDataLst>
              <p:tags r:id="rId6"/>
            </p:custDataLst>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研究方法及过程：研究</a:t>
            </a:r>
            <a:r>
              <a:rPr lang="zh-CN" altLang="en-US" sz="2000">
                <a:solidFill>
                  <a:schemeClr val="accent1"/>
                </a:solidFill>
                <a:latin typeface="+mj-ea"/>
                <a:ea typeface="+mj-ea"/>
              </a:rPr>
              <a:t>方法</a:t>
            </a:r>
            <a:endParaRPr lang="zh-CN" altLang="en-US" sz="2000">
              <a:solidFill>
                <a:schemeClr val="accent1"/>
              </a:solidFill>
              <a:latin typeface="+mj-ea"/>
              <a:ea typeface="+mj-ea"/>
            </a:endParaRPr>
          </a:p>
        </p:txBody>
      </p:sp>
      <p:sp>
        <p:nvSpPr>
          <p:cNvPr id="10" name="矩形 9"/>
          <p:cNvSpPr/>
          <p:nvPr>
            <p:custDataLst>
              <p:tags r:id="rId7"/>
            </p:custDataLst>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5676900" y="952500"/>
            <a:ext cx="3285490" cy="3890645"/>
          </a:xfrm>
          <a:prstGeom prst="rect">
            <a:avLst/>
          </a:prstGeom>
          <a:solidFill>
            <a:schemeClr val="bg1">
              <a:lumMod val="95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7" name="文本框 6"/>
          <p:cNvSpPr txBox="1">
            <a:spLocks noChangeArrowheads="1"/>
          </p:cNvSpPr>
          <p:nvPr>
            <p:custDataLst>
              <p:tags r:id="rId1"/>
            </p:custDataLst>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a:t>
            </a:r>
            <a:r>
              <a:rPr lang="zh-CN" altLang="en-US" sz="2000">
                <a:solidFill>
                  <a:schemeClr val="accent1"/>
                </a:solidFill>
                <a:latin typeface="+mj-ea"/>
                <a:ea typeface="+mj-ea"/>
              </a:rPr>
              <a:t>数据：研究数据</a:t>
            </a:r>
            <a:endParaRPr lang="zh-CN" altLang="en-US" sz="2000">
              <a:solidFill>
                <a:schemeClr val="accent1"/>
              </a:solidFill>
              <a:latin typeface="+mj-ea"/>
              <a:ea typeface="+mj-ea"/>
            </a:endParaRPr>
          </a:p>
        </p:txBody>
      </p:sp>
      <p:sp>
        <p:nvSpPr>
          <p:cNvPr id="78" name="矩形 77"/>
          <p:cNvSpPr/>
          <p:nvPr>
            <p:custDataLst>
              <p:tags r:id="rId2"/>
            </p:custDataLst>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
            </a:r>
            <a:r>
              <a:rPr lang="en-US" altLang="zh-CN" sz="900">
                <a:solidFill>
                  <a:schemeClr val="tx1">
                    <a:lumMod val="65000"/>
                    <a:lumOff val="35000"/>
                  </a:schemeClr>
                </a:solidFill>
                <a:latin typeface="Calibri Light" panose="020F0302020204030204" pitchFamily="34" charset="0"/>
                <a:ea typeface="方正兰亭黑_GBK"/>
              </a:rPr>
              <a:t>ata</a:t>
            </a:r>
            <a:endParaRPr lang="en-US" altLang="zh-CN" sz="900">
              <a:solidFill>
                <a:schemeClr val="tx1">
                  <a:lumMod val="65000"/>
                  <a:lumOff val="35000"/>
                </a:schemeClr>
              </a:solidFill>
              <a:latin typeface="Calibri Light" panose="020F0302020204030204" pitchFamily="34" charset="0"/>
              <a:ea typeface="方正兰亭黑_GBK"/>
            </a:endParaRPr>
          </a:p>
        </p:txBody>
      </p:sp>
      <p:grpSp>
        <p:nvGrpSpPr>
          <p:cNvPr id="40" name="组合 39"/>
          <p:cNvGrpSpPr/>
          <p:nvPr/>
        </p:nvGrpSpPr>
        <p:grpSpPr>
          <a:xfrm>
            <a:off x="554355" y="952500"/>
            <a:ext cx="4826000" cy="4107180"/>
            <a:chOff x="939" y="1342"/>
            <a:chExt cx="7600" cy="6468"/>
          </a:xfrm>
        </p:grpSpPr>
        <p:pic>
          <p:nvPicPr>
            <p:cNvPr id="2" name="图片 1" descr="amcharts.pixelMap (1)"/>
            <p:cNvPicPr>
              <a:picLocks noChangeAspect="1"/>
            </p:cNvPicPr>
            <p:nvPr/>
          </p:nvPicPr>
          <p:blipFill>
            <a:blip r:embed="rId3">
              <a:clrChange>
                <a:clrFrom>
                  <a:srgbClr val="FFFFFF">
                    <a:alpha val="100000"/>
                  </a:srgbClr>
                </a:clrFrom>
                <a:clrTo>
                  <a:srgbClr val="FFFFFF">
                    <a:alpha val="100000"/>
                    <a:alpha val="0"/>
                  </a:srgbClr>
                </a:clrTo>
              </a:clrChange>
            </a:blip>
            <a:srcRect l="19993" r="19625"/>
            <a:stretch>
              <a:fillRect/>
            </a:stretch>
          </p:blipFill>
          <p:spPr>
            <a:xfrm>
              <a:off x="939" y="2310"/>
              <a:ext cx="7601" cy="5500"/>
            </a:xfrm>
            <a:prstGeom prst="rect">
              <a:avLst/>
            </a:prstGeom>
          </p:spPr>
        </p:pic>
        <p:grpSp>
          <p:nvGrpSpPr>
            <p:cNvPr id="7" name="组合 6"/>
            <p:cNvGrpSpPr/>
            <p:nvPr/>
          </p:nvGrpSpPr>
          <p:grpSpPr>
            <a:xfrm>
              <a:off x="1133" y="2486"/>
              <a:ext cx="1490" cy="1870"/>
              <a:chOff x="1435" y="3345"/>
              <a:chExt cx="760" cy="670"/>
            </a:xfrm>
          </p:grpSpPr>
          <p:cxnSp>
            <p:nvCxnSpPr>
              <p:cNvPr id="4" name="直接连接符 3"/>
              <p:cNvCxnSpPr/>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52" name="矩形 51"/>
            <p:cNvSpPr/>
            <p:nvPr>
              <p:custDataLst>
                <p:tags r:id="rId4"/>
              </p:custDataLst>
            </p:nvPr>
          </p:nvSpPr>
          <p:spPr>
            <a:xfrm>
              <a:off x="1133" y="1937"/>
              <a:ext cx="1305" cy="531"/>
            </a:xfrm>
            <a:prstGeom prst="rect">
              <a:avLst/>
            </a:prstGeom>
          </p:spPr>
          <p:txBody>
            <a:bodyPr wrap="square">
              <a:spAutoFit/>
            </a:bodyPr>
            <a:lstStyle/>
            <a:p>
              <a:pPr algn="ctr"/>
              <a:r>
                <a:rPr lang="zh-CN" altLang="en-US" sz="800">
                  <a:solidFill>
                    <a:schemeClr val="accent1"/>
                  </a:solidFill>
                  <a:latin typeface="+mj-ea"/>
                  <a:ea typeface="+mj-ea"/>
                </a:rPr>
                <a:t>新疆维吾尔</a:t>
              </a:r>
              <a:endParaRPr lang="zh-CN" altLang="en-US" sz="800">
                <a:solidFill>
                  <a:schemeClr val="accent1"/>
                </a:solidFill>
                <a:latin typeface="+mj-ea"/>
                <a:ea typeface="+mj-ea"/>
              </a:endParaRPr>
            </a:p>
            <a:p>
              <a:pPr algn="ctr"/>
              <a:r>
                <a:rPr lang="zh-CN" altLang="en-US" sz="800">
                  <a:solidFill>
                    <a:schemeClr val="accent1"/>
                  </a:solidFill>
                  <a:latin typeface="+mj-ea"/>
                  <a:ea typeface="+mj-ea"/>
                </a:rPr>
                <a:t>自治区</a:t>
              </a:r>
              <a:endParaRPr lang="zh-CN" altLang="en-US" sz="800">
                <a:solidFill>
                  <a:schemeClr val="accent1"/>
                </a:solidFill>
                <a:latin typeface="+mj-ea"/>
                <a:ea typeface="+mj-ea"/>
              </a:endParaRPr>
            </a:p>
          </p:txBody>
        </p:sp>
        <p:grpSp>
          <p:nvGrpSpPr>
            <p:cNvPr id="8" name="组合 7"/>
            <p:cNvGrpSpPr/>
            <p:nvPr/>
          </p:nvGrpSpPr>
          <p:grpSpPr>
            <a:xfrm>
              <a:off x="3672" y="3421"/>
              <a:ext cx="847" cy="1622"/>
              <a:chOff x="1435" y="3345"/>
              <a:chExt cx="760" cy="670"/>
            </a:xfrm>
          </p:grpSpPr>
          <p:cxnSp>
            <p:nvCxnSpPr>
              <p:cNvPr id="9" name="直接连接符 8"/>
              <p:cNvCxnSpPr/>
              <p:nvPr>
                <p:custDataLst>
                  <p:tags r:id="rId5"/>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custDataLst>
                  <p:tags r:id="rId6"/>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11" name="矩形 10"/>
            <p:cNvSpPr/>
            <p:nvPr>
              <p:custDataLst>
                <p:tags r:id="rId7"/>
              </p:custDataLst>
            </p:nvPr>
          </p:nvSpPr>
          <p:spPr>
            <a:xfrm>
              <a:off x="3413" y="3084"/>
              <a:ext cx="1305" cy="337"/>
            </a:xfrm>
            <a:prstGeom prst="rect">
              <a:avLst/>
            </a:prstGeom>
          </p:spPr>
          <p:txBody>
            <a:bodyPr wrap="square">
              <a:spAutoFit/>
            </a:bodyPr>
            <a:lstStyle/>
            <a:p>
              <a:pPr algn="ctr"/>
              <a:r>
                <a:rPr lang="zh-CN" altLang="en-US" sz="800">
                  <a:solidFill>
                    <a:schemeClr val="accent1"/>
                  </a:solidFill>
                  <a:latin typeface="+mj-ea"/>
                  <a:ea typeface="+mj-ea"/>
                </a:rPr>
                <a:t>甘肃省</a:t>
              </a:r>
              <a:endParaRPr lang="zh-CN" altLang="en-US" sz="800">
                <a:solidFill>
                  <a:schemeClr val="accent1"/>
                </a:solidFill>
                <a:latin typeface="+mj-ea"/>
                <a:ea typeface="+mj-ea"/>
              </a:endParaRPr>
            </a:p>
          </p:txBody>
        </p:sp>
        <p:grpSp>
          <p:nvGrpSpPr>
            <p:cNvPr id="12" name="组合 11"/>
            <p:cNvGrpSpPr/>
            <p:nvPr/>
          </p:nvGrpSpPr>
          <p:grpSpPr>
            <a:xfrm flipH="1">
              <a:off x="4949" y="2673"/>
              <a:ext cx="1054" cy="2470"/>
              <a:chOff x="1435" y="3345"/>
              <a:chExt cx="760" cy="670"/>
            </a:xfrm>
          </p:grpSpPr>
          <p:cxnSp>
            <p:nvCxnSpPr>
              <p:cNvPr id="13" name="直接连接符 12"/>
              <p:cNvCxnSpPr/>
              <p:nvPr>
                <p:custDataLst>
                  <p:tags r:id="rId8"/>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4" name="直接连接符 13"/>
              <p:cNvCxnSpPr/>
              <p:nvPr>
                <p:custDataLst>
                  <p:tags r:id="rId9"/>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15" name="矩形 14"/>
            <p:cNvSpPr/>
            <p:nvPr>
              <p:custDataLst>
                <p:tags r:id="rId10"/>
              </p:custDataLst>
            </p:nvPr>
          </p:nvSpPr>
          <p:spPr>
            <a:xfrm>
              <a:off x="4824" y="2142"/>
              <a:ext cx="1305" cy="531"/>
            </a:xfrm>
            <a:prstGeom prst="rect">
              <a:avLst/>
            </a:prstGeom>
          </p:spPr>
          <p:txBody>
            <a:bodyPr wrap="square">
              <a:spAutoFit/>
            </a:bodyPr>
            <a:lstStyle/>
            <a:p>
              <a:pPr algn="ctr"/>
              <a:r>
                <a:rPr lang="zh-CN" altLang="en-US" sz="800">
                  <a:solidFill>
                    <a:schemeClr val="accent1"/>
                  </a:solidFill>
                  <a:latin typeface="+mj-ea"/>
                  <a:ea typeface="+mj-ea"/>
                </a:rPr>
                <a:t>宁夏回族</a:t>
              </a:r>
              <a:endParaRPr lang="zh-CN" altLang="en-US" sz="800">
                <a:solidFill>
                  <a:schemeClr val="accent1"/>
                </a:solidFill>
                <a:latin typeface="+mj-ea"/>
                <a:ea typeface="+mj-ea"/>
              </a:endParaRPr>
            </a:p>
            <a:p>
              <a:pPr algn="ctr"/>
              <a:r>
                <a:rPr lang="zh-CN" altLang="en-US" sz="800">
                  <a:solidFill>
                    <a:schemeClr val="accent1"/>
                  </a:solidFill>
                  <a:latin typeface="+mj-ea"/>
                  <a:ea typeface="+mj-ea"/>
                </a:rPr>
                <a:t>自治区</a:t>
              </a:r>
              <a:endParaRPr lang="zh-CN" altLang="en-US" sz="800">
                <a:solidFill>
                  <a:schemeClr val="accent1"/>
                </a:solidFill>
                <a:latin typeface="+mj-ea"/>
                <a:ea typeface="+mj-ea"/>
              </a:endParaRPr>
            </a:p>
          </p:txBody>
        </p:sp>
        <p:grpSp>
          <p:nvGrpSpPr>
            <p:cNvPr id="16" name="组合 15"/>
            <p:cNvGrpSpPr/>
            <p:nvPr/>
          </p:nvGrpSpPr>
          <p:grpSpPr>
            <a:xfrm flipH="1">
              <a:off x="6415" y="1942"/>
              <a:ext cx="1173" cy="2021"/>
              <a:chOff x="1435" y="3345"/>
              <a:chExt cx="760" cy="670"/>
            </a:xfrm>
          </p:grpSpPr>
          <p:cxnSp>
            <p:nvCxnSpPr>
              <p:cNvPr id="17" name="直接连接符 16"/>
              <p:cNvCxnSpPr/>
              <p:nvPr>
                <p:custDataLst>
                  <p:tags r:id="rId11"/>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2"/>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19" name="矩形 18"/>
            <p:cNvSpPr/>
            <p:nvPr>
              <p:custDataLst>
                <p:tags r:id="rId13"/>
              </p:custDataLst>
            </p:nvPr>
          </p:nvSpPr>
          <p:spPr>
            <a:xfrm>
              <a:off x="6343" y="1411"/>
              <a:ext cx="1305" cy="531"/>
            </a:xfrm>
            <a:prstGeom prst="rect">
              <a:avLst/>
            </a:prstGeom>
          </p:spPr>
          <p:txBody>
            <a:bodyPr wrap="square">
              <a:spAutoFit/>
            </a:bodyPr>
            <a:lstStyle/>
            <a:p>
              <a:pPr algn="ctr"/>
              <a:r>
                <a:rPr lang="zh-CN" altLang="en-US" sz="800">
                  <a:solidFill>
                    <a:schemeClr val="accent1"/>
                  </a:solidFill>
                  <a:latin typeface="+mj-ea"/>
                  <a:ea typeface="+mj-ea"/>
                </a:rPr>
                <a:t>内蒙古</a:t>
              </a:r>
              <a:endParaRPr lang="zh-CN" altLang="en-US" sz="800">
                <a:solidFill>
                  <a:schemeClr val="accent1"/>
                </a:solidFill>
                <a:latin typeface="+mj-ea"/>
                <a:ea typeface="+mj-ea"/>
              </a:endParaRPr>
            </a:p>
            <a:p>
              <a:pPr algn="ctr"/>
              <a:r>
                <a:rPr lang="zh-CN" altLang="en-US" sz="800">
                  <a:solidFill>
                    <a:schemeClr val="accent1"/>
                  </a:solidFill>
                  <a:latin typeface="+mj-ea"/>
                  <a:ea typeface="+mj-ea"/>
                </a:rPr>
                <a:t>自治区</a:t>
              </a:r>
              <a:endParaRPr lang="zh-CN" altLang="en-US" sz="800">
                <a:solidFill>
                  <a:schemeClr val="accent1"/>
                </a:solidFill>
                <a:latin typeface="+mj-ea"/>
                <a:ea typeface="+mj-ea"/>
              </a:endParaRPr>
            </a:p>
          </p:txBody>
        </p:sp>
        <p:grpSp>
          <p:nvGrpSpPr>
            <p:cNvPr id="20" name="组合 19"/>
            <p:cNvGrpSpPr/>
            <p:nvPr/>
          </p:nvGrpSpPr>
          <p:grpSpPr>
            <a:xfrm flipH="1" flipV="1">
              <a:off x="6689" y="6373"/>
              <a:ext cx="1352" cy="438"/>
              <a:chOff x="1435" y="3345"/>
              <a:chExt cx="760" cy="670"/>
            </a:xfrm>
          </p:grpSpPr>
          <p:cxnSp>
            <p:nvCxnSpPr>
              <p:cNvPr id="21" name="直接连接符 20"/>
              <p:cNvCxnSpPr/>
              <p:nvPr>
                <p:custDataLst>
                  <p:tags r:id="rId14"/>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p:nvPr>
                <p:custDataLst>
                  <p:tags r:id="rId15"/>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23" name="矩形 22"/>
            <p:cNvSpPr/>
            <p:nvPr>
              <p:custDataLst>
                <p:tags r:id="rId16"/>
              </p:custDataLst>
            </p:nvPr>
          </p:nvSpPr>
          <p:spPr>
            <a:xfrm>
              <a:off x="7045" y="6475"/>
              <a:ext cx="926" cy="337"/>
            </a:xfrm>
            <a:prstGeom prst="rect">
              <a:avLst/>
            </a:prstGeom>
          </p:spPr>
          <p:txBody>
            <a:bodyPr wrap="square">
              <a:spAutoFit/>
            </a:bodyPr>
            <a:lstStyle/>
            <a:p>
              <a:pPr algn="ctr"/>
              <a:r>
                <a:rPr lang="zh-CN" altLang="en-US" sz="800">
                  <a:solidFill>
                    <a:schemeClr val="accent1"/>
                  </a:solidFill>
                  <a:latin typeface="+mj-ea"/>
                  <a:ea typeface="+mj-ea"/>
                </a:rPr>
                <a:t>浙江省</a:t>
              </a:r>
              <a:endParaRPr lang="zh-CN" altLang="en-US" sz="800">
                <a:solidFill>
                  <a:schemeClr val="accent1"/>
                </a:solidFill>
                <a:latin typeface="+mj-ea"/>
                <a:ea typeface="+mj-ea"/>
              </a:endParaRPr>
            </a:p>
          </p:txBody>
        </p:sp>
        <p:grpSp>
          <p:nvGrpSpPr>
            <p:cNvPr id="24" name="组合 23"/>
            <p:cNvGrpSpPr/>
            <p:nvPr/>
          </p:nvGrpSpPr>
          <p:grpSpPr>
            <a:xfrm flipH="1">
              <a:off x="6619" y="5382"/>
              <a:ext cx="1352" cy="460"/>
              <a:chOff x="1435" y="3345"/>
              <a:chExt cx="760" cy="670"/>
            </a:xfrm>
          </p:grpSpPr>
          <p:cxnSp>
            <p:nvCxnSpPr>
              <p:cNvPr id="25" name="直接连接符 24"/>
              <p:cNvCxnSpPr/>
              <p:nvPr>
                <p:custDataLst>
                  <p:tags r:id="rId17"/>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26" name="直接连接符 25"/>
              <p:cNvCxnSpPr/>
              <p:nvPr>
                <p:custDataLst>
                  <p:tags r:id="rId18"/>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sp>
          <p:nvSpPr>
            <p:cNvPr id="27" name="矩形 26"/>
            <p:cNvSpPr/>
            <p:nvPr>
              <p:custDataLst>
                <p:tags r:id="rId19"/>
              </p:custDataLst>
            </p:nvPr>
          </p:nvSpPr>
          <p:spPr>
            <a:xfrm>
              <a:off x="7045" y="5045"/>
              <a:ext cx="926" cy="337"/>
            </a:xfrm>
            <a:prstGeom prst="rect">
              <a:avLst/>
            </a:prstGeom>
          </p:spPr>
          <p:txBody>
            <a:bodyPr wrap="square">
              <a:spAutoFit/>
            </a:bodyPr>
            <a:lstStyle/>
            <a:p>
              <a:pPr algn="ctr"/>
              <a:r>
                <a:rPr lang="zh-CN" altLang="en-US" sz="800">
                  <a:solidFill>
                    <a:schemeClr val="accent1"/>
                  </a:solidFill>
                  <a:latin typeface="+mj-ea"/>
                  <a:ea typeface="+mj-ea"/>
                </a:rPr>
                <a:t>江苏省</a:t>
              </a:r>
              <a:endParaRPr lang="zh-CN" altLang="en-US" sz="800">
                <a:solidFill>
                  <a:schemeClr val="accent1"/>
                </a:solidFill>
                <a:latin typeface="+mj-ea"/>
                <a:ea typeface="+mj-ea"/>
              </a:endParaRPr>
            </a:p>
          </p:txBody>
        </p:sp>
        <p:sp>
          <p:nvSpPr>
            <p:cNvPr id="28" name="矩形 27"/>
            <p:cNvSpPr/>
            <p:nvPr>
              <p:custDataLst>
                <p:tags r:id="rId20"/>
              </p:custDataLst>
            </p:nvPr>
          </p:nvSpPr>
          <p:spPr>
            <a:xfrm>
              <a:off x="7045" y="5760"/>
              <a:ext cx="926" cy="337"/>
            </a:xfrm>
            <a:prstGeom prst="rect">
              <a:avLst/>
            </a:prstGeom>
          </p:spPr>
          <p:txBody>
            <a:bodyPr wrap="square">
              <a:spAutoFit/>
            </a:bodyPr>
            <a:lstStyle/>
            <a:p>
              <a:pPr algn="ctr"/>
              <a:r>
                <a:rPr lang="zh-CN" altLang="en-US" sz="800">
                  <a:solidFill>
                    <a:schemeClr val="accent1"/>
                  </a:solidFill>
                  <a:latin typeface="+mj-ea"/>
                  <a:ea typeface="+mj-ea"/>
                </a:rPr>
                <a:t>上海市</a:t>
              </a:r>
              <a:endParaRPr lang="zh-CN" altLang="en-US" sz="800">
                <a:solidFill>
                  <a:schemeClr val="accent1"/>
                </a:solidFill>
                <a:latin typeface="+mj-ea"/>
                <a:ea typeface="+mj-ea"/>
              </a:endParaRPr>
            </a:p>
          </p:txBody>
        </p:sp>
        <p:grpSp>
          <p:nvGrpSpPr>
            <p:cNvPr id="29" name="组合 28"/>
            <p:cNvGrpSpPr/>
            <p:nvPr/>
          </p:nvGrpSpPr>
          <p:grpSpPr>
            <a:xfrm>
              <a:off x="5637" y="5473"/>
              <a:ext cx="659" cy="480"/>
              <a:chOff x="1435" y="3345"/>
              <a:chExt cx="760" cy="670"/>
            </a:xfrm>
          </p:grpSpPr>
          <p:cxnSp>
            <p:nvCxnSpPr>
              <p:cNvPr id="30" name="直接连接符 29"/>
              <p:cNvCxnSpPr/>
              <p:nvPr>
                <p:custDataLst>
                  <p:tags r:id="rId21"/>
                </p:custDataLst>
              </p:nvPr>
            </p:nvCxnSpPr>
            <p:spPr>
              <a:xfrm flipV="1">
                <a:off x="2195" y="3345"/>
                <a:ext cx="0" cy="67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p:nvPr>
                <p:custDataLst>
                  <p:tags r:id="rId22"/>
                </p:custDataLst>
              </p:nvPr>
            </p:nvCxnSpPr>
            <p:spPr>
              <a:xfrm flipH="1">
                <a:off x="1435" y="3345"/>
                <a:ext cx="76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grpSp>
        <p:cxnSp>
          <p:nvCxnSpPr>
            <p:cNvPr id="35" name="直接连接符 34"/>
            <p:cNvCxnSpPr/>
            <p:nvPr/>
          </p:nvCxnSpPr>
          <p:spPr>
            <a:xfrm>
              <a:off x="6829" y="6073"/>
              <a:ext cx="1190" cy="0"/>
            </a:xfrm>
            <a:prstGeom prst="line">
              <a:avLst/>
            </a:prstGeom>
            <a:ln>
              <a:solidFill>
                <a:schemeClr val="accent1">
                  <a:lumMod val="60000"/>
                  <a:lumOff val="40000"/>
                </a:schemeClr>
              </a:solidFill>
            </a:ln>
          </p:spPr>
          <p:style>
            <a:lnRef idx="2">
              <a:schemeClr val="accent1"/>
            </a:lnRef>
            <a:fillRef idx="0">
              <a:srgbClr val="FFFFFF"/>
            </a:fillRef>
            <a:effectRef idx="0">
              <a:srgbClr val="FFFFFF"/>
            </a:effectRef>
            <a:fontRef idx="minor">
              <a:schemeClr val="tx1"/>
            </a:fontRef>
          </p:style>
        </p:cxnSp>
        <p:sp>
          <p:nvSpPr>
            <p:cNvPr id="36" name="矩形 35"/>
            <p:cNvSpPr/>
            <p:nvPr>
              <p:custDataLst>
                <p:tags r:id="rId23"/>
              </p:custDataLst>
            </p:nvPr>
          </p:nvSpPr>
          <p:spPr>
            <a:xfrm>
              <a:off x="5489" y="5136"/>
              <a:ext cx="926" cy="337"/>
            </a:xfrm>
            <a:prstGeom prst="rect">
              <a:avLst/>
            </a:prstGeom>
          </p:spPr>
          <p:txBody>
            <a:bodyPr wrap="square">
              <a:spAutoFit/>
            </a:bodyPr>
            <a:lstStyle/>
            <a:p>
              <a:pPr algn="ctr"/>
              <a:r>
                <a:rPr lang="zh-CN" altLang="en-US" sz="800">
                  <a:solidFill>
                    <a:schemeClr val="accent1"/>
                  </a:solidFill>
                  <a:latin typeface="+mj-ea"/>
                  <a:ea typeface="+mj-ea"/>
                </a:rPr>
                <a:t>安徽省</a:t>
              </a:r>
              <a:endParaRPr lang="zh-CN" altLang="en-US" sz="800">
                <a:solidFill>
                  <a:schemeClr val="accent1"/>
                </a:solidFill>
                <a:latin typeface="+mj-ea"/>
                <a:ea typeface="+mj-ea"/>
              </a:endParaRPr>
            </a:p>
          </p:txBody>
        </p:sp>
        <p:sp>
          <p:nvSpPr>
            <p:cNvPr id="38" name="矩形 37"/>
            <p:cNvSpPr/>
            <p:nvPr/>
          </p:nvSpPr>
          <p:spPr>
            <a:xfrm>
              <a:off x="5489" y="4941"/>
              <a:ext cx="2772" cy="2158"/>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矩形 38"/>
            <p:cNvSpPr/>
            <p:nvPr>
              <p:custDataLst>
                <p:tags r:id="rId24"/>
              </p:custDataLst>
            </p:nvPr>
          </p:nvSpPr>
          <p:spPr>
            <a:xfrm>
              <a:off x="940" y="1342"/>
              <a:ext cx="6854" cy="2339"/>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3" name="矩形 42"/>
          <p:cNvSpPr/>
          <p:nvPr>
            <p:custDataLst>
              <p:tags r:id="rId25"/>
            </p:custDataLst>
          </p:nvPr>
        </p:nvSpPr>
        <p:spPr>
          <a:xfrm>
            <a:off x="5840095" y="1648460"/>
            <a:ext cx="3027680" cy="3041015"/>
          </a:xfrm>
          <a:prstGeom prst="rect">
            <a:avLst/>
          </a:prstGeom>
        </p:spPr>
        <p:txBody>
          <a:bodyPr wrap="square">
            <a:spAutoFit/>
          </a:bodyPr>
          <a:lstStyle/>
          <a:p>
            <a:pPr marL="171450" indent="-171450">
              <a:lnSpc>
                <a:spcPct val="140000"/>
              </a:lnSpc>
              <a:spcBef>
                <a:spcPts val="600"/>
              </a:spcBef>
              <a:buFont typeface="Arial" panose="020B0604020202020204" pitchFamily="34" charset="0"/>
              <a:buChar char="•"/>
            </a:pPr>
            <a:r>
              <a:rPr lang="zh-CN" altLang="en-US" sz="1050" b="1" dirty="0">
                <a:solidFill>
                  <a:schemeClr val="tx1">
                    <a:lumMod val="50000"/>
                    <a:lumOff val="50000"/>
                  </a:schemeClr>
                </a:solidFill>
              </a:rPr>
              <a:t>地区分布：</a:t>
            </a:r>
            <a:endParaRPr lang="zh-CN" altLang="en-US" sz="1050" b="1" dirty="0">
              <a:solidFill>
                <a:schemeClr val="tx1">
                  <a:lumMod val="50000"/>
                  <a:lumOff val="50000"/>
                </a:schemeClr>
              </a:solidFill>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rPr>
              <a:t>      [</a:t>
            </a:r>
            <a:r>
              <a:rPr lang="zh-CN" altLang="en-US" sz="1050" dirty="0">
                <a:solidFill>
                  <a:schemeClr val="tx1">
                    <a:lumMod val="50000"/>
                    <a:lumOff val="50000"/>
                  </a:schemeClr>
                </a:solidFill>
              </a:rPr>
              <a:t>东部地区</a:t>
            </a:r>
            <a:r>
              <a:rPr lang="en-US" altLang="zh-CN" sz="1050" dirty="0">
                <a:solidFill>
                  <a:schemeClr val="tx1">
                    <a:lumMod val="50000"/>
                    <a:lumOff val="50000"/>
                  </a:schemeClr>
                </a:solidFill>
              </a:rPr>
              <a:t>] </a:t>
            </a:r>
            <a:r>
              <a:rPr lang="zh-CN" altLang="en-US" sz="1050" dirty="0">
                <a:solidFill>
                  <a:schemeClr val="tx1">
                    <a:lumMod val="50000"/>
                    <a:lumOff val="50000"/>
                  </a:schemeClr>
                </a:solidFill>
              </a:rPr>
              <a:t>上海市、浙江省、江苏省、安徽省</a:t>
            </a:r>
            <a:endParaRPr lang="zh-CN" altLang="en-US" sz="1050" dirty="0">
              <a:solidFill>
                <a:schemeClr val="tx1">
                  <a:lumMod val="50000"/>
                  <a:lumOff val="50000"/>
                </a:schemeClr>
              </a:solidFill>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rPr>
              <a:t>      [</a:t>
            </a:r>
            <a:r>
              <a:rPr lang="zh-CN" altLang="en-US" sz="1050" dirty="0">
                <a:solidFill>
                  <a:schemeClr val="tx1">
                    <a:lumMod val="50000"/>
                    <a:lumOff val="50000"/>
                  </a:schemeClr>
                </a:solidFill>
              </a:rPr>
              <a:t>西部地区</a:t>
            </a:r>
            <a:r>
              <a:rPr lang="en-US" altLang="zh-CN" sz="1050" dirty="0">
                <a:solidFill>
                  <a:schemeClr val="tx1">
                    <a:lumMod val="50000"/>
                    <a:lumOff val="50000"/>
                  </a:schemeClr>
                </a:solidFill>
              </a:rPr>
              <a:t>] </a:t>
            </a:r>
            <a:r>
              <a:rPr lang="zh-CN" altLang="en-US" sz="1050" dirty="0">
                <a:solidFill>
                  <a:schemeClr val="tx1">
                    <a:lumMod val="50000"/>
                    <a:lumOff val="50000"/>
                  </a:schemeClr>
                </a:solidFill>
              </a:rPr>
              <a:t>内蒙古自治区、宁夏回族自治区、</a:t>
            </a:r>
            <a:endParaRPr lang="zh-CN" altLang="en-US" sz="1050" dirty="0">
              <a:solidFill>
                <a:schemeClr val="tx1">
                  <a:lumMod val="50000"/>
                  <a:lumOff val="50000"/>
                </a:schemeClr>
              </a:solidFill>
            </a:endParaRPr>
          </a:p>
          <a:p>
            <a:pPr indent="0">
              <a:lnSpc>
                <a:spcPct val="140000"/>
              </a:lnSpc>
              <a:spcBef>
                <a:spcPts val="600"/>
              </a:spcBef>
              <a:buFont typeface="Arial" panose="020B0604020202020204" pitchFamily="34" charset="0"/>
              <a:buNone/>
            </a:pPr>
            <a:r>
              <a:rPr lang="zh-CN" altLang="en-US" sz="1050" dirty="0">
                <a:solidFill>
                  <a:schemeClr val="tx1">
                    <a:lumMod val="50000"/>
                    <a:lumOff val="50000"/>
                  </a:schemeClr>
                </a:solidFill>
              </a:rPr>
              <a:t> </a:t>
            </a:r>
            <a:r>
              <a:rPr lang="en-US" altLang="zh-CN" sz="1050" dirty="0">
                <a:solidFill>
                  <a:schemeClr val="tx1">
                    <a:lumMod val="50000"/>
                    <a:lumOff val="50000"/>
                  </a:schemeClr>
                </a:solidFill>
              </a:rPr>
              <a:t>                           </a:t>
            </a:r>
            <a:r>
              <a:rPr lang="zh-CN" altLang="en-US" sz="1050" dirty="0">
                <a:solidFill>
                  <a:schemeClr val="tx1">
                    <a:lumMod val="50000"/>
                    <a:lumOff val="50000"/>
                  </a:schemeClr>
                </a:solidFill>
              </a:rPr>
              <a:t>新疆维吾尔自治区、甘肃省</a:t>
            </a:r>
            <a:endParaRPr lang="en-US" altLang="zh-CN" sz="1050" dirty="0">
              <a:solidFill>
                <a:schemeClr val="tx1">
                  <a:lumMod val="50000"/>
                  <a:lumOff val="50000"/>
                </a:schemeClr>
              </a:solidFill>
            </a:endParaRPr>
          </a:p>
          <a:p>
            <a:pPr marL="171450" indent="-171450">
              <a:lnSpc>
                <a:spcPct val="140000"/>
              </a:lnSpc>
              <a:spcBef>
                <a:spcPts val="600"/>
              </a:spcBef>
              <a:buFont typeface="Arial" panose="020B0604020202020204" pitchFamily="34" charset="0"/>
              <a:buChar char="•"/>
            </a:pPr>
            <a:r>
              <a:rPr lang="zh-CN" altLang="en-US" sz="1050" b="1" dirty="0">
                <a:solidFill>
                  <a:schemeClr val="tx1">
                    <a:lumMod val="50000"/>
                    <a:lumOff val="50000"/>
                  </a:schemeClr>
                </a:solidFill>
                <a:sym typeface="+mn-ea"/>
              </a:rPr>
              <a:t>时间范围：</a:t>
            </a:r>
            <a:endParaRPr lang="zh-CN" altLang="en-US" sz="1050" b="1" dirty="0">
              <a:solidFill>
                <a:schemeClr val="tx1">
                  <a:lumMod val="50000"/>
                  <a:lumOff val="50000"/>
                </a:schemeClr>
              </a:solidFill>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sym typeface="+mn-ea"/>
              </a:rPr>
              <a:t>      2011</a:t>
            </a:r>
            <a:r>
              <a:rPr lang="zh-CN" altLang="en-US" sz="1050" dirty="0">
                <a:solidFill>
                  <a:schemeClr val="tx1">
                    <a:lumMod val="50000"/>
                    <a:lumOff val="50000"/>
                  </a:schemeClr>
                </a:solidFill>
                <a:sym typeface="+mn-ea"/>
              </a:rPr>
              <a:t>年</a:t>
            </a:r>
            <a:r>
              <a:rPr lang="en-US" altLang="zh-CN" sz="1050" dirty="0">
                <a:solidFill>
                  <a:schemeClr val="tx1">
                    <a:lumMod val="50000"/>
                    <a:lumOff val="50000"/>
                  </a:schemeClr>
                </a:solidFill>
                <a:sym typeface="+mn-ea"/>
              </a:rPr>
              <a:t> - 2020</a:t>
            </a:r>
            <a:r>
              <a:rPr lang="zh-CN" altLang="en-US" sz="1050" dirty="0">
                <a:solidFill>
                  <a:schemeClr val="tx1">
                    <a:lumMod val="50000"/>
                    <a:lumOff val="50000"/>
                  </a:schemeClr>
                </a:solidFill>
                <a:sym typeface="+mn-ea"/>
              </a:rPr>
              <a:t>年，年度数据</a:t>
            </a:r>
            <a:endParaRPr lang="zh-CN" altLang="en-US" sz="1050" dirty="0">
              <a:solidFill>
                <a:schemeClr val="tx1">
                  <a:lumMod val="50000"/>
                  <a:lumOff val="50000"/>
                </a:schemeClr>
              </a:solidFill>
              <a:sym typeface="+mn-ea"/>
            </a:endParaRPr>
          </a:p>
          <a:p>
            <a:pPr marL="171450" indent="-171450">
              <a:lnSpc>
                <a:spcPct val="140000"/>
              </a:lnSpc>
              <a:spcBef>
                <a:spcPts val="600"/>
              </a:spcBef>
              <a:buFont typeface="Arial" panose="020B0604020202020204" pitchFamily="34" charset="0"/>
              <a:buChar char="•"/>
            </a:pPr>
            <a:r>
              <a:rPr lang="zh-CN" altLang="en-US" sz="1050" b="1" dirty="0">
                <a:solidFill>
                  <a:schemeClr val="tx1">
                    <a:lumMod val="50000"/>
                    <a:lumOff val="50000"/>
                  </a:schemeClr>
                </a:solidFill>
                <a:sym typeface="+mn-ea"/>
              </a:rPr>
              <a:t>选取变量：</a:t>
            </a:r>
            <a:endParaRPr lang="zh-CN" altLang="en-US" sz="1050" b="1" dirty="0">
              <a:solidFill>
                <a:schemeClr val="tx1">
                  <a:lumMod val="50000"/>
                  <a:lumOff val="50000"/>
                </a:schemeClr>
              </a:solidFill>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sym typeface="+mn-ea"/>
              </a:rPr>
              <a:t>      - </a:t>
            </a:r>
            <a:r>
              <a:rPr lang="zh-CN" altLang="en-US" sz="1050" dirty="0">
                <a:solidFill>
                  <a:schemeClr val="tx1">
                    <a:lumMod val="50000"/>
                    <a:lumOff val="50000"/>
                  </a:schemeClr>
                </a:solidFill>
                <a:sym typeface="+mn-ea"/>
              </a:rPr>
              <a:t>劳动力</a:t>
            </a:r>
            <a:r>
              <a:rPr lang="en-US" altLang="zh-CN" sz="1050" dirty="0">
                <a:solidFill>
                  <a:schemeClr val="tx1">
                    <a:lumMod val="50000"/>
                    <a:lumOff val="50000"/>
                  </a:schemeClr>
                </a:solidFill>
                <a:sym typeface="+mn-ea"/>
              </a:rPr>
              <a:t>                                  - </a:t>
            </a:r>
            <a:r>
              <a:rPr lang="zh-CN" altLang="en-US" sz="1050" dirty="0">
                <a:solidFill>
                  <a:schemeClr val="tx1">
                    <a:lumMod val="50000"/>
                    <a:lumOff val="50000"/>
                  </a:schemeClr>
                </a:solidFill>
                <a:sym typeface="+mn-ea"/>
              </a:rPr>
              <a:t>期望产出</a:t>
            </a:r>
            <a:endParaRPr lang="zh-CN" altLang="en-US" sz="1050" dirty="0">
              <a:solidFill>
                <a:schemeClr val="tx1">
                  <a:lumMod val="50000"/>
                  <a:lumOff val="50000"/>
                </a:schemeClr>
              </a:solidFill>
              <a:sym typeface="+mn-ea"/>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sym typeface="+mn-ea"/>
              </a:rPr>
              <a:t>     - </a:t>
            </a:r>
            <a:r>
              <a:rPr lang="zh-CN" altLang="en-US" sz="1050" dirty="0">
                <a:solidFill>
                  <a:schemeClr val="tx1">
                    <a:lumMod val="50000"/>
                    <a:lumOff val="50000"/>
                  </a:schemeClr>
                </a:solidFill>
                <a:sym typeface="+mn-ea"/>
              </a:rPr>
              <a:t>资本存量</a:t>
            </a:r>
            <a:r>
              <a:rPr lang="en-US" altLang="zh-CN" sz="1050" dirty="0">
                <a:solidFill>
                  <a:schemeClr val="tx1">
                    <a:lumMod val="50000"/>
                    <a:lumOff val="50000"/>
                  </a:schemeClr>
                </a:solidFill>
                <a:sym typeface="+mn-ea"/>
              </a:rPr>
              <a:t>                               - </a:t>
            </a:r>
            <a:r>
              <a:rPr lang="zh-CN" altLang="en-US" sz="1050" dirty="0">
                <a:solidFill>
                  <a:schemeClr val="tx1">
                    <a:lumMod val="50000"/>
                    <a:lumOff val="50000"/>
                  </a:schemeClr>
                </a:solidFill>
                <a:sym typeface="+mn-ea"/>
              </a:rPr>
              <a:t>非期望产出</a:t>
            </a:r>
            <a:endParaRPr lang="zh-CN" altLang="en-US" sz="1050" dirty="0">
              <a:solidFill>
                <a:schemeClr val="tx1">
                  <a:lumMod val="50000"/>
                  <a:lumOff val="50000"/>
                </a:schemeClr>
              </a:solidFill>
              <a:sym typeface="+mn-ea"/>
            </a:endParaRPr>
          </a:p>
          <a:p>
            <a:pPr indent="0">
              <a:lnSpc>
                <a:spcPct val="140000"/>
              </a:lnSpc>
              <a:spcBef>
                <a:spcPts val="600"/>
              </a:spcBef>
              <a:buFont typeface="Arial" panose="020B0604020202020204" pitchFamily="34" charset="0"/>
              <a:buNone/>
            </a:pPr>
            <a:r>
              <a:rPr lang="en-US" altLang="zh-CN" sz="1050" dirty="0">
                <a:solidFill>
                  <a:schemeClr val="tx1">
                    <a:lumMod val="50000"/>
                    <a:lumOff val="50000"/>
                  </a:schemeClr>
                </a:solidFill>
                <a:sym typeface="+mn-ea"/>
              </a:rPr>
              <a:t>     - </a:t>
            </a:r>
            <a:r>
              <a:rPr lang="zh-CN" altLang="en-US" sz="1050" dirty="0">
                <a:solidFill>
                  <a:schemeClr val="tx1">
                    <a:lumMod val="50000"/>
                    <a:lumOff val="50000"/>
                  </a:schemeClr>
                </a:solidFill>
                <a:sym typeface="+mn-ea"/>
              </a:rPr>
              <a:t>能源消耗</a:t>
            </a:r>
            <a:r>
              <a:rPr lang="en-US" altLang="zh-CN" sz="1050" dirty="0">
                <a:solidFill>
                  <a:schemeClr val="tx1">
                    <a:lumMod val="50000"/>
                    <a:lumOff val="50000"/>
                  </a:schemeClr>
                </a:solidFill>
                <a:sym typeface="+mn-ea"/>
              </a:rPr>
              <a:t> </a:t>
            </a:r>
            <a:endParaRPr lang="zh-CN" altLang="en-US" sz="1050" dirty="0">
              <a:solidFill>
                <a:schemeClr val="tx1">
                  <a:lumMod val="50000"/>
                  <a:lumOff val="50000"/>
                </a:schemeClr>
              </a:solidFill>
              <a:sym typeface="+mn-ea"/>
            </a:endParaRPr>
          </a:p>
        </p:txBody>
      </p:sp>
      <p:sp>
        <p:nvSpPr>
          <p:cNvPr id="44" name="矩形 43"/>
          <p:cNvSpPr/>
          <p:nvPr>
            <p:custDataLst>
              <p:tags r:id="rId26"/>
            </p:custDataLst>
          </p:nvPr>
        </p:nvSpPr>
        <p:spPr>
          <a:xfrm>
            <a:off x="5774883" y="1053618"/>
            <a:ext cx="1982375" cy="337185"/>
          </a:xfrm>
          <a:prstGeom prst="rect">
            <a:avLst/>
          </a:prstGeom>
        </p:spPr>
        <p:txBody>
          <a:bodyPr wrap="square">
            <a:spAutoFit/>
          </a:bodyPr>
          <a:lstStyle/>
          <a:p>
            <a:r>
              <a:rPr lang="zh-CN" altLang="en-US" sz="1600" b="1">
                <a:solidFill>
                  <a:schemeClr val="accent1"/>
                </a:solidFill>
                <a:latin typeface="+mj-ea"/>
                <a:ea typeface="+mj-ea"/>
              </a:rPr>
              <a:t>研究样本</a:t>
            </a:r>
            <a:endParaRPr lang="zh-CN" altLang="en-US" sz="1600" b="1">
              <a:solidFill>
                <a:schemeClr val="accent1"/>
              </a:solidFill>
              <a:latin typeface="+mj-ea"/>
              <a:ea typeface="+mj-ea"/>
            </a:endParaRPr>
          </a:p>
        </p:txBody>
      </p:sp>
      <p:cxnSp>
        <p:nvCxnSpPr>
          <p:cNvPr id="47" name="直接连接符 46"/>
          <p:cNvCxnSpPr/>
          <p:nvPr>
            <p:custDataLst>
              <p:tags r:id="rId27"/>
            </p:custDataLst>
          </p:nvPr>
        </p:nvCxnSpPr>
        <p:spPr>
          <a:xfrm>
            <a:off x="5913302" y="1446487"/>
            <a:ext cx="253219"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6"/>
          <p:cNvSpPr txBox="1">
            <a:spLocks noChangeArrowheads="1"/>
          </p:cNvSpPr>
          <p:nvPr>
            <p:custDataLst>
              <p:tags r:id="rId1"/>
            </p:custDataLst>
          </p:nvPr>
        </p:nvSpPr>
        <p:spPr bwMode="auto">
          <a:xfrm>
            <a:off x="415480" y="89664"/>
            <a:ext cx="323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研究方法及</a:t>
            </a:r>
            <a:r>
              <a:rPr lang="zh-CN" altLang="en-US" sz="2000">
                <a:solidFill>
                  <a:schemeClr val="accent1"/>
                </a:solidFill>
                <a:latin typeface="+mj-ea"/>
                <a:ea typeface="+mj-ea"/>
              </a:rPr>
              <a:t>数据：研究数据</a:t>
            </a:r>
            <a:endParaRPr lang="zh-CN" altLang="en-US" sz="2000">
              <a:solidFill>
                <a:schemeClr val="accent1"/>
              </a:solidFill>
              <a:latin typeface="+mj-ea"/>
              <a:ea typeface="+mj-ea"/>
            </a:endParaRPr>
          </a:p>
        </p:txBody>
      </p:sp>
      <p:sp>
        <p:nvSpPr>
          <p:cNvPr id="78" name="矩形 77"/>
          <p:cNvSpPr/>
          <p:nvPr>
            <p:custDataLst>
              <p:tags r:id="rId2"/>
            </p:custDataLst>
          </p:nvPr>
        </p:nvSpPr>
        <p:spPr>
          <a:xfrm>
            <a:off x="415480" y="434379"/>
            <a:ext cx="1493520"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Methods And Data</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9" name="圆角矩形 8"/>
          <p:cNvSpPr/>
          <p:nvPr>
            <p:custDataLst>
              <p:tags r:id="rId3"/>
            </p:custDataLst>
          </p:nvPr>
        </p:nvSpPr>
        <p:spPr>
          <a:xfrm>
            <a:off x="538480" y="3253105"/>
            <a:ext cx="2381250" cy="155638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custDataLst>
              <p:tags r:id="rId4"/>
            </p:custDataLst>
          </p:nvPr>
        </p:nvSpPr>
        <p:spPr>
          <a:xfrm>
            <a:off x="681990" y="3544570"/>
            <a:ext cx="2094865" cy="1139825"/>
          </a:xfrm>
          <a:prstGeom prst="rect">
            <a:avLst/>
          </a:prstGeom>
        </p:spPr>
        <p:txBody>
          <a:bodyPr wrap="square">
            <a:spAutoFit/>
          </a:bodyPr>
          <a:lstStyle/>
          <a:p>
            <a:pPr algn="just">
              <a:lnSpc>
                <a:spcPct val="130000"/>
              </a:lnSpc>
              <a:spcBef>
                <a:spcPts val="600"/>
              </a:spcBef>
            </a:pPr>
            <a:r>
              <a:rPr sz="1050">
                <a:solidFill>
                  <a:schemeClr val="tx1">
                    <a:lumMod val="50000"/>
                    <a:lumOff val="50000"/>
                  </a:schemeClr>
                </a:solidFill>
              </a:rPr>
              <a:t>将按照标准煤换算系数换算成万吨标准煤单位的能源消耗量作为地区一次能源消费指标，数据来源为《中国能源统计年鉴（2015-2020）》</a:t>
            </a:r>
            <a:endParaRPr sz="1050">
              <a:solidFill>
                <a:schemeClr val="tx1">
                  <a:lumMod val="50000"/>
                  <a:lumOff val="50000"/>
                </a:schemeClr>
              </a:solidFill>
            </a:endParaRPr>
          </a:p>
        </p:txBody>
      </p:sp>
      <p:sp>
        <p:nvSpPr>
          <p:cNvPr id="11" name="矩形 10"/>
          <p:cNvSpPr/>
          <p:nvPr>
            <p:custDataLst>
              <p:tags r:id="rId5"/>
            </p:custDataLst>
          </p:nvPr>
        </p:nvSpPr>
        <p:spPr>
          <a:xfrm>
            <a:off x="531495" y="3090545"/>
            <a:ext cx="1026795" cy="343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latin typeface="+mj-ea"/>
                <a:ea typeface="+mj-ea"/>
              </a:rPr>
              <a:t>能源消耗</a:t>
            </a:r>
            <a:endParaRPr lang="zh-CN" altLang="en-US" sz="1600">
              <a:latin typeface="+mj-ea"/>
              <a:ea typeface="+mj-ea"/>
            </a:endParaRPr>
          </a:p>
        </p:txBody>
      </p:sp>
      <p:sp>
        <p:nvSpPr>
          <p:cNvPr id="19" name="圆角矩形 18"/>
          <p:cNvSpPr/>
          <p:nvPr>
            <p:custDataLst>
              <p:tags r:id="rId6"/>
            </p:custDataLst>
          </p:nvPr>
        </p:nvSpPr>
        <p:spPr>
          <a:xfrm>
            <a:off x="6132195" y="3253105"/>
            <a:ext cx="2439670" cy="155638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矩形 19"/>
          <p:cNvSpPr/>
          <p:nvPr>
            <p:custDataLst>
              <p:tags r:id="rId7"/>
            </p:custDataLst>
          </p:nvPr>
        </p:nvSpPr>
        <p:spPr>
          <a:xfrm>
            <a:off x="6252210" y="3544570"/>
            <a:ext cx="2184400" cy="929640"/>
          </a:xfrm>
          <a:prstGeom prst="rect">
            <a:avLst/>
          </a:prstGeom>
        </p:spPr>
        <p:txBody>
          <a:bodyPr wrap="square">
            <a:spAutoFit/>
          </a:bodyPr>
          <a:lstStyle/>
          <a:p>
            <a:pPr algn="just">
              <a:lnSpc>
                <a:spcPct val="130000"/>
              </a:lnSpc>
              <a:spcBef>
                <a:spcPts val="600"/>
              </a:spcBef>
            </a:pPr>
            <a:r>
              <a:rPr sz="1050">
                <a:solidFill>
                  <a:schemeClr val="tx1">
                    <a:lumMod val="50000"/>
                    <a:lumOff val="50000"/>
                  </a:schemeClr>
                </a:solidFill>
              </a:rPr>
              <a:t>本文选择二氧化碳排放量作为非期望产出变量，数据来源为中国碳核算数据库（CEAD）中2011-2020年省级二氧化碳排放量数据。</a:t>
            </a:r>
            <a:endParaRPr sz="1050">
              <a:solidFill>
                <a:schemeClr val="tx1">
                  <a:lumMod val="50000"/>
                  <a:lumOff val="50000"/>
                </a:schemeClr>
              </a:solidFill>
            </a:endParaRPr>
          </a:p>
        </p:txBody>
      </p:sp>
      <p:sp>
        <p:nvSpPr>
          <p:cNvPr id="21" name="矩形 20"/>
          <p:cNvSpPr/>
          <p:nvPr>
            <p:custDataLst>
              <p:tags r:id="rId8"/>
            </p:custDataLst>
          </p:nvPr>
        </p:nvSpPr>
        <p:spPr>
          <a:xfrm>
            <a:off x="6125210" y="3082290"/>
            <a:ext cx="1228090" cy="343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latin typeface="+mj-ea"/>
                <a:ea typeface="+mj-ea"/>
              </a:rPr>
              <a:t>非期望产出</a:t>
            </a:r>
            <a:endParaRPr lang="zh-CN" altLang="en-US" sz="1600">
              <a:latin typeface="+mj-ea"/>
              <a:ea typeface="+mj-ea"/>
            </a:endParaRPr>
          </a:p>
        </p:txBody>
      </p:sp>
      <p:sp>
        <p:nvSpPr>
          <p:cNvPr id="22" name="圆角矩形 21"/>
          <p:cNvSpPr/>
          <p:nvPr>
            <p:custDataLst>
              <p:tags r:id="rId9"/>
            </p:custDataLst>
          </p:nvPr>
        </p:nvSpPr>
        <p:spPr>
          <a:xfrm>
            <a:off x="3362325" y="3253105"/>
            <a:ext cx="2381250" cy="1557020"/>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矩形 22"/>
          <p:cNvSpPr/>
          <p:nvPr>
            <p:custDataLst>
              <p:tags r:id="rId10"/>
            </p:custDataLst>
          </p:nvPr>
        </p:nvSpPr>
        <p:spPr>
          <a:xfrm>
            <a:off x="3505835" y="3544570"/>
            <a:ext cx="2094865" cy="1139825"/>
          </a:xfrm>
          <a:prstGeom prst="rect">
            <a:avLst/>
          </a:prstGeom>
        </p:spPr>
        <p:txBody>
          <a:bodyPr wrap="square">
            <a:spAutoFit/>
          </a:bodyPr>
          <a:lstStyle/>
          <a:p>
            <a:pPr algn="just">
              <a:lnSpc>
                <a:spcPct val="130000"/>
              </a:lnSpc>
              <a:spcBef>
                <a:spcPts val="600"/>
              </a:spcBef>
            </a:pPr>
            <a:r>
              <a:rPr sz="1050">
                <a:solidFill>
                  <a:schemeClr val="tx1">
                    <a:lumMod val="50000"/>
                    <a:lumOff val="50000"/>
                  </a:schemeClr>
                </a:solidFill>
              </a:rPr>
              <a:t>根据国家统计局数据，将2011-2020年地区生产总值（现价）统一调整为以2010年为基期的地区生产总值（不变价），即为各省的年度实际GDP</a:t>
            </a:r>
            <a:endParaRPr sz="1050">
              <a:solidFill>
                <a:schemeClr val="tx1">
                  <a:lumMod val="50000"/>
                  <a:lumOff val="50000"/>
                </a:schemeClr>
              </a:solidFill>
            </a:endParaRPr>
          </a:p>
        </p:txBody>
      </p:sp>
      <p:sp>
        <p:nvSpPr>
          <p:cNvPr id="24" name="矩形 23"/>
          <p:cNvSpPr/>
          <p:nvPr>
            <p:custDataLst>
              <p:tags r:id="rId11"/>
            </p:custDataLst>
          </p:nvPr>
        </p:nvSpPr>
        <p:spPr>
          <a:xfrm>
            <a:off x="3355340" y="3090545"/>
            <a:ext cx="1026795" cy="343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latin typeface="+mj-ea"/>
                <a:ea typeface="+mj-ea"/>
              </a:rPr>
              <a:t>期望产出</a:t>
            </a:r>
            <a:endParaRPr lang="zh-CN" altLang="en-US" sz="1600">
              <a:latin typeface="+mj-ea"/>
              <a:ea typeface="+mj-ea"/>
            </a:endParaRPr>
          </a:p>
        </p:txBody>
      </p:sp>
      <p:sp>
        <p:nvSpPr>
          <p:cNvPr id="26" name="圆角矩形 25"/>
          <p:cNvSpPr/>
          <p:nvPr>
            <p:custDataLst>
              <p:tags r:id="rId12"/>
            </p:custDataLst>
          </p:nvPr>
        </p:nvSpPr>
        <p:spPr>
          <a:xfrm>
            <a:off x="538480" y="1205230"/>
            <a:ext cx="2381250" cy="161861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custDataLst>
              <p:tags r:id="rId13"/>
            </p:custDataLst>
          </p:nvPr>
        </p:nvSpPr>
        <p:spPr>
          <a:xfrm>
            <a:off x="681990" y="1496695"/>
            <a:ext cx="2094865" cy="929640"/>
          </a:xfrm>
          <a:prstGeom prst="rect">
            <a:avLst/>
          </a:prstGeom>
        </p:spPr>
        <p:txBody>
          <a:bodyPr wrap="square">
            <a:spAutoFit/>
          </a:bodyPr>
          <a:lstStyle/>
          <a:p>
            <a:pPr>
              <a:lnSpc>
                <a:spcPct val="130000"/>
              </a:lnSpc>
              <a:spcBef>
                <a:spcPts val="600"/>
              </a:spcBef>
            </a:pPr>
            <a:r>
              <a:rPr lang="en-US" altLang="zh-CN" sz="1050">
                <a:solidFill>
                  <a:schemeClr val="tx1">
                    <a:lumMod val="50000"/>
                    <a:lumOff val="50000"/>
                  </a:schemeClr>
                </a:solidFill>
                <a:sym typeface="+mn-ea"/>
              </a:rPr>
              <a:t>来</a:t>
            </a:r>
            <a:r>
              <a:rPr lang="zh-CN" altLang="en-US" sz="1050">
                <a:solidFill>
                  <a:schemeClr val="tx1">
                    <a:lumMod val="50000"/>
                    <a:lumOff val="50000"/>
                  </a:schemeClr>
                </a:solidFill>
                <a:sym typeface="+mn-ea"/>
              </a:rPr>
              <a:t>源</a:t>
            </a:r>
            <a:r>
              <a:rPr lang="en-US" altLang="zh-CN" sz="1050">
                <a:solidFill>
                  <a:schemeClr val="tx1">
                    <a:lumMod val="50000"/>
                    <a:lumOff val="50000"/>
                  </a:schemeClr>
                </a:solidFill>
                <a:sym typeface="+mn-ea"/>
              </a:rPr>
              <a:t>于《中国统计年鉴》，我们将各年度各地区第一、第二、第三产业从业人员数进行加和，得到全社会各行业从业人员数。</a:t>
            </a:r>
            <a:endParaRPr lang="en-US" altLang="zh-CN" sz="1050">
              <a:solidFill>
                <a:schemeClr val="tx1">
                  <a:lumMod val="50000"/>
                  <a:lumOff val="50000"/>
                </a:schemeClr>
              </a:solidFill>
            </a:endParaRPr>
          </a:p>
        </p:txBody>
      </p:sp>
      <p:sp>
        <p:nvSpPr>
          <p:cNvPr id="28" name="矩形 27"/>
          <p:cNvSpPr/>
          <p:nvPr>
            <p:custDataLst>
              <p:tags r:id="rId14"/>
            </p:custDataLst>
          </p:nvPr>
        </p:nvSpPr>
        <p:spPr>
          <a:xfrm>
            <a:off x="531495" y="1042670"/>
            <a:ext cx="1026795" cy="343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latin typeface="+mj-ea"/>
                <a:ea typeface="+mj-ea"/>
              </a:rPr>
              <a:t>劳动力</a:t>
            </a:r>
            <a:endParaRPr lang="zh-CN" altLang="en-US" sz="1600">
              <a:latin typeface="+mj-ea"/>
              <a:ea typeface="+mj-ea"/>
            </a:endParaRPr>
          </a:p>
        </p:txBody>
      </p:sp>
      <p:sp>
        <p:nvSpPr>
          <p:cNvPr id="29" name="圆角矩形 28"/>
          <p:cNvSpPr/>
          <p:nvPr>
            <p:custDataLst>
              <p:tags r:id="rId15"/>
            </p:custDataLst>
          </p:nvPr>
        </p:nvSpPr>
        <p:spPr>
          <a:xfrm>
            <a:off x="3362325" y="1205230"/>
            <a:ext cx="5209540" cy="161480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0" name="矩形 29"/>
              <p:cNvSpPr/>
              <p:nvPr>
                <p:custDataLst>
                  <p:tags r:id="rId16"/>
                </p:custDataLst>
              </p:nvPr>
            </p:nvSpPr>
            <p:spPr>
              <a:xfrm>
                <a:off x="3505835" y="1496695"/>
                <a:ext cx="4931410" cy="1155065"/>
              </a:xfrm>
              <a:prstGeom prst="rect">
                <a:avLst/>
              </a:prstGeom>
            </p:spPr>
            <p:txBody>
              <a:bodyPr wrap="square">
                <a:spAutoFit/>
              </a:bodyPr>
              <a:lstStyle/>
              <a:p>
                <a:pPr>
                  <a:lnSpc>
                    <a:spcPct val="130000"/>
                  </a:lnSpc>
                  <a:spcBef>
                    <a:spcPts val="600"/>
                  </a:spcBef>
                </a:pPr>
                <a:r>
                  <a:rPr sz="1050">
                    <a:solidFill>
                      <a:schemeClr val="tx1">
                        <a:lumMod val="50000"/>
                        <a:lumOff val="50000"/>
                      </a:schemeClr>
                    </a:solidFill>
                    <a:sym typeface="+mn-ea"/>
                  </a:rPr>
                  <a:t>由于缺少相关数据统计，我们参考单豪杰（2008）《中国资本存量K的再估算:1952～2006年》中使用的永续盘存法进行估算：利用各省份统计年鉴公布的固定资产投资数据</a:t>
                </a:r>
                <a14:m>
                  <m:oMath xmlns:m="http://schemas.openxmlformats.org/officeDocument/2006/math">
                    <m:sSub>
                      <m:sSubPr>
                        <m:ctrlP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𝐼</m:t>
                        </m:r>
                      </m:e>
                      <m: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𝑖</m:t>
                        </m:r>
                      </m:sub>
                    </m:sSub>
                  </m:oMath>
                </a14:m>
                <a:r>
                  <a:rPr sz="1050">
                    <a:solidFill>
                      <a:schemeClr val="tx1">
                        <a:lumMod val="50000"/>
                        <a:lumOff val="50000"/>
                      </a:schemeClr>
                    </a:solidFill>
                    <a:sym typeface="+mn-ea"/>
                  </a:rPr>
                  <a:t>，</a:t>
                </a:r>
                <a:r>
                  <a:rPr lang="zh-CN" sz="1050">
                    <a:solidFill>
                      <a:schemeClr val="tx1">
                        <a:lumMod val="50000"/>
                        <a:lumOff val="50000"/>
                      </a:schemeClr>
                    </a:solidFill>
                    <a:sym typeface="+mn-ea"/>
                  </a:rPr>
                  <a:t>将</a:t>
                </a:r>
                <a:r>
                  <a:rPr sz="1050">
                    <a:solidFill>
                      <a:schemeClr val="tx1">
                        <a:lumMod val="50000"/>
                        <a:lumOff val="50000"/>
                      </a:schemeClr>
                    </a:solidFill>
                    <a:sym typeface="+mn-ea"/>
                  </a:rPr>
                  <a:t>论文计算所得的2006年各省资本存量作为初始值</a:t>
                </a:r>
                <a14:m>
                  <m:oMath xmlns:m="http://schemas.openxmlformats.org/officeDocument/2006/math">
                    <m:sSub>
                      <m:sSubPr>
                        <m:ctrlP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𝐾</m:t>
                        </m:r>
                      </m:e>
                      <m: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𝑖</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2006</m:t>
                        </m:r>
                      </m:sub>
                    </m:sSub>
                  </m:oMath>
                </a14:m>
                <a:r>
                  <a:rPr sz="1050">
                    <a:solidFill>
                      <a:schemeClr val="tx1">
                        <a:lumMod val="50000"/>
                        <a:lumOff val="50000"/>
                      </a:schemeClr>
                    </a:solidFill>
                    <a:sym typeface="+mn-ea"/>
                  </a:rPr>
                  <a:t>, 取折旧率ρ=9.6%，按照</a:t>
                </a:r>
                <a:r>
                  <a:rPr lang="zh-CN" sz="1050">
                    <a:solidFill>
                      <a:schemeClr val="tx1">
                        <a:lumMod val="50000"/>
                        <a:lumOff val="50000"/>
                      </a:schemeClr>
                    </a:solidFill>
                    <a:sym typeface="+mn-ea"/>
                  </a:rPr>
                  <a:t>如下</a:t>
                </a:r>
                <a:r>
                  <a:rPr sz="1050">
                    <a:solidFill>
                      <a:schemeClr val="tx1">
                        <a:lumMod val="50000"/>
                        <a:lumOff val="50000"/>
                      </a:schemeClr>
                    </a:solidFill>
                    <a:sym typeface="+mn-ea"/>
                  </a:rPr>
                  <a:t>递推关系计算得到2011-2020年各省的资本存量。</a:t>
                </a:r>
                <a:endParaRPr sz="1050">
                  <a:solidFill>
                    <a:schemeClr val="tx1">
                      <a:lumMod val="50000"/>
                      <a:lumOff val="50000"/>
                    </a:schemeClr>
                  </a:solidFill>
                  <a:sym typeface="+mn-ea"/>
                </a:endParaRPr>
              </a:p>
              <a:p>
                <a:pPr>
                  <a:lnSpc>
                    <a:spcPct val="130000"/>
                  </a:lnSpc>
                  <a:spcBef>
                    <a:spcPts val="600"/>
                  </a:spcBef>
                </a:pPr>
                <a14:m>
                  <m:oMathPara xmlns:m="http://schemas.openxmlformats.org/officeDocument/2006/math">
                    <m:oMathParaPr>
                      <m:jc m:val="centerGroup"/>
                    </m:oMathParaPr>
                    <m:oMath xmlns:m="http://schemas.openxmlformats.org/officeDocument/2006/math">
                      <m:sSub>
                        <m:sSubPr>
                          <m:ctrlP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𝐾</m:t>
                          </m:r>
                        </m:e>
                        <m: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𝑖</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𝑡</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1</m:t>
                          </m:r>
                        </m:sub>
                      </m:s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1</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𝜌</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sSub>
                        <m:sSubPr>
                          <m:ctrlP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𝐾</m:t>
                          </m:r>
                        </m:e>
                        <m: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𝑖</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𝑡</m:t>
                          </m:r>
                        </m:sub>
                      </m:s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m:t>
                      </m:r>
                      <m:sSub>
                        <m:sSubPr>
                          <m:ctrlP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𝐼</m:t>
                          </m:r>
                        </m:e>
                        <m:sub>
                          <m:r>
                            <a:rPr lang="en-US" sz="1050" i="1">
                              <a:solidFill>
                                <a:schemeClr val="tx1">
                                  <a:lumMod val="50000"/>
                                  <a:lumOff val="50000"/>
                                </a:schemeClr>
                              </a:solidFill>
                              <a:latin typeface="Cambria Math" panose="02040503050406030204" pitchFamily="18" charset="0"/>
                              <a:cs typeface="Cambria Math" panose="02040503050406030204" pitchFamily="18" charset="0"/>
                              <a:sym typeface="+mn-ea"/>
                            </a:rPr>
                            <m:t>𝑖</m:t>
                          </m:r>
                        </m:sub>
                      </m:sSub>
                    </m:oMath>
                  </m:oMathPara>
                </a14:m>
                <a:endParaRPr sz="1050">
                  <a:solidFill>
                    <a:schemeClr val="tx1">
                      <a:lumMod val="50000"/>
                      <a:lumOff val="50000"/>
                    </a:schemeClr>
                  </a:solidFill>
                  <a:sym typeface="+mn-ea"/>
                </a:endParaRPr>
              </a:p>
            </p:txBody>
          </p:sp>
        </mc:Choice>
        <mc:Fallback>
          <p:sp>
            <p:nvSpPr>
              <p:cNvPr id="30" name="矩形 29"/>
              <p:cNvSpPr>
                <a:spLocks noRot="1" noChangeAspect="1" noMove="1" noResize="1" noEditPoints="1" noAdjustHandles="1" noChangeArrowheads="1" noChangeShapeType="1" noTextEdit="1"/>
              </p:cNvSpPr>
              <p:nvPr>
                <p:custDataLst>
                  <p:tags r:id="rId17"/>
                </p:custDataLst>
              </p:nvPr>
            </p:nvSpPr>
            <p:spPr>
              <a:xfrm>
                <a:off x="3505835" y="1496695"/>
                <a:ext cx="4931410" cy="1155065"/>
              </a:xfrm>
              <a:prstGeom prst="rect">
                <a:avLst/>
              </a:prstGeom>
              <a:blipFill rotWithShape="1">
                <a:blip r:embed="rId18"/>
                <a:stretch>
                  <a:fillRect/>
                </a:stretch>
              </a:blipFill>
            </p:spPr>
            <p:txBody>
              <a:bodyPr/>
              <a:lstStyle/>
              <a:p>
                <a:r>
                  <a:rPr lang="zh-CN" altLang="en-US">
                    <a:noFill/>
                  </a:rPr>
                  <a:t> </a:t>
                </a:r>
              </a:p>
            </p:txBody>
          </p:sp>
        </mc:Fallback>
      </mc:AlternateContent>
      <p:sp>
        <p:nvSpPr>
          <p:cNvPr id="31" name="矩形 30"/>
          <p:cNvSpPr/>
          <p:nvPr>
            <p:custDataLst>
              <p:tags r:id="rId19"/>
            </p:custDataLst>
          </p:nvPr>
        </p:nvSpPr>
        <p:spPr>
          <a:xfrm>
            <a:off x="3355340" y="1042670"/>
            <a:ext cx="1216660" cy="343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资本存量</a:t>
            </a:r>
            <a:endParaRPr lang="zh-CN" altLang="en-US" sz="1600" dirty="0">
              <a:latin typeface="+mj-ea"/>
              <a:ea typeface="+mj-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20" name="矩形 19"/>
          <p:cNvSpPr/>
          <p:nvPr/>
        </p:nvSpPr>
        <p:spPr bwMode="auto">
          <a:xfrm>
            <a:off x="2956561" y="2302213"/>
            <a:ext cx="3230880" cy="706755"/>
          </a:xfrm>
          <a:prstGeom prst="rect">
            <a:avLst/>
          </a:prstGeom>
        </p:spPr>
        <p:txBody>
          <a:bodyPr wrap="none">
            <a:spAutoFit/>
          </a:bodyPr>
          <a:lstStyle/>
          <a:p>
            <a:pPr algn="ctr">
              <a:defRPr/>
            </a:pPr>
            <a:r>
              <a:rPr lang="zh-CN" altLang="en-US" sz="4000" kern="100">
                <a:solidFill>
                  <a:schemeClr val="bg1"/>
                </a:solidFill>
                <a:latin typeface="+mj-ea"/>
                <a:ea typeface="+mj-ea"/>
                <a:cs typeface="Times New Roman" panose="02020603050405020304" pitchFamily="18" charset="0"/>
              </a:rPr>
              <a:t>研究成果展示</a:t>
            </a:r>
            <a:endParaRPr lang="zh-CN" altLang="en-US" sz="4000" kern="100">
              <a:solidFill>
                <a:schemeClr val="bg1"/>
              </a:solidFill>
              <a:latin typeface="+mj-ea"/>
              <a:ea typeface="+mj-ea"/>
              <a:cs typeface="Times New Roman" panose="02020603050405020304" pitchFamily="18" charset="0"/>
            </a:endParaRPr>
          </a:p>
        </p:txBody>
      </p:sp>
      <p:sp>
        <p:nvSpPr>
          <p:cNvPr id="22" name="矩形 21"/>
          <p:cNvSpPr/>
          <p:nvPr/>
        </p:nvSpPr>
        <p:spPr>
          <a:xfrm>
            <a:off x="3533775" y="2971165"/>
            <a:ext cx="2101850" cy="213995"/>
          </a:xfrm>
          <a:prstGeom prst="rect">
            <a:avLst/>
          </a:prstGeom>
        </p:spPr>
        <p:txBody>
          <a:bodyPr wrap="square">
            <a:spAutoFit/>
          </a:bodyPr>
          <a:lstStyle/>
          <a:p>
            <a:pPr algn="dist"/>
            <a:r>
              <a:rPr lang="en-US" altLang="zh-CN" sz="800">
                <a:solidFill>
                  <a:schemeClr val="bg1"/>
                </a:solidFill>
                <a:latin typeface="+mj-lt"/>
              </a:rPr>
              <a:t>RESEARCH RESULTS </a:t>
            </a:r>
            <a:endParaRPr lang="en-US" altLang="zh-CN" sz="800">
              <a:solidFill>
                <a:schemeClr val="bg1"/>
              </a:solidFill>
              <a:latin typeface="+mj-lt"/>
            </a:endParaRPr>
          </a:p>
        </p:txBody>
      </p:sp>
      <p:cxnSp>
        <p:nvCxnSpPr>
          <p:cNvPr id="24" name="直接连接符 23"/>
          <p:cNvCxnSpPr/>
          <p:nvPr/>
        </p:nvCxnSpPr>
        <p:spPr>
          <a:xfrm>
            <a:off x="3349690" y="3432640"/>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3996000" y="3661882"/>
            <a:ext cx="1152000" cy="251847"/>
          </a:xfrm>
          <a:prstGeom prst="roundRect">
            <a:avLst>
              <a:gd name="adj" fmla="val 50000"/>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mj-lt"/>
              </a:rPr>
              <a:t>PART THREE</a:t>
            </a:r>
            <a:endParaRPr lang="zh-CN" altLang="en-US" sz="1100">
              <a:latin typeface="+mj-lt"/>
            </a:endParaRPr>
          </a:p>
        </p:txBody>
      </p:sp>
      <p:sp>
        <p:nvSpPr>
          <p:cNvPr id="3" name="椭圆 2"/>
          <p:cNvSpPr/>
          <p:nvPr/>
        </p:nvSpPr>
        <p:spPr>
          <a:xfrm>
            <a:off x="4101638" y="1275613"/>
            <a:ext cx="940724" cy="940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4400">
                <a:solidFill>
                  <a:schemeClr val="accent1"/>
                </a:solidFill>
                <a:latin typeface="方正清刻本悦宋简体"/>
                <a:ea typeface="方正清刻本悦宋简体"/>
              </a:rPr>
              <a:t>叁</a:t>
            </a:r>
            <a:endParaRPr lang="zh-CN" altLang="en-US" sz="4400">
              <a:solidFill>
                <a:schemeClr val="accent1"/>
              </a:solidFill>
              <a:latin typeface="方正清刻本悦宋简体"/>
              <a:ea typeface="方正清刻本悦宋简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研究成果展示：碳影子价格</a:t>
            </a:r>
            <a:endParaRPr lang="zh-CN" altLang="en-US" sz="2000" dirty="0">
              <a:solidFill>
                <a:schemeClr val="accent1"/>
              </a:solidFill>
              <a:latin typeface="+mj-ea"/>
              <a:ea typeface="+mj-ea"/>
            </a:endParaRPr>
          </a:p>
        </p:txBody>
      </p:sp>
      <p:sp>
        <p:nvSpPr>
          <p:cNvPr id="42" name="矩形 41"/>
          <p:cNvSpPr/>
          <p:nvPr/>
        </p:nvSpPr>
        <p:spPr>
          <a:xfrm>
            <a:off x="415480" y="434379"/>
            <a:ext cx="958215"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Results</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5" name="矩形 4"/>
          <p:cNvSpPr/>
          <p:nvPr/>
        </p:nvSpPr>
        <p:spPr bwMode="auto">
          <a:xfrm>
            <a:off x="821031" y="1439773"/>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spcBef>
                <a:spcPct val="0"/>
              </a:spcBef>
              <a:spcAft>
                <a:spcPct val="0"/>
              </a:spcAft>
            </a:pPr>
            <a:r>
              <a:rPr lang="zh-CN" altLang="en-US" sz="1400" dirty="0">
                <a:solidFill>
                  <a:schemeClr val="accent1"/>
                </a:solidFill>
                <a:latin typeface="+mj-ea"/>
                <a:ea typeface="+mj-ea"/>
              </a:rPr>
              <a:t>使用随机前沿分析方法</a:t>
            </a:r>
            <a:endParaRPr lang="en-US" altLang="zh-CN" sz="1400" dirty="0">
              <a:solidFill>
                <a:schemeClr val="accent1"/>
              </a:solidFill>
              <a:latin typeface="+mj-ea"/>
              <a:ea typeface="+mj-ea"/>
            </a:endParaRPr>
          </a:p>
          <a:p>
            <a:pPr algn="ctr" fontAlgn="base">
              <a:spcBef>
                <a:spcPct val="0"/>
              </a:spcBef>
              <a:spcAft>
                <a:spcPct val="0"/>
              </a:spcAft>
            </a:pPr>
            <a:r>
              <a:rPr lang="zh-CN" altLang="en-US" sz="1400" dirty="0">
                <a:solidFill>
                  <a:schemeClr val="accent1"/>
                </a:solidFill>
                <a:latin typeface="+mj-ea"/>
                <a:ea typeface="+mj-ea"/>
              </a:rPr>
              <a:t>估计碳影子价格的系数</a:t>
            </a:r>
            <a:endParaRPr lang="zh-CN" altLang="en-US" sz="1400" dirty="0">
              <a:solidFill>
                <a:schemeClr val="accent1"/>
              </a:solidFill>
              <a:latin typeface="+mj-ea"/>
              <a:ea typeface="+mj-ea"/>
            </a:endParaRPr>
          </a:p>
        </p:txBody>
      </p:sp>
      <p:sp>
        <p:nvSpPr>
          <p:cNvPr id="8" name="矩形 7"/>
          <p:cNvSpPr/>
          <p:nvPr/>
        </p:nvSpPr>
        <p:spPr bwMode="auto">
          <a:xfrm>
            <a:off x="997178" y="343196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spcBef>
                <a:spcPct val="0"/>
              </a:spcBef>
              <a:spcAft>
                <a:spcPct val="0"/>
              </a:spcAft>
            </a:pPr>
            <a:r>
              <a:rPr lang="zh-CN" altLang="en-US" sz="1400" dirty="0">
                <a:solidFill>
                  <a:schemeClr val="accent1"/>
                </a:solidFill>
                <a:latin typeface="+mj-ea"/>
                <a:ea typeface="+mj-ea"/>
              </a:rPr>
              <a:t>使用估计出的系数</a:t>
            </a:r>
            <a:endParaRPr lang="en-US" altLang="zh-CN" sz="1400" dirty="0">
              <a:solidFill>
                <a:schemeClr val="accent1"/>
              </a:solidFill>
              <a:latin typeface="+mj-ea"/>
              <a:ea typeface="+mj-ea"/>
            </a:endParaRPr>
          </a:p>
          <a:p>
            <a:pPr algn="ctr" fontAlgn="base">
              <a:spcBef>
                <a:spcPct val="0"/>
              </a:spcBef>
              <a:spcAft>
                <a:spcPct val="0"/>
              </a:spcAft>
            </a:pPr>
            <a:r>
              <a:rPr lang="zh-CN" altLang="en-US" sz="1400" dirty="0">
                <a:solidFill>
                  <a:schemeClr val="accent1"/>
                </a:solidFill>
                <a:latin typeface="+mj-ea"/>
                <a:ea typeface="+mj-ea"/>
              </a:rPr>
              <a:t>计算碳影子价格</a:t>
            </a:r>
            <a:endParaRPr lang="zh-CN" altLang="en-US" sz="1400" dirty="0">
              <a:solidFill>
                <a:schemeClr val="accent1"/>
              </a:solidFill>
              <a:latin typeface="+mj-ea"/>
              <a:ea typeface="+mj-ea"/>
            </a:endParaRPr>
          </a:p>
        </p:txBody>
      </p:sp>
      <p:pic>
        <p:nvPicPr>
          <p:cNvPr id="10" name="图片 9"/>
          <p:cNvPicPr>
            <a:picLocks noChangeAspect="1"/>
          </p:cNvPicPr>
          <p:nvPr/>
        </p:nvPicPr>
        <p:blipFill>
          <a:blip r:embed="rId1"/>
          <a:stretch>
            <a:fillRect/>
          </a:stretch>
        </p:blipFill>
        <p:spPr>
          <a:xfrm>
            <a:off x="3392170" y="3571875"/>
            <a:ext cx="5388610" cy="1253490"/>
          </a:xfrm>
          <a:prstGeom prst="rect">
            <a:avLst/>
          </a:prstGeom>
        </p:spPr>
      </p:pic>
      <p:cxnSp>
        <p:nvCxnSpPr>
          <p:cNvPr id="17" name="直线箭头连接符 16"/>
          <p:cNvCxnSpPr/>
          <p:nvPr/>
        </p:nvCxnSpPr>
        <p:spPr>
          <a:xfrm>
            <a:off x="1807657" y="2113251"/>
            <a:ext cx="0" cy="118554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矩形 17"/>
          <p:cNvSpPr/>
          <p:nvPr>
            <p:custDataLst>
              <p:tags r:id="rId2"/>
            </p:custDataLst>
          </p:nvPr>
        </p:nvSpPr>
        <p:spPr>
          <a:xfrm>
            <a:off x="3392360" y="930480"/>
            <a:ext cx="3507105" cy="246221"/>
          </a:xfrm>
          <a:prstGeom prst="rect">
            <a:avLst/>
          </a:prstGeom>
        </p:spPr>
        <p:txBody>
          <a:bodyPr wrap="square">
            <a:spAutoFit/>
          </a:bodyPr>
          <a:lstStyle/>
          <a:p>
            <a:r>
              <a:rPr lang="zh-CN" altLang="en-US" sz="1000" b="1" dirty="0">
                <a:solidFill>
                  <a:schemeClr val="accent1"/>
                </a:solidFill>
                <a:latin typeface="+mj-ea"/>
                <a:ea typeface="+mj-ea"/>
              </a:rPr>
              <a:t>表</a:t>
            </a:r>
            <a:r>
              <a:rPr lang="en-US" altLang="zh-CN" sz="1000" b="1" dirty="0">
                <a:solidFill>
                  <a:schemeClr val="accent1"/>
                </a:solidFill>
                <a:latin typeface="+mj-ea"/>
                <a:ea typeface="+mj-ea"/>
              </a:rPr>
              <a:t>1</a:t>
            </a:r>
            <a:r>
              <a:rPr lang="zh-CN" altLang="en-US" sz="1000" b="1" dirty="0">
                <a:solidFill>
                  <a:schemeClr val="accent1"/>
                </a:solidFill>
                <a:latin typeface="+mj-ea"/>
                <a:ea typeface="+mj-ea"/>
              </a:rPr>
              <a:t>：</a:t>
            </a:r>
            <a:r>
              <a:rPr lang="zh-CN" altLang="zh-CN" sz="1000" dirty="0">
                <a:solidFill>
                  <a:schemeClr val="accent1"/>
                </a:solidFill>
                <a:latin typeface="+mj-ea"/>
                <a:ea typeface="+mj-ea"/>
              </a:rPr>
              <a:t>方向距离函数系数估计</a:t>
            </a:r>
            <a:endParaRPr lang="zh-CN" altLang="en-US" sz="1000" dirty="0">
              <a:solidFill>
                <a:schemeClr val="accent1"/>
              </a:solidFill>
              <a:latin typeface="+mj-ea"/>
              <a:ea typeface="+mj-ea"/>
            </a:endParaRPr>
          </a:p>
        </p:txBody>
      </p:sp>
      <p:sp>
        <p:nvSpPr>
          <p:cNvPr id="19" name="矩形 18"/>
          <p:cNvSpPr/>
          <p:nvPr>
            <p:custDataLst>
              <p:tags r:id="rId3"/>
            </p:custDataLst>
          </p:nvPr>
        </p:nvSpPr>
        <p:spPr>
          <a:xfrm>
            <a:off x="3392360" y="3267917"/>
            <a:ext cx="3507105" cy="246221"/>
          </a:xfrm>
          <a:prstGeom prst="rect">
            <a:avLst/>
          </a:prstGeom>
        </p:spPr>
        <p:txBody>
          <a:bodyPr wrap="square">
            <a:spAutoFit/>
          </a:bodyPr>
          <a:lstStyle/>
          <a:p>
            <a:r>
              <a:rPr lang="zh-CN" altLang="en-US" sz="1000" b="1" dirty="0">
                <a:solidFill>
                  <a:schemeClr val="accent1"/>
                </a:solidFill>
                <a:latin typeface="+mj-ea"/>
                <a:ea typeface="+mj-ea"/>
              </a:rPr>
              <a:t>表</a:t>
            </a:r>
            <a:r>
              <a:rPr lang="en-US" altLang="zh-CN" sz="1000" b="1" dirty="0">
                <a:solidFill>
                  <a:schemeClr val="accent1"/>
                </a:solidFill>
                <a:latin typeface="+mj-ea"/>
                <a:ea typeface="+mj-ea"/>
              </a:rPr>
              <a:t>2</a:t>
            </a:r>
            <a:r>
              <a:rPr lang="zh-CN" altLang="en-US" sz="1000" b="1" dirty="0">
                <a:solidFill>
                  <a:schemeClr val="accent1"/>
                </a:solidFill>
                <a:latin typeface="+mj-ea"/>
                <a:ea typeface="+mj-ea"/>
              </a:rPr>
              <a:t>：</a:t>
            </a:r>
            <a:r>
              <a:rPr lang="zh-CN" altLang="zh-CN" sz="1000" dirty="0">
                <a:solidFill>
                  <a:schemeClr val="accent1"/>
                </a:solidFill>
                <a:latin typeface="+mj-ea"/>
                <a:ea typeface="+mj-ea"/>
              </a:rPr>
              <a:t>各地区碳影子价格 </a:t>
            </a:r>
            <a:endParaRPr lang="zh-CN" altLang="en-US" sz="1000" dirty="0">
              <a:solidFill>
                <a:schemeClr val="accent1"/>
              </a:solidFill>
              <a:latin typeface="+mj-ea"/>
              <a:ea typeface="+mj-ea"/>
            </a:endParaRPr>
          </a:p>
        </p:txBody>
      </p:sp>
      <p:pic>
        <p:nvPicPr>
          <p:cNvPr id="2" name="图片 1"/>
          <p:cNvPicPr>
            <a:picLocks noChangeAspect="1"/>
          </p:cNvPicPr>
          <p:nvPr/>
        </p:nvPicPr>
        <p:blipFill>
          <a:blip r:embed="rId4"/>
          <a:stretch>
            <a:fillRect/>
          </a:stretch>
        </p:blipFill>
        <p:spPr>
          <a:xfrm>
            <a:off x="3392360" y="1332654"/>
            <a:ext cx="5434142" cy="172883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32624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研究成果展示：碳影子价格</a:t>
            </a:r>
            <a:endParaRPr lang="zh-CN" altLang="en-US" sz="2000" dirty="0">
              <a:solidFill>
                <a:schemeClr val="accent1"/>
              </a:solidFill>
              <a:latin typeface="+mj-ea"/>
              <a:ea typeface="+mj-ea"/>
            </a:endParaRPr>
          </a:p>
        </p:txBody>
      </p:sp>
      <p:sp>
        <p:nvSpPr>
          <p:cNvPr id="42" name="矩形 41"/>
          <p:cNvSpPr/>
          <p:nvPr/>
        </p:nvSpPr>
        <p:spPr>
          <a:xfrm>
            <a:off x="415480" y="434379"/>
            <a:ext cx="958215"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Results</a:t>
            </a:r>
            <a:endParaRPr lang="en-US" altLang="zh-CN" sz="900">
              <a:solidFill>
                <a:schemeClr val="tx1">
                  <a:lumMod val="65000"/>
                  <a:lumOff val="35000"/>
                </a:schemeClr>
              </a:solidFill>
              <a:latin typeface="Calibri Light" panose="020F0302020204030204" pitchFamily="34" charset="0"/>
              <a:ea typeface="方正兰亭黑_GBK"/>
            </a:endParaRPr>
          </a:p>
        </p:txBody>
      </p:sp>
      <p:graphicFrame>
        <p:nvGraphicFramePr>
          <p:cNvPr id="11" name="图表 10"/>
          <p:cNvGraphicFramePr/>
          <p:nvPr/>
        </p:nvGraphicFramePr>
        <p:xfrm>
          <a:off x="354246" y="992822"/>
          <a:ext cx="3887465" cy="1201324"/>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2" name="图表 11"/>
          <p:cNvGraphicFramePr/>
          <p:nvPr/>
        </p:nvGraphicFramePr>
        <p:xfrm>
          <a:off x="5166360" y="614045"/>
          <a:ext cx="3490595" cy="1471295"/>
        </p:xfrm>
        <a:graphic>
          <a:graphicData uri="http://schemas.openxmlformats.org/drawingml/2006/chart">
            <c:chart xmlns:c="http://schemas.openxmlformats.org/drawingml/2006/chart" xmlns:r="http://schemas.openxmlformats.org/officeDocument/2006/relationships" r:id="rId2"/>
          </a:graphicData>
        </a:graphic>
      </p:graphicFrame>
      <p:sp>
        <p:nvSpPr>
          <p:cNvPr id="13" name="文本框 12"/>
          <p:cNvSpPr txBox="1"/>
          <p:nvPr/>
        </p:nvSpPr>
        <p:spPr>
          <a:xfrm>
            <a:off x="354330" y="2163445"/>
            <a:ext cx="4529455" cy="927100"/>
          </a:xfrm>
          <a:prstGeom prst="rect">
            <a:avLst/>
          </a:prstGeom>
          <a:noFill/>
        </p:spPr>
        <p:txBody>
          <a:bodyPr wrap="square" rtlCol="0">
            <a:spAutoFit/>
          </a:bodyPr>
          <a:lstStyle>
            <a:defPPr>
              <a:defRPr lang="en-US"/>
            </a:defPPr>
            <a:lvl1pPr indent="266700">
              <a:lnSpc>
                <a:spcPct val="150000"/>
              </a:lnSpc>
              <a:defRPr sz="700">
                <a:solidFill>
                  <a:schemeClr val="tx1">
                    <a:lumMod val="50000"/>
                    <a:lumOff val="50000"/>
                  </a:schemeClr>
                </a:solidFill>
              </a:defRPr>
            </a:lvl1pPr>
          </a:lstStyle>
          <a:p>
            <a:pPr marL="171450" indent="-171450">
              <a:lnSpc>
                <a:spcPct val="170000"/>
              </a:lnSpc>
              <a:buFont typeface="Wingdings" panose="05000000000000000000" charset="0"/>
              <a:buChar char="ü"/>
            </a:pPr>
            <a:r>
              <a:rPr lang="zh-CN" altLang="zh-CN" sz="800" b="1" dirty="0"/>
              <a:t>空间角</a:t>
            </a:r>
            <a:r>
              <a:rPr lang="zh-CN" altLang="zh-CN" sz="800" b="1" dirty="0"/>
              <a:t>度：各省二氧化碳影子价格差异较大</a:t>
            </a:r>
            <a:endParaRPr lang="zh-CN" altLang="zh-CN" sz="800" b="1" dirty="0"/>
          </a:p>
          <a:p>
            <a:pPr indent="0">
              <a:lnSpc>
                <a:spcPct val="170000"/>
              </a:lnSpc>
              <a:buFont typeface="Wingdings" panose="05000000000000000000" charset="0"/>
              <a:buNone/>
            </a:pPr>
            <a:r>
              <a:rPr lang="en-US" altLang="zh-CN" sz="800" dirty="0"/>
              <a:t>        </a:t>
            </a:r>
            <a:r>
              <a:rPr lang="zh-CN" altLang="zh-CN" sz="800" dirty="0"/>
              <a:t>上海的二氧化碳平均影子价格远超其余省份，基本维持在</a:t>
            </a:r>
            <a:r>
              <a:rPr lang="en-US" altLang="zh-CN" sz="800" dirty="0"/>
              <a:t>270</a:t>
            </a:r>
            <a:r>
              <a:rPr lang="zh-CN" altLang="zh-CN" sz="800" dirty="0"/>
              <a:t>元</a:t>
            </a:r>
            <a:r>
              <a:rPr lang="en-US" altLang="zh-CN" sz="800" dirty="0"/>
              <a:t>/</a:t>
            </a:r>
            <a:r>
              <a:rPr lang="zh-CN" altLang="zh-CN" sz="800" dirty="0"/>
              <a:t>吨的水平；浙江、江苏碳影子价格紧随其后，两地相差无几，基本保持在</a:t>
            </a:r>
            <a:r>
              <a:rPr lang="en-US" altLang="zh-CN" sz="800" dirty="0"/>
              <a:t>130-150</a:t>
            </a:r>
            <a:r>
              <a:rPr lang="zh-CN" altLang="zh-CN" sz="800" dirty="0"/>
              <a:t>元</a:t>
            </a:r>
            <a:r>
              <a:rPr lang="en-US" altLang="zh-CN" sz="800" dirty="0"/>
              <a:t>/</a:t>
            </a:r>
            <a:r>
              <a:rPr lang="zh-CN" altLang="zh-CN" sz="800" dirty="0"/>
              <a:t>吨，内蒙、宁夏、新疆等地的碳影子价格水平均较低，基本保持在</a:t>
            </a:r>
            <a:r>
              <a:rPr lang="en-US" altLang="zh-CN" sz="800" dirty="0"/>
              <a:t>25-35</a:t>
            </a:r>
            <a:r>
              <a:rPr lang="zh-CN" altLang="zh-CN" sz="800" dirty="0"/>
              <a:t>元</a:t>
            </a:r>
            <a:r>
              <a:rPr lang="en-US" altLang="zh-CN" sz="800" dirty="0"/>
              <a:t>/</a:t>
            </a:r>
            <a:r>
              <a:rPr lang="zh-CN" altLang="zh-CN" sz="800" dirty="0"/>
              <a:t>吨的水平。 </a:t>
            </a:r>
            <a:endParaRPr lang="zh-CN" altLang="en-US" sz="800" dirty="0"/>
          </a:p>
        </p:txBody>
      </p:sp>
      <p:sp>
        <p:nvSpPr>
          <p:cNvPr id="15" name="矩形 14"/>
          <p:cNvSpPr/>
          <p:nvPr>
            <p:custDataLst>
              <p:tags r:id="rId5"/>
            </p:custDataLst>
          </p:nvPr>
        </p:nvSpPr>
        <p:spPr>
          <a:xfrm>
            <a:off x="413936" y="819207"/>
            <a:ext cx="3507105" cy="215444"/>
          </a:xfrm>
          <a:prstGeom prst="rect">
            <a:avLst/>
          </a:prstGeom>
        </p:spPr>
        <p:txBody>
          <a:bodyPr wrap="square">
            <a:spAutoFit/>
          </a:bodyPr>
          <a:lstStyle/>
          <a:p>
            <a:r>
              <a:rPr lang="zh-CN" altLang="en-US" sz="800" b="1" dirty="0">
                <a:solidFill>
                  <a:schemeClr val="accent1"/>
                </a:solidFill>
                <a:latin typeface="+mj-ea"/>
                <a:ea typeface="+mj-ea"/>
              </a:rPr>
              <a:t>图</a:t>
            </a:r>
            <a:r>
              <a:rPr lang="en-US" altLang="zh-CN" sz="800" b="1" dirty="0">
                <a:solidFill>
                  <a:schemeClr val="accent1"/>
                </a:solidFill>
                <a:latin typeface="+mj-ea"/>
                <a:ea typeface="+mj-ea"/>
              </a:rPr>
              <a:t>1</a:t>
            </a:r>
            <a:r>
              <a:rPr lang="zh-CN" altLang="en-US" sz="800" b="1" dirty="0">
                <a:solidFill>
                  <a:schemeClr val="accent1"/>
                </a:solidFill>
                <a:latin typeface="+mj-ea"/>
                <a:ea typeface="+mj-ea"/>
              </a:rPr>
              <a:t>：</a:t>
            </a:r>
            <a:r>
              <a:rPr lang="zh-CN" altLang="en-US" sz="800" dirty="0">
                <a:solidFill>
                  <a:schemeClr val="accent1"/>
                </a:solidFill>
                <a:latin typeface="+mj-ea"/>
                <a:ea typeface="+mj-ea"/>
              </a:rPr>
              <a:t>各地区碳影子价格</a:t>
            </a:r>
            <a:endParaRPr lang="zh-CN" altLang="en-US" sz="800" dirty="0">
              <a:solidFill>
                <a:schemeClr val="accent1"/>
              </a:solidFill>
              <a:latin typeface="+mj-ea"/>
              <a:ea typeface="+mj-ea"/>
            </a:endParaRPr>
          </a:p>
        </p:txBody>
      </p:sp>
      <p:graphicFrame>
        <p:nvGraphicFramePr>
          <p:cNvPr id="16" name="图表 15"/>
          <p:cNvGraphicFramePr/>
          <p:nvPr/>
        </p:nvGraphicFramePr>
        <p:xfrm>
          <a:off x="5165725" y="2122805"/>
          <a:ext cx="3776345" cy="1242060"/>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p:cNvSpPr/>
          <p:nvPr>
            <p:custDataLst>
              <p:tags r:id="rId6"/>
            </p:custDataLst>
          </p:nvPr>
        </p:nvSpPr>
        <p:spPr>
          <a:xfrm>
            <a:off x="5095155" y="552328"/>
            <a:ext cx="3507105" cy="215444"/>
          </a:xfrm>
          <a:prstGeom prst="rect">
            <a:avLst/>
          </a:prstGeom>
        </p:spPr>
        <p:txBody>
          <a:bodyPr wrap="square">
            <a:spAutoFit/>
          </a:bodyPr>
          <a:lstStyle/>
          <a:p>
            <a:r>
              <a:rPr lang="zh-CN" altLang="en-US" sz="800" b="1" dirty="0">
                <a:solidFill>
                  <a:schemeClr val="accent1"/>
                </a:solidFill>
                <a:latin typeface="+mj-ea"/>
                <a:ea typeface="+mj-ea"/>
              </a:rPr>
              <a:t>图</a:t>
            </a:r>
            <a:r>
              <a:rPr lang="en-US" altLang="zh-CN" sz="800" b="1" dirty="0">
                <a:solidFill>
                  <a:schemeClr val="accent1"/>
                </a:solidFill>
                <a:latin typeface="+mj-ea"/>
                <a:ea typeface="+mj-ea"/>
              </a:rPr>
              <a:t>2</a:t>
            </a:r>
            <a:r>
              <a:rPr lang="zh-CN" altLang="en-US" sz="800" b="1" dirty="0">
                <a:solidFill>
                  <a:schemeClr val="accent1"/>
                </a:solidFill>
                <a:latin typeface="+mj-ea"/>
                <a:ea typeface="+mj-ea"/>
              </a:rPr>
              <a:t>：</a:t>
            </a:r>
            <a:r>
              <a:rPr lang="zh-CN" altLang="zh-CN" sz="800" dirty="0">
                <a:solidFill>
                  <a:schemeClr val="accent1"/>
                </a:solidFill>
                <a:latin typeface="+mj-ea"/>
                <a:ea typeface="+mj-ea"/>
              </a:rPr>
              <a:t>东南沿海与西北内陆影子价格差 </a:t>
            </a:r>
            <a:endParaRPr lang="zh-CN" altLang="en-US" sz="800" dirty="0">
              <a:solidFill>
                <a:schemeClr val="accent1"/>
              </a:solidFill>
              <a:latin typeface="+mj-ea"/>
              <a:ea typeface="+mj-ea"/>
            </a:endParaRPr>
          </a:p>
        </p:txBody>
      </p:sp>
      <p:graphicFrame>
        <p:nvGraphicFramePr>
          <p:cNvPr id="19" name="图表 18"/>
          <p:cNvGraphicFramePr/>
          <p:nvPr/>
        </p:nvGraphicFramePr>
        <p:xfrm>
          <a:off x="5107940" y="3363595"/>
          <a:ext cx="3757930" cy="1789430"/>
        </p:xfrm>
        <a:graphic>
          <a:graphicData uri="http://schemas.openxmlformats.org/drawingml/2006/chart">
            <c:chart xmlns:c="http://schemas.openxmlformats.org/drawingml/2006/chart" xmlns:r="http://schemas.openxmlformats.org/officeDocument/2006/relationships" r:id="rId4"/>
          </a:graphicData>
        </a:graphic>
      </p:graphicFrame>
      <p:sp>
        <p:nvSpPr>
          <p:cNvPr id="20" name="矩形 19"/>
          <p:cNvSpPr/>
          <p:nvPr>
            <p:custDataLst>
              <p:tags r:id="rId7"/>
            </p:custDataLst>
          </p:nvPr>
        </p:nvSpPr>
        <p:spPr>
          <a:xfrm>
            <a:off x="5108026" y="2031860"/>
            <a:ext cx="3507105" cy="215444"/>
          </a:xfrm>
          <a:prstGeom prst="rect">
            <a:avLst/>
          </a:prstGeom>
        </p:spPr>
        <p:txBody>
          <a:bodyPr wrap="square">
            <a:spAutoFit/>
          </a:bodyPr>
          <a:lstStyle/>
          <a:p>
            <a:r>
              <a:rPr lang="zh-CN" altLang="en-US" sz="800" b="1" dirty="0">
                <a:solidFill>
                  <a:schemeClr val="accent1"/>
                </a:solidFill>
                <a:latin typeface="+mj-ea"/>
                <a:ea typeface="+mj-ea"/>
              </a:rPr>
              <a:t>图</a:t>
            </a:r>
            <a:r>
              <a:rPr lang="en-US" altLang="zh-CN" sz="800" b="1" dirty="0">
                <a:solidFill>
                  <a:schemeClr val="accent1"/>
                </a:solidFill>
                <a:latin typeface="+mj-ea"/>
                <a:ea typeface="+mj-ea"/>
              </a:rPr>
              <a:t>3</a:t>
            </a:r>
            <a:r>
              <a:rPr lang="zh-CN" altLang="en-US" sz="800" b="1" dirty="0">
                <a:solidFill>
                  <a:schemeClr val="accent1"/>
                </a:solidFill>
                <a:latin typeface="+mj-ea"/>
                <a:ea typeface="+mj-ea"/>
              </a:rPr>
              <a:t>：</a:t>
            </a:r>
            <a:r>
              <a:rPr lang="zh-CN" altLang="zh-CN" sz="800" dirty="0">
                <a:solidFill>
                  <a:schemeClr val="accent1"/>
                </a:solidFill>
                <a:latin typeface="+mj-ea"/>
                <a:ea typeface="+mj-ea"/>
              </a:rPr>
              <a:t>地区对比与总体趋势 </a:t>
            </a:r>
            <a:endParaRPr lang="zh-CN" altLang="en-US" sz="800" dirty="0">
              <a:solidFill>
                <a:schemeClr val="accent1"/>
              </a:solidFill>
              <a:latin typeface="+mj-ea"/>
              <a:ea typeface="+mj-ea"/>
            </a:endParaRPr>
          </a:p>
        </p:txBody>
      </p:sp>
      <p:sp>
        <p:nvSpPr>
          <p:cNvPr id="24" name="矩形 23"/>
          <p:cNvSpPr/>
          <p:nvPr>
            <p:custDataLst>
              <p:tags r:id="rId8"/>
            </p:custDataLst>
          </p:nvPr>
        </p:nvSpPr>
        <p:spPr>
          <a:xfrm>
            <a:off x="5095327" y="3350659"/>
            <a:ext cx="3507105" cy="215444"/>
          </a:xfrm>
          <a:prstGeom prst="rect">
            <a:avLst/>
          </a:prstGeom>
        </p:spPr>
        <p:txBody>
          <a:bodyPr wrap="square">
            <a:spAutoFit/>
          </a:bodyPr>
          <a:lstStyle/>
          <a:p>
            <a:r>
              <a:rPr lang="zh-CN" altLang="en-US" sz="800" b="1" dirty="0">
                <a:solidFill>
                  <a:schemeClr val="accent1"/>
                </a:solidFill>
                <a:latin typeface="+mj-ea"/>
                <a:ea typeface="+mj-ea"/>
              </a:rPr>
              <a:t>图</a:t>
            </a:r>
            <a:r>
              <a:rPr lang="en-US" altLang="zh-CN" sz="800" b="1" dirty="0">
                <a:solidFill>
                  <a:schemeClr val="accent1"/>
                </a:solidFill>
                <a:latin typeface="+mj-ea"/>
                <a:ea typeface="+mj-ea"/>
              </a:rPr>
              <a:t>4</a:t>
            </a:r>
            <a:r>
              <a:rPr lang="zh-CN" altLang="en-US" sz="800" b="1" dirty="0">
                <a:solidFill>
                  <a:schemeClr val="accent1"/>
                </a:solidFill>
                <a:latin typeface="+mj-ea"/>
                <a:ea typeface="+mj-ea"/>
              </a:rPr>
              <a:t>：</a:t>
            </a:r>
            <a:r>
              <a:rPr lang="zh-CN" altLang="zh-CN" sz="800" dirty="0">
                <a:solidFill>
                  <a:schemeClr val="accent1"/>
                </a:solidFill>
                <a:latin typeface="+mj-ea"/>
                <a:ea typeface="+mj-ea"/>
              </a:rPr>
              <a:t>各省碳影子价格同比变化  </a:t>
            </a:r>
            <a:endParaRPr lang="zh-CN" altLang="en-US" sz="800" dirty="0">
              <a:solidFill>
                <a:schemeClr val="accent1"/>
              </a:solidFill>
              <a:latin typeface="+mj-ea"/>
              <a:ea typeface="+mj-ea"/>
            </a:endParaRPr>
          </a:p>
        </p:txBody>
      </p:sp>
      <p:sp>
        <p:nvSpPr>
          <p:cNvPr id="25" name="文本框 24"/>
          <p:cNvSpPr txBox="1"/>
          <p:nvPr/>
        </p:nvSpPr>
        <p:spPr>
          <a:xfrm>
            <a:off x="354330" y="3069590"/>
            <a:ext cx="4529455" cy="1198880"/>
          </a:xfrm>
          <a:prstGeom prst="rect">
            <a:avLst/>
          </a:prstGeom>
          <a:noFill/>
        </p:spPr>
        <p:txBody>
          <a:bodyPr wrap="square" rtlCol="0">
            <a:spAutoFit/>
          </a:bodyPr>
          <a:lstStyle/>
          <a:p>
            <a:pPr marL="171450" indent="-171450">
              <a:lnSpc>
                <a:spcPct val="150000"/>
              </a:lnSpc>
              <a:buFont typeface="Wingdings" panose="05000000000000000000" charset="0"/>
              <a:buChar char="ü"/>
            </a:pPr>
            <a:r>
              <a:rPr lang="zh-CN" altLang="zh-CN" sz="800" b="1" dirty="0">
                <a:solidFill>
                  <a:schemeClr val="tx1">
                    <a:lumMod val="50000"/>
                    <a:lumOff val="50000"/>
                  </a:schemeClr>
                </a:solidFill>
              </a:rPr>
              <a:t>地理区域角度</a:t>
            </a:r>
            <a:endParaRPr lang="zh-CN" altLang="zh-CN" sz="800" b="1" dirty="0">
              <a:solidFill>
                <a:schemeClr val="tx1">
                  <a:lumMod val="50000"/>
                  <a:lumOff val="50000"/>
                </a:schemeClr>
              </a:solidFill>
            </a:endParaRPr>
          </a:p>
          <a:p>
            <a:pPr indent="0">
              <a:lnSpc>
                <a:spcPct val="150000"/>
              </a:lnSpc>
              <a:buFont typeface="Wingdings" panose="05000000000000000000" charset="0"/>
              <a:buNone/>
            </a:pPr>
            <a:r>
              <a:rPr lang="en-US" altLang="zh-CN" sz="800" dirty="0">
                <a:solidFill>
                  <a:schemeClr val="tx1">
                    <a:lumMod val="50000"/>
                    <a:lumOff val="50000"/>
                  </a:schemeClr>
                </a:solidFill>
              </a:rPr>
              <a:t>      </a:t>
            </a:r>
            <a:r>
              <a:rPr lang="en-US" altLang="zh-CN" sz="800" b="1" dirty="0">
                <a:solidFill>
                  <a:schemeClr val="tx1">
                    <a:lumMod val="50000"/>
                    <a:lumOff val="50000"/>
                  </a:schemeClr>
                </a:solidFill>
              </a:rPr>
              <a:t> [</a:t>
            </a:r>
            <a:r>
              <a:rPr lang="zh-CN" altLang="zh-CN" sz="800" b="1" dirty="0">
                <a:solidFill>
                  <a:schemeClr val="tx1">
                    <a:lumMod val="50000"/>
                    <a:lumOff val="50000"/>
                  </a:schemeClr>
                </a:solidFill>
              </a:rPr>
              <a:t>东南沿海</a:t>
            </a:r>
            <a:r>
              <a:rPr lang="en-US" altLang="zh-CN" sz="800" b="1" dirty="0">
                <a:solidFill>
                  <a:schemeClr val="tx1">
                    <a:lumMod val="50000"/>
                    <a:lumOff val="50000"/>
                  </a:schemeClr>
                </a:solidFill>
              </a:rPr>
              <a:t>] </a:t>
            </a:r>
            <a:r>
              <a:rPr lang="zh-CN" altLang="zh-CN" sz="800" dirty="0">
                <a:solidFill>
                  <a:schemeClr val="tx1">
                    <a:lumMod val="50000"/>
                    <a:lumOff val="50000"/>
                  </a:schemeClr>
                </a:solidFill>
              </a:rPr>
              <a:t>碳影子价格基本维持在</a:t>
            </a:r>
            <a:r>
              <a:rPr lang="en-US" altLang="zh-CN" sz="800" dirty="0">
                <a:solidFill>
                  <a:schemeClr val="tx1">
                    <a:lumMod val="50000"/>
                    <a:lumOff val="50000"/>
                  </a:schemeClr>
                </a:solidFill>
              </a:rPr>
              <a:t>160</a:t>
            </a:r>
            <a:r>
              <a:rPr lang="zh-CN" altLang="zh-CN" sz="800" dirty="0">
                <a:solidFill>
                  <a:schemeClr val="tx1">
                    <a:lumMod val="50000"/>
                    <a:lumOff val="50000"/>
                  </a:schemeClr>
                </a:solidFill>
              </a:rPr>
              <a:t>元</a:t>
            </a:r>
            <a:r>
              <a:rPr lang="en-US" altLang="zh-CN" sz="800" dirty="0">
                <a:solidFill>
                  <a:schemeClr val="tx1">
                    <a:lumMod val="50000"/>
                    <a:lumOff val="50000"/>
                  </a:schemeClr>
                </a:solidFill>
              </a:rPr>
              <a:t>/</a:t>
            </a:r>
            <a:r>
              <a:rPr lang="zh-CN" altLang="zh-CN" sz="800" dirty="0">
                <a:solidFill>
                  <a:schemeClr val="tx1">
                    <a:lumMod val="50000"/>
                    <a:lumOff val="50000"/>
                  </a:schemeClr>
                </a:solidFill>
              </a:rPr>
              <a:t>吨的水平，说明实施低碳经济的边际成本相对偏高，反映该区域工业基础雄厚，产业配套完善，技术水平先进，单位产值的污染物排放相对较少，经济发展依赖的能源结构更加成熟；</a:t>
            </a:r>
            <a:endParaRPr lang="zh-CN" altLang="zh-CN" sz="800" dirty="0">
              <a:solidFill>
                <a:schemeClr val="tx1">
                  <a:lumMod val="50000"/>
                  <a:lumOff val="50000"/>
                </a:schemeClr>
              </a:solidFill>
            </a:endParaRPr>
          </a:p>
          <a:p>
            <a:pPr indent="0">
              <a:lnSpc>
                <a:spcPct val="150000"/>
              </a:lnSpc>
              <a:buFont typeface="Wingdings" panose="05000000000000000000" charset="0"/>
              <a:buNone/>
            </a:pPr>
            <a:r>
              <a:rPr lang="en-US" altLang="zh-CN" sz="800" dirty="0">
                <a:solidFill>
                  <a:schemeClr val="tx1">
                    <a:lumMod val="50000"/>
                    <a:lumOff val="50000"/>
                  </a:schemeClr>
                </a:solidFill>
              </a:rPr>
              <a:t>      </a:t>
            </a:r>
            <a:r>
              <a:rPr lang="en-US" altLang="zh-CN" sz="800" b="1" dirty="0">
                <a:solidFill>
                  <a:schemeClr val="tx1">
                    <a:lumMod val="50000"/>
                    <a:lumOff val="50000"/>
                  </a:schemeClr>
                </a:solidFill>
              </a:rPr>
              <a:t> [</a:t>
            </a:r>
            <a:r>
              <a:rPr lang="zh-CN" altLang="zh-CN" sz="800" b="1" dirty="0">
                <a:solidFill>
                  <a:schemeClr val="tx1">
                    <a:lumMod val="50000"/>
                    <a:lumOff val="50000"/>
                  </a:schemeClr>
                </a:solidFill>
              </a:rPr>
              <a:t>西北内陆</a:t>
            </a:r>
            <a:r>
              <a:rPr lang="en-US" altLang="zh-CN" sz="800" b="1" dirty="0">
                <a:solidFill>
                  <a:schemeClr val="tx1">
                    <a:lumMod val="50000"/>
                    <a:lumOff val="50000"/>
                  </a:schemeClr>
                </a:solidFill>
              </a:rPr>
              <a:t>]</a:t>
            </a:r>
            <a:r>
              <a:rPr lang="zh-CN" altLang="zh-CN" sz="800" dirty="0">
                <a:solidFill>
                  <a:schemeClr val="tx1">
                    <a:lumMod val="50000"/>
                    <a:lumOff val="50000"/>
                  </a:schemeClr>
                </a:solidFill>
              </a:rPr>
              <a:t>地区则基本维持在</a:t>
            </a:r>
            <a:r>
              <a:rPr lang="en-US" altLang="zh-CN" sz="800" dirty="0">
                <a:solidFill>
                  <a:schemeClr val="tx1">
                    <a:lumMod val="50000"/>
                    <a:lumOff val="50000"/>
                  </a:schemeClr>
                </a:solidFill>
              </a:rPr>
              <a:t>35-40</a:t>
            </a:r>
            <a:r>
              <a:rPr lang="zh-CN" altLang="zh-CN" sz="800" dirty="0">
                <a:solidFill>
                  <a:schemeClr val="tx1">
                    <a:lumMod val="50000"/>
                    <a:lumOff val="50000"/>
                  </a:schemeClr>
                </a:solidFill>
              </a:rPr>
              <a:t>元</a:t>
            </a:r>
            <a:r>
              <a:rPr lang="en-US" altLang="zh-CN" sz="800" dirty="0">
                <a:solidFill>
                  <a:schemeClr val="tx1">
                    <a:lumMod val="50000"/>
                    <a:lumOff val="50000"/>
                  </a:schemeClr>
                </a:solidFill>
              </a:rPr>
              <a:t>/</a:t>
            </a:r>
            <a:r>
              <a:rPr lang="zh-CN" altLang="zh-CN" sz="800" dirty="0">
                <a:solidFill>
                  <a:schemeClr val="tx1">
                    <a:lumMod val="50000"/>
                    <a:lumOff val="50000"/>
                  </a:schemeClr>
                </a:solidFill>
              </a:rPr>
              <a:t>吨的水平</a:t>
            </a:r>
            <a:r>
              <a:rPr lang="zh-CN" altLang="en-US" sz="800" dirty="0">
                <a:solidFill>
                  <a:schemeClr val="tx1">
                    <a:lumMod val="50000"/>
                    <a:lumOff val="50000"/>
                  </a:schemeClr>
                </a:solidFill>
              </a:rPr>
              <a:t>，</a:t>
            </a:r>
            <a:r>
              <a:rPr lang="zh-CN" altLang="zh-CN" sz="800" dirty="0">
                <a:solidFill>
                  <a:schemeClr val="tx1">
                    <a:lumMod val="50000"/>
                    <a:lumOff val="50000"/>
                  </a:schemeClr>
                </a:solidFill>
              </a:rPr>
              <a:t>说明实施低碳经济的边际成本相对偏低，反映该区域工业化程度相对薄弱，产业配套欠缺技术水平落后，生产效率较低，环境污染较大。</a:t>
            </a:r>
            <a:endParaRPr kumimoji="1" lang="zh-CN" altLang="en-US" sz="700" dirty="0"/>
          </a:p>
        </p:txBody>
      </p:sp>
      <p:sp>
        <p:nvSpPr>
          <p:cNvPr id="3" name="文本框 2"/>
          <p:cNvSpPr txBox="1"/>
          <p:nvPr/>
        </p:nvSpPr>
        <p:spPr>
          <a:xfrm>
            <a:off x="354330" y="4263390"/>
            <a:ext cx="4572000" cy="829945"/>
          </a:xfrm>
          <a:prstGeom prst="rect">
            <a:avLst/>
          </a:prstGeom>
          <a:noFill/>
        </p:spPr>
        <p:txBody>
          <a:bodyPr wrap="square" rtlCol="0" anchor="t">
            <a:spAutoFit/>
          </a:bodyPr>
          <a:p>
            <a:pPr marL="171450" indent="-171450">
              <a:lnSpc>
                <a:spcPct val="150000"/>
              </a:lnSpc>
              <a:buFont typeface="Wingdings" panose="05000000000000000000" charset="0"/>
              <a:buChar char="ü"/>
            </a:pPr>
            <a:r>
              <a:rPr lang="zh-CN" altLang="zh-CN" sz="800" b="1" dirty="0">
                <a:solidFill>
                  <a:schemeClr val="tx1">
                    <a:lumMod val="50000"/>
                    <a:lumOff val="50000"/>
                  </a:schemeClr>
                </a:solidFill>
                <a:sym typeface="+mn-ea"/>
              </a:rPr>
              <a:t>时间趋势：不同地区的二氧化碳影子价格整体都呈现下降趋势</a:t>
            </a:r>
            <a:endParaRPr lang="zh-CN" altLang="zh-CN" sz="800" b="1" dirty="0">
              <a:solidFill>
                <a:schemeClr val="tx1">
                  <a:lumMod val="50000"/>
                  <a:lumOff val="50000"/>
                </a:schemeClr>
              </a:solidFill>
            </a:endParaRPr>
          </a:p>
          <a:p>
            <a:pPr indent="0">
              <a:lnSpc>
                <a:spcPct val="150000"/>
              </a:lnSpc>
              <a:buFont typeface="Wingdings" panose="05000000000000000000" charset="0"/>
              <a:buNone/>
            </a:pPr>
            <a:r>
              <a:rPr lang="en-US" altLang="zh-CN" sz="800" dirty="0">
                <a:solidFill>
                  <a:schemeClr val="tx1">
                    <a:lumMod val="50000"/>
                    <a:lumOff val="50000"/>
                  </a:schemeClr>
                </a:solidFill>
                <a:sym typeface="+mn-ea"/>
              </a:rPr>
              <a:t>       </a:t>
            </a:r>
            <a:r>
              <a:rPr lang="zh-CN" altLang="zh-CN" sz="800" dirty="0">
                <a:solidFill>
                  <a:schemeClr val="tx1">
                    <a:lumMod val="50000"/>
                    <a:lumOff val="50000"/>
                  </a:schemeClr>
                </a:solidFill>
                <a:sym typeface="+mn-ea"/>
              </a:rPr>
              <a:t>其中西北内陆地区的平均碳影子价格呈现持续下行的走势，而东南沿海则呈现先降后升的走势，但总体水平均有所下降。从同比变化来看，绝大多数省份的同比变化连年处于</a:t>
            </a:r>
            <a:r>
              <a:rPr lang="en-US" altLang="zh-CN" sz="800" dirty="0">
                <a:solidFill>
                  <a:schemeClr val="tx1">
                    <a:lumMod val="50000"/>
                    <a:lumOff val="50000"/>
                  </a:schemeClr>
                </a:solidFill>
                <a:sym typeface="+mn-ea"/>
              </a:rPr>
              <a:t>0</a:t>
            </a:r>
            <a:r>
              <a:rPr lang="zh-CN" altLang="zh-CN" sz="800" dirty="0">
                <a:solidFill>
                  <a:schemeClr val="tx1">
                    <a:lumMod val="50000"/>
                    <a:lumOff val="50000"/>
                  </a:schemeClr>
                </a:solidFill>
                <a:sym typeface="+mn-ea"/>
              </a:rPr>
              <a:t>以下，其中宁夏和新疆的同比降幅明显高于其他省份。</a:t>
            </a:r>
            <a:endParaRPr lang="zh-CN" altLang="zh-CN" sz="800" dirty="0">
              <a:solidFill>
                <a:schemeClr val="tx1">
                  <a:lumMod val="50000"/>
                  <a:lumOff val="50000"/>
                </a:schemeClr>
              </a:solidFill>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2976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研究成果展示：事件研究</a:t>
            </a:r>
            <a:endParaRPr lang="zh-CN" altLang="en-US" sz="2000">
              <a:solidFill>
                <a:schemeClr val="accent1"/>
              </a:solidFill>
              <a:latin typeface="+mj-ea"/>
              <a:ea typeface="+mj-ea"/>
            </a:endParaRPr>
          </a:p>
        </p:txBody>
      </p:sp>
      <p:sp>
        <p:nvSpPr>
          <p:cNvPr id="42" name="矩形 41"/>
          <p:cNvSpPr/>
          <p:nvPr/>
        </p:nvSpPr>
        <p:spPr>
          <a:xfrm>
            <a:off x="415480" y="434379"/>
            <a:ext cx="958215"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Results</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2" name="文本框 1"/>
          <p:cNvSpPr txBox="1"/>
          <p:nvPr>
            <p:custDataLst>
              <p:tags r:id="rId1"/>
            </p:custDataLst>
          </p:nvPr>
        </p:nvSpPr>
        <p:spPr>
          <a:xfrm>
            <a:off x="3566096" y="2342769"/>
            <a:ext cx="309880" cy="368300"/>
          </a:xfrm>
          <a:prstGeom prst="rect">
            <a:avLst/>
          </a:prstGeom>
          <a:noFill/>
        </p:spPr>
        <p:txBody>
          <a:bodyPr wrap="none" rtlCol="0" anchor="t">
            <a:spAutoFit/>
          </a:bodyPr>
          <a:lstStyle/>
          <a:p>
            <a:pPr algn="l"/>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477456" y="1543304"/>
                <a:ext cx="3509645" cy="61150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cs typeface="Cambria Math" panose="02040503050406030204" pitchFamily="18" charset="0"/>
                        </a:rPr>
                        <m:t>𝑝𝑟𝑖𝑐</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𝑒</m:t>
                          </m:r>
                        </m:e>
                        <m:sub>
                          <m:r>
                            <a:rPr lang="en-US" altLang="zh-CN" sz="1200" i="1">
                              <a:latin typeface="Cambria Math" panose="02040503050406030204" pitchFamily="18" charset="0"/>
                              <a:cs typeface="Cambria Math" panose="02040503050406030204" pitchFamily="18" charset="0"/>
                            </a:rPr>
                            <m:t>𝑖𝑡</m:t>
                          </m:r>
                        </m:sub>
                      </m:sSub>
                      <m:r>
                        <a:rPr lang="en-US" altLang="zh-CN" sz="1200" i="1">
                          <a:latin typeface="Cambria Math" panose="02040503050406030204" pitchFamily="18" charset="0"/>
                          <a:cs typeface="Cambria Math" panose="02040503050406030204" pitchFamily="18" charset="0"/>
                        </a:rPr>
                        <m:t>=</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𝛽</m:t>
                          </m:r>
                        </m:e>
                        <m:sub>
                          <m:r>
                            <a:rPr lang="en-US" altLang="zh-CN" sz="1200" i="1">
                              <a:latin typeface="Cambria Math" panose="02040503050406030204" pitchFamily="18" charset="0"/>
                              <a:cs typeface="Cambria Math" panose="02040503050406030204" pitchFamily="18" charset="0"/>
                            </a:rPr>
                            <m:t>0</m:t>
                          </m:r>
                        </m:sub>
                      </m:sSub>
                      <m:r>
                        <a:rPr lang="en-US" altLang="zh-CN" sz="1200" i="1">
                          <a:latin typeface="Cambria Math" panose="02040503050406030204" pitchFamily="18" charset="0"/>
                          <a:cs typeface="Cambria Math" panose="02040503050406030204" pitchFamily="18" charset="0"/>
                        </a:rPr>
                        <m:t>+</m:t>
                      </m:r>
                      <m:nary>
                        <m:naryPr>
                          <m:chr m:val="∑"/>
                          <m:limLoc m:val="undOvr"/>
                          <m:ctrlPr>
                            <a:rPr lang="en-US" altLang="zh-CN" sz="1200" i="1">
                              <a:latin typeface="Cambria Math" panose="02040503050406030204" pitchFamily="18" charset="0"/>
                              <a:cs typeface="Cambria Math" panose="02040503050406030204" pitchFamily="18" charset="0"/>
                            </a:rPr>
                          </m:ctrlPr>
                        </m:naryPr>
                        <m:sub>
                          <m:r>
                            <a:rPr lang="en-US" altLang="zh-CN" sz="1200" i="1">
                              <a:latin typeface="Cambria Math" panose="02040503050406030204" pitchFamily="18" charset="0"/>
                              <a:cs typeface="Cambria Math" panose="02040503050406030204" pitchFamily="18" charset="0"/>
                            </a:rPr>
                            <m:t>𝑡</m:t>
                          </m:r>
                          <m:r>
                            <a:rPr lang="en-US" altLang="zh-CN" sz="1200" i="1">
                              <a:latin typeface="Cambria Math" panose="02040503050406030204" pitchFamily="18" charset="0"/>
                              <a:cs typeface="Cambria Math" panose="02040503050406030204" pitchFamily="18" charset="0"/>
                            </a:rPr>
                            <m:t>=</m:t>
                          </m:r>
                          <m:r>
                            <a:rPr lang="en-US" altLang="zh-CN" sz="1200" i="1">
                              <a:latin typeface="Cambria Math" panose="02040503050406030204" pitchFamily="18" charset="0"/>
                              <a:cs typeface="Cambria Math" panose="02040503050406030204" pitchFamily="18" charset="0"/>
                            </a:rPr>
                            <m:t>2012</m:t>
                          </m:r>
                        </m:sub>
                        <m:sup>
                          <m:r>
                            <a:rPr lang="en-US" altLang="zh-CN" sz="1200" i="1">
                              <a:latin typeface="Cambria Math" panose="02040503050406030204" pitchFamily="18" charset="0"/>
                              <a:cs typeface="Cambria Math" panose="02040503050406030204" pitchFamily="18" charset="0"/>
                            </a:rPr>
                            <m:t>2020</m:t>
                          </m:r>
                        </m:sup>
                        <m:e>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𝛽</m:t>
                              </m:r>
                            </m:e>
                            <m:sub>
                              <m:r>
                                <a:rPr lang="en-US" altLang="zh-CN" sz="1200" i="1">
                                  <a:latin typeface="Cambria Math" panose="02040503050406030204" pitchFamily="18" charset="0"/>
                                  <a:cs typeface="Cambria Math" panose="02040503050406030204" pitchFamily="18" charset="0"/>
                                </a:rPr>
                                <m:t>𝑡</m:t>
                              </m:r>
                            </m:sub>
                          </m:sSub>
                          <m:r>
                            <a:rPr lang="en-US" altLang="zh-CN" sz="1200" i="1">
                              <a:latin typeface="Cambria Math" panose="02040503050406030204" pitchFamily="18" charset="0"/>
                              <a:cs typeface="Cambria Math" panose="02040503050406030204" pitchFamily="18" charset="0"/>
                            </a:rPr>
                            <m:t>𝑦𝑒𝑎</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𝑟</m:t>
                              </m:r>
                            </m:e>
                            <m:sub>
                              <m:r>
                                <a:rPr lang="en-US" altLang="zh-CN" sz="1200" i="1">
                                  <a:latin typeface="Cambria Math" panose="02040503050406030204" pitchFamily="18" charset="0"/>
                                  <a:cs typeface="Cambria Math" panose="02040503050406030204" pitchFamily="18" charset="0"/>
                                </a:rPr>
                                <m:t>𝑡</m:t>
                              </m:r>
                            </m:sub>
                          </m:sSub>
                        </m:e>
                      </m:nary>
                      <m:r>
                        <a:rPr lang="en-US" altLang="zh-CN" sz="1200" i="1">
                          <a:latin typeface="Cambria Math" panose="02040503050406030204" pitchFamily="18" charset="0"/>
                          <a:cs typeface="Cambria Math" panose="02040503050406030204" pitchFamily="18" charset="0"/>
                        </a:rPr>
                        <m:t>+</m:t>
                      </m:r>
                      <m:nary>
                        <m:naryPr>
                          <m:chr m:val="∑"/>
                          <m:limLoc m:val="undOvr"/>
                          <m:supHide m:val="on"/>
                          <m:ctrlPr>
                            <a:rPr lang="en-US" altLang="zh-CN" sz="1200" i="1">
                              <a:latin typeface="Cambria Math" panose="02040503050406030204" pitchFamily="18" charset="0"/>
                              <a:cs typeface="Cambria Math" panose="02040503050406030204" pitchFamily="18" charset="0"/>
                            </a:rPr>
                          </m:ctrlPr>
                        </m:naryPr>
                        <m:sub>
                          <m:r>
                            <a:rPr lang="en-US" altLang="zh-CN" sz="1200" i="1">
                              <a:latin typeface="Cambria Math" panose="02040503050406030204" pitchFamily="18" charset="0"/>
                              <a:cs typeface="Cambria Math" panose="02040503050406030204" pitchFamily="18" charset="0"/>
                            </a:rPr>
                            <m:t>𝑖</m:t>
                          </m:r>
                        </m:sub>
                        <m:sup/>
                        <m:e>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𝛿</m:t>
                              </m:r>
                            </m:e>
                            <m:sub>
                              <m:r>
                                <a:rPr lang="en-US" altLang="zh-CN" sz="1200" i="1">
                                  <a:latin typeface="Cambria Math" panose="02040503050406030204" pitchFamily="18" charset="0"/>
                                  <a:cs typeface="Cambria Math" panose="02040503050406030204" pitchFamily="18" charset="0"/>
                                </a:rPr>
                                <m:t>𝑖</m:t>
                              </m:r>
                            </m:sub>
                          </m:sSub>
                          <m:r>
                            <a:rPr lang="en-US" altLang="zh-CN" sz="1200" i="1">
                              <a:latin typeface="Cambria Math" panose="02040503050406030204" pitchFamily="18" charset="0"/>
                              <a:cs typeface="Cambria Math" panose="02040503050406030204" pitchFamily="18" charset="0"/>
                            </a:rPr>
                            <m:t>𝑑𝑖𝑠𝑡𝑟𝑖𝑐</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𝑡</m:t>
                              </m:r>
                            </m:e>
                            <m:sub>
                              <m:r>
                                <a:rPr lang="en-US" altLang="zh-CN" sz="1200" i="1">
                                  <a:latin typeface="Cambria Math" panose="02040503050406030204" pitchFamily="18" charset="0"/>
                                  <a:cs typeface="Cambria Math" panose="02040503050406030204" pitchFamily="18" charset="0"/>
                                </a:rPr>
                                <m:t>𝑖</m:t>
                              </m:r>
                            </m:sub>
                          </m:sSub>
                        </m:e>
                      </m:nary>
                      <m:r>
                        <a:rPr lang="en-US" altLang="zh-CN" sz="1200" i="1">
                          <a:latin typeface="Cambria Math" panose="02040503050406030204" pitchFamily="18" charset="0"/>
                          <a:cs typeface="Cambria Math" panose="02040503050406030204" pitchFamily="18" charset="0"/>
                        </a:rPr>
                        <m:t>+</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𝜀</m:t>
                          </m:r>
                        </m:e>
                        <m:sub>
                          <m:r>
                            <a:rPr lang="en-US" altLang="zh-CN" sz="1200" i="1">
                              <a:latin typeface="Cambria Math" panose="02040503050406030204" pitchFamily="18" charset="0"/>
                              <a:cs typeface="Cambria Math" panose="02040503050406030204" pitchFamily="18" charset="0"/>
                            </a:rPr>
                            <m:t>𝑖𝑡</m:t>
                          </m:r>
                        </m:sub>
                      </m:sSub>
                    </m:oMath>
                  </m:oMathPara>
                </a14:m>
                <a:endParaRPr lang="en-US" altLang="zh-CN" sz="1200" i="1">
                  <a:latin typeface="Cambria Math" panose="02040503050406030204" pitchFamily="18" charset="0"/>
                  <a:cs typeface="Cambria Math" panose="020405030504060302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477456" y="1543304"/>
                <a:ext cx="3509645" cy="611505"/>
              </a:xfrm>
              <a:prstGeom prst="rect">
                <a:avLst/>
              </a:prstGeom>
              <a:blipFill rotWithShape="1">
                <a:blip r:embed="rId2"/>
                <a:stretch>
                  <a:fillRect l="-16" t="-42" r="16" b="42"/>
                </a:stretch>
              </a:blipFill>
            </p:spPr>
            <p:txBody>
              <a:bodyPr/>
              <a:lstStyle/>
              <a:p>
                <a:r>
                  <a:rPr lang="zh-CN" altLang="en-US">
                    <a:noFill/>
                  </a:rPr>
                  <a:t> </a:t>
                </a:r>
              </a:p>
            </p:txBody>
          </p:sp>
        </mc:Fallback>
      </mc:AlternateContent>
      <p:sp>
        <p:nvSpPr>
          <p:cNvPr id="12" name="流程图: 可选过程 11"/>
          <p:cNvSpPr/>
          <p:nvPr/>
        </p:nvSpPr>
        <p:spPr>
          <a:xfrm>
            <a:off x="1231265" y="966470"/>
            <a:ext cx="1719580" cy="389255"/>
          </a:xfrm>
          <a:prstGeom prst="flowChartAlternateProcess">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kern="100">
                <a:solidFill>
                  <a:schemeClr val="bg1"/>
                </a:solidFill>
                <a:latin typeface="+mj-ea"/>
                <a:ea typeface="+mj-ea"/>
                <a:cs typeface="Times New Roman" panose="02020603050405020304" pitchFamily="18" charset="0"/>
                <a:sym typeface="+mn-ea"/>
              </a:rPr>
              <a:t>模型设定</a:t>
            </a:r>
            <a:endParaRPr lang="zh-CN" altLang="en-US" kern="100">
              <a:solidFill>
                <a:schemeClr val="bg1"/>
              </a:solidFill>
              <a:latin typeface="+mj-ea"/>
              <a:ea typeface="+mj-ea"/>
              <a:cs typeface="Times New Roman" panose="02020603050405020304" pitchFamily="18" charset="0"/>
              <a:sym typeface="+mn-ea"/>
            </a:endParaRPr>
          </a:p>
        </p:txBody>
      </p:sp>
      <p:sp>
        <p:nvSpPr>
          <p:cNvPr id="13" name="流程图: 可选过程 12"/>
          <p:cNvSpPr/>
          <p:nvPr>
            <p:custDataLst>
              <p:tags r:id="rId3"/>
            </p:custDataLst>
          </p:nvPr>
        </p:nvSpPr>
        <p:spPr>
          <a:xfrm>
            <a:off x="5633720" y="966470"/>
            <a:ext cx="1719580" cy="389255"/>
          </a:xfrm>
          <a:prstGeom prst="flowChartAlternateProcess">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kern="100">
                <a:solidFill>
                  <a:schemeClr val="bg1"/>
                </a:solidFill>
                <a:latin typeface="+mj-ea"/>
                <a:ea typeface="+mj-ea"/>
                <a:cs typeface="Times New Roman" panose="02020603050405020304" pitchFamily="18" charset="0"/>
                <a:sym typeface="+mn-ea"/>
              </a:rPr>
              <a:t>基本思想</a:t>
            </a:r>
            <a:endParaRPr lang="zh-CN" altLang="en-US" kern="100">
              <a:solidFill>
                <a:schemeClr val="bg1"/>
              </a:solidFill>
              <a:latin typeface="+mj-ea"/>
              <a:ea typeface="+mj-ea"/>
              <a:cs typeface="Times New Roman" panose="02020603050405020304" pitchFamily="18" charset="0"/>
              <a:sym typeface="+mn-ea"/>
            </a:endParaRPr>
          </a:p>
        </p:txBody>
      </p:sp>
      <p:cxnSp>
        <p:nvCxnSpPr>
          <p:cNvPr id="14" name="直接连接符 13"/>
          <p:cNvCxnSpPr/>
          <p:nvPr/>
        </p:nvCxnSpPr>
        <p:spPr>
          <a:xfrm>
            <a:off x="4572000" y="1275080"/>
            <a:ext cx="0" cy="381000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15" name="矩形 14"/>
              <p:cNvSpPr/>
              <p:nvPr>
                <p:custDataLst>
                  <p:tags r:id="rId4"/>
                </p:custDataLst>
              </p:nvPr>
            </p:nvSpPr>
            <p:spPr>
              <a:xfrm>
                <a:off x="658053" y="2424951"/>
                <a:ext cx="3148112" cy="1914525"/>
              </a:xfrm>
              <a:prstGeom prst="rect">
                <a:avLst/>
              </a:prstGeom>
            </p:spPr>
            <p:txBody>
              <a:bodyPr wrap="square">
                <a:spAutoFit/>
              </a:bodyPr>
              <a:lstStyle/>
              <a:p>
                <a:pPr marL="171450" indent="-171450">
                  <a:lnSpc>
                    <a:spcPct val="130000"/>
                  </a:lnSpc>
                  <a:spcBef>
                    <a:spcPts val="600"/>
                  </a:spcBef>
                  <a:buFont typeface="Arial" panose="020B0604020202020204" pitchFamily="34" charset="0"/>
                  <a:buChar char="•"/>
                </a:pPr>
                <a14:m>
                  <m:oMath xmlns:m="http://schemas.openxmlformats.org/officeDocument/2006/math">
                    <m:r>
                      <a:rPr lang="en-US" altLang="zh-CN" sz="1200" i="1">
                        <a:latin typeface="Cambria Math" panose="02040503050406030204" pitchFamily="18" charset="0"/>
                        <a:cs typeface="Cambria Math" panose="02040503050406030204" pitchFamily="18" charset="0"/>
                      </a:rPr>
                      <m:t>𝑦𝑒𝑎</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𝑟</m:t>
                        </m:r>
                      </m:e>
                      <m:sub>
                        <m:r>
                          <a:rPr lang="en-US" altLang="zh-CN" sz="1200" i="1">
                            <a:latin typeface="Cambria Math" panose="02040503050406030204" pitchFamily="18" charset="0"/>
                            <a:cs typeface="Cambria Math" panose="02040503050406030204" pitchFamily="18" charset="0"/>
                          </a:rPr>
                          <m:t>𝑡</m:t>
                        </m:r>
                      </m:sub>
                    </m:sSub>
                  </m:oMath>
                </a14:m>
                <a:endParaRPr lang="en-US" altLang="zh-CN" sz="1200" i="1">
                  <a:latin typeface="Cambria Math" panose="02040503050406030204" pitchFamily="18" charset="0"/>
                  <a:cs typeface="Cambria Math" panose="02040503050406030204" pitchFamily="18" charset="0"/>
                </a:endParaRPr>
              </a:p>
              <a:p>
                <a:pPr indent="0">
                  <a:lnSpc>
                    <a:spcPct val="130000"/>
                  </a:lnSpc>
                  <a:spcBef>
                    <a:spcPts val="600"/>
                  </a:spcBef>
                  <a:buFont typeface="Arial" panose="020B0604020202020204" pitchFamily="34" charset="0"/>
                  <a:buNone/>
                </a:pPr>
                <a:r>
                  <a:rPr lang="en-US" altLang="zh-CN" sz="1200">
                    <a:solidFill>
                      <a:schemeClr val="tx1">
                        <a:lumMod val="50000"/>
                        <a:lumOff val="50000"/>
                      </a:schemeClr>
                    </a:solidFill>
                  </a:rPr>
                  <a:t>      取值为1当且仅当数据是来自年份</a:t>
                </a:r>
                <a14:m>
                  <m:oMath xmlns:m="http://schemas.openxmlformats.org/officeDocument/2006/math">
                    <m:r>
                      <a:rPr lang="en-US" altLang="zh-CN" sz="1200" i="1">
                        <a:solidFill>
                          <a:schemeClr val="tx1">
                            <a:lumMod val="50000"/>
                            <a:lumOff val="50000"/>
                          </a:schemeClr>
                        </a:solidFill>
                        <a:latin typeface="Cambria Math" panose="02040503050406030204" pitchFamily="18" charset="0"/>
                        <a:cs typeface="Cambria Math" panose="02040503050406030204" pitchFamily="18" charset="0"/>
                      </a:rPr>
                      <m:t>𝑡</m:t>
                    </m:r>
                  </m:oMath>
                </a14:m>
                <a:endParaRPr lang="en-US" altLang="zh-CN" sz="1200" i="1">
                  <a:solidFill>
                    <a:schemeClr val="tx1">
                      <a:lumMod val="50000"/>
                      <a:lumOff val="50000"/>
                    </a:schemeClr>
                  </a:solidFill>
                  <a:latin typeface="Cambria Math" panose="02040503050406030204" pitchFamily="18" charset="0"/>
                  <a:cs typeface="Cambria Math" panose="02040503050406030204" pitchFamily="18" charset="0"/>
                </a:endParaRPr>
              </a:p>
              <a:p>
                <a:pPr marL="171450" indent="-171450">
                  <a:lnSpc>
                    <a:spcPct val="130000"/>
                  </a:lnSpc>
                  <a:spcBef>
                    <a:spcPts val="600"/>
                  </a:spcBef>
                  <a:buFont typeface="Arial" panose="020B0604020202020204" pitchFamily="34" charset="0"/>
                  <a:buChar char="•"/>
                </a:pPr>
                <a:r>
                  <a:rPr lang="en-US" altLang="zh-CN" sz="1200">
                    <a:solidFill>
                      <a:schemeClr val="tx1">
                        <a:lumMod val="50000"/>
                        <a:lumOff val="50000"/>
                      </a:schemeClr>
                    </a:solidFill>
                  </a:rPr>
                  <a:t> </a:t>
                </a:r>
                <a14:m>
                  <m:oMath xmlns:m="http://schemas.openxmlformats.org/officeDocument/2006/math">
                    <m:r>
                      <a:rPr lang="en-US" altLang="zh-CN" sz="1200" i="1">
                        <a:latin typeface="Cambria Math" panose="02040503050406030204" pitchFamily="18" charset="0"/>
                        <a:cs typeface="Cambria Math" panose="02040503050406030204" pitchFamily="18" charset="0"/>
                      </a:rPr>
                      <m:t>𝑑𝑖𝑠𝑡𝑟𝑖𝑐</m:t>
                    </m:r>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𝑡</m:t>
                        </m:r>
                      </m:e>
                      <m:sub>
                        <m:r>
                          <a:rPr lang="en-US" altLang="zh-CN" sz="1200" i="1">
                            <a:latin typeface="Cambria Math" panose="02040503050406030204" pitchFamily="18" charset="0"/>
                            <a:cs typeface="Cambria Math" panose="02040503050406030204" pitchFamily="18" charset="0"/>
                          </a:rPr>
                          <m:t>𝑖</m:t>
                        </m:r>
                      </m:sub>
                    </m:sSub>
                  </m:oMath>
                </a14:m>
                <a:endParaRPr lang="en-US" altLang="zh-CN" sz="1200" i="1">
                  <a:latin typeface="Cambria Math" panose="02040503050406030204" pitchFamily="18" charset="0"/>
                  <a:cs typeface="Cambria Math" panose="02040503050406030204" pitchFamily="18" charset="0"/>
                </a:endParaRPr>
              </a:p>
              <a:p>
                <a:pPr indent="0">
                  <a:lnSpc>
                    <a:spcPct val="130000"/>
                  </a:lnSpc>
                  <a:spcBef>
                    <a:spcPts val="600"/>
                  </a:spcBef>
                  <a:buFont typeface="Arial" panose="020B0604020202020204" pitchFamily="34" charset="0"/>
                  <a:buNone/>
                </a:pPr>
                <a:r>
                  <a:rPr lang="en-US" altLang="zh-CN" sz="1200">
                    <a:solidFill>
                      <a:schemeClr val="tx1">
                        <a:lumMod val="50000"/>
                        <a:lumOff val="50000"/>
                      </a:schemeClr>
                    </a:solidFill>
                    <a:sym typeface="+mn-ea"/>
                  </a:rPr>
                  <a:t>      取值为1当且仅当数据是来自地区i</a:t>
                </a:r>
                <a:endParaRPr lang="en-US" altLang="zh-CN" sz="1200" i="1">
                  <a:solidFill>
                    <a:schemeClr val="tx1">
                      <a:lumMod val="50000"/>
                      <a:lumOff val="50000"/>
                    </a:schemeClr>
                  </a:solidFill>
                  <a:latin typeface="Cambria Math" panose="02040503050406030204" pitchFamily="18" charset="0"/>
                  <a:cs typeface="Cambria Math" panose="02040503050406030204" pitchFamily="18" charset="0"/>
                </a:endParaRPr>
              </a:p>
              <a:p>
                <a:pPr marL="171450" indent="-171450">
                  <a:lnSpc>
                    <a:spcPct val="130000"/>
                  </a:lnSpc>
                  <a:spcBef>
                    <a:spcPts val="600"/>
                  </a:spcBef>
                  <a:buFont typeface="Arial" panose="020B0604020202020204" pitchFamily="34" charset="0"/>
                  <a:buChar char="•"/>
                </a:pPr>
                <a14:m>
                  <m:oMath xmlns:m="http://schemas.openxmlformats.org/officeDocument/2006/math">
                    <m:sSub>
                      <m:sSubPr>
                        <m:ctrlPr>
                          <a:rPr lang="en-US" altLang="zh-CN" sz="1200" i="1">
                            <a:latin typeface="Cambria Math" panose="02040503050406030204" pitchFamily="18" charset="0"/>
                            <a:cs typeface="Cambria Math" panose="02040503050406030204" pitchFamily="18" charset="0"/>
                          </a:rPr>
                        </m:ctrlPr>
                      </m:sSubPr>
                      <m:e>
                        <m:r>
                          <a:rPr lang="en-US" altLang="zh-CN" sz="1200" i="1">
                            <a:latin typeface="Cambria Math" panose="02040503050406030204" pitchFamily="18" charset="0"/>
                            <a:cs typeface="Cambria Math" panose="02040503050406030204" pitchFamily="18" charset="0"/>
                          </a:rPr>
                          <m:t>𝜀</m:t>
                        </m:r>
                      </m:e>
                      <m:sub>
                        <m:r>
                          <a:rPr lang="en-US" altLang="zh-CN" sz="1200" i="1">
                            <a:latin typeface="Cambria Math" panose="02040503050406030204" pitchFamily="18" charset="0"/>
                            <a:cs typeface="Cambria Math" panose="02040503050406030204" pitchFamily="18" charset="0"/>
                          </a:rPr>
                          <m:t>𝑖𝑡</m:t>
                        </m:r>
                      </m:sub>
                    </m:sSub>
                  </m:oMath>
                </a14:m>
                <a:endParaRPr lang="en-US" altLang="zh-CN" sz="1200" i="1">
                  <a:latin typeface="Cambria Math" panose="02040503050406030204" pitchFamily="18" charset="0"/>
                  <a:cs typeface="Cambria Math" panose="02040503050406030204" pitchFamily="18" charset="0"/>
                </a:endParaRPr>
              </a:p>
              <a:p>
                <a:pPr indent="0">
                  <a:lnSpc>
                    <a:spcPct val="130000"/>
                  </a:lnSpc>
                  <a:spcBef>
                    <a:spcPts val="600"/>
                  </a:spcBef>
                  <a:buFont typeface="Arial" panose="020B0604020202020204" pitchFamily="34" charset="0"/>
                  <a:buNone/>
                </a:pPr>
                <a:r>
                  <a:rPr lang="en-US" altLang="zh-CN" sz="1200">
                    <a:solidFill>
                      <a:schemeClr val="tx1">
                        <a:lumMod val="50000"/>
                        <a:lumOff val="50000"/>
                      </a:schemeClr>
                    </a:solidFill>
                    <a:sym typeface="+mn-ea"/>
                  </a:rPr>
                  <a:t>      </a:t>
                </a:r>
                <a:r>
                  <a:rPr lang="zh-CN" altLang="en-US" sz="1200">
                    <a:solidFill>
                      <a:schemeClr val="tx1">
                        <a:lumMod val="50000"/>
                        <a:lumOff val="50000"/>
                      </a:schemeClr>
                    </a:solidFill>
                    <a:sym typeface="+mn-ea"/>
                  </a:rPr>
                  <a:t>模型误差项</a:t>
                </a:r>
                <a:endParaRPr lang="zh-CN" altLang="en-US" sz="1200">
                  <a:solidFill>
                    <a:schemeClr val="tx1">
                      <a:lumMod val="50000"/>
                      <a:lumOff val="50000"/>
                    </a:schemeClr>
                  </a:solidFill>
                  <a:sym typeface="+mn-ea"/>
                </a:endParaRPr>
              </a:p>
            </p:txBody>
          </p:sp>
        </mc:Choice>
        <mc:Fallback>
          <p:sp>
            <p:nvSpPr>
              <p:cNvPr id="15" name="矩形 14"/>
              <p:cNvSpPr>
                <a:spLocks noRot="1" noChangeAspect="1" noMove="1" noResize="1" noEditPoints="1" noAdjustHandles="1" noChangeArrowheads="1" noChangeShapeType="1" noTextEdit="1"/>
              </p:cNvSpPr>
              <p:nvPr>
                <p:custDataLst>
                  <p:tags r:id="rId5"/>
                </p:custDataLst>
              </p:nvPr>
            </p:nvSpPr>
            <p:spPr>
              <a:xfrm>
                <a:off x="658053" y="2424951"/>
                <a:ext cx="3148112" cy="1914525"/>
              </a:xfrm>
              <a:prstGeom prst="rect">
                <a:avLst/>
              </a:prstGeom>
              <a:blipFill rotWithShape="1">
                <a:blip r:embed="rId6"/>
                <a:stretch>
                  <a:fillRect l="-6" t="-27" r="19" b="27"/>
                </a:stretch>
              </a:blipFill>
            </p:spPr>
            <p:txBody>
              <a:bodyPr/>
              <a:lstStyle/>
              <a:p>
                <a:r>
                  <a:rPr lang="zh-CN" altLang="en-US">
                    <a:noFill/>
                  </a:rPr>
                  <a:t> </a:t>
                </a:r>
              </a:p>
            </p:txBody>
          </p:sp>
        </mc:Fallback>
      </mc:AlternateContent>
      <p:sp>
        <p:nvSpPr>
          <p:cNvPr id="16" name="文本框 15"/>
          <p:cNvSpPr txBox="1"/>
          <p:nvPr/>
        </p:nvSpPr>
        <p:spPr>
          <a:xfrm>
            <a:off x="2679700" y="2846070"/>
            <a:ext cx="3048000" cy="368300"/>
          </a:xfrm>
          <a:prstGeom prst="rect">
            <a:avLst/>
          </a:prstGeom>
          <a:noFill/>
        </p:spPr>
        <p:txBody>
          <a:bodyPr wrap="square" rtlCol="0">
            <a:spAutoFit/>
          </a:bodyPr>
          <a:lstStyle/>
          <a:p>
            <a:endParaRPr lang="zh-CN" altLang="en-US"/>
          </a:p>
        </p:txBody>
      </p:sp>
      <mc:AlternateContent xmlns:mc="http://schemas.openxmlformats.org/markup-compatibility/2006">
        <mc:Choice xmlns:a14="http://schemas.microsoft.com/office/drawing/2010/main" Requires="a14">
          <p:sp>
            <p:nvSpPr>
              <p:cNvPr id="27" name="矩形 26"/>
              <p:cNvSpPr/>
              <p:nvPr>
                <p:custDataLst>
                  <p:tags r:id="rId7"/>
                </p:custDataLst>
              </p:nvPr>
            </p:nvSpPr>
            <p:spPr>
              <a:xfrm>
                <a:off x="4915535" y="1543050"/>
                <a:ext cx="3914775" cy="3141980"/>
              </a:xfrm>
              <a:prstGeom prst="rect">
                <a:avLst/>
              </a:prstGeom>
            </p:spPr>
            <p:txBody>
              <a:bodyPr wrap="square">
                <a:spAutoFit/>
              </a:bodyPr>
              <a:lstStyle/>
              <a:p>
                <a:pPr marL="171450" indent="-171450">
                  <a:lnSpc>
                    <a:spcPct val="130000"/>
                  </a:lnSpc>
                  <a:spcBef>
                    <a:spcPts val="600"/>
                  </a:spcBef>
                  <a:buFont typeface="Arial" panose="020B0604020202020204" pitchFamily="34" charset="0"/>
                  <a:buChar char="•"/>
                </a:pPr>
                <a:r>
                  <a:rPr sz="1200" dirty="0" err="1">
                    <a:solidFill>
                      <a:schemeClr val="tx1">
                        <a:lumMod val="50000"/>
                        <a:lumOff val="50000"/>
                      </a:schemeClr>
                    </a:solidFill>
                    <a:sym typeface="+mn-ea"/>
                  </a:rPr>
                  <a:t>我们认为</a:t>
                </a:r>
                <a:r>
                  <a:rPr lang="zh-CN" sz="1200" dirty="0">
                    <a:solidFill>
                      <a:schemeClr val="tx1">
                        <a:lumMod val="50000"/>
                        <a:lumOff val="50000"/>
                      </a:schemeClr>
                    </a:solidFill>
                    <a:sym typeface="+mn-ea"/>
                  </a:rPr>
                  <a:t>：</a:t>
                </a:r>
                <a:r>
                  <a:rPr sz="1200" dirty="0" err="1">
                    <a:solidFill>
                      <a:schemeClr val="tx1">
                        <a:lumMod val="50000"/>
                        <a:lumOff val="50000"/>
                      </a:schemeClr>
                    </a:solidFill>
                    <a:sym typeface="+mn-ea"/>
                  </a:rPr>
                  <a:t>在没有外生冲击时</a:t>
                </a:r>
                <a:r>
                  <a:rPr lang="zh-CN" sz="1200" dirty="0">
                    <a:solidFill>
                      <a:schemeClr val="tx1">
                        <a:lumMod val="50000"/>
                        <a:lumOff val="50000"/>
                      </a:schemeClr>
                    </a:solidFill>
                    <a:sym typeface="+mn-ea"/>
                  </a:rPr>
                  <a:t>，</a:t>
                </a:r>
                <a:r>
                  <a:rPr sz="1200" dirty="0">
                    <a:solidFill>
                      <a:schemeClr val="tx1">
                        <a:lumMod val="50000"/>
                        <a:lumOff val="50000"/>
                      </a:schemeClr>
                    </a:solidFill>
                    <a:sym typeface="+mn-ea"/>
                  </a:rPr>
                  <a:t>各地可以合理地假定为平稳发展，碳交易价格应该保持相对稳定；此时如果经历了外生的冲击而导致碳交易价格出现波动，那么可以将该波动归因至此外生冲击。如果断点回归的这一前提假设成立，那么我们的估计就是有效的。</a:t>
                </a:r>
                <a:endParaRPr sz="1200" dirty="0">
                  <a:solidFill>
                    <a:schemeClr val="tx1">
                      <a:lumMod val="50000"/>
                      <a:lumOff val="50000"/>
                    </a:schemeClr>
                  </a:solidFill>
                  <a:sym typeface="+mn-ea"/>
                </a:endParaRPr>
              </a:p>
              <a:p>
                <a:pPr marL="171450" indent="-171450">
                  <a:lnSpc>
                    <a:spcPct val="130000"/>
                  </a:lnSpc>
                  <a:spcBef>
                    <a:spcPts val="600"/>
                  </a:spcBef>
                  <a:buFont typeface="Arial" panose="020B0604020202020204" pitchFamily="34" charset="0"/>
                  <a:buChar char="•"/>
                </a:pPr>
                <a:r>
                  <a:rPr sz="1200" dirty="0">
                    <a:solidFill>
                      <a:schemeClr val="tx1">
                        <a:lumMod val="50000"/>
                        <a:lumOff val="50000"/>
                      </a:schemeClr>
                    </a:solidFill>
                    <a:sym typeface="+mn-ea"/>
                  </a:rPr>
                  <a:t>本回归中包含截距，相当于以各地区2011年的情况作为对照，因此系数</a:t>
                </a:r>
                <a14:m>
                  <m:oMath xmlns:m="http://schemas.openxmlformats.org/officeDocument/2006/math">
                    <m:sSub>
                      <m:sSubPr>
                        <m:ctrlP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ctrlPr>
                      </m:sSubPr>
                      <m:e>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𝛽</m:t>
                        </m:r>
                      </m:e>
                      <m:sub>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𝑡</m:t>
                        </m:r>
                      </m:sub>
                    </m:sSub>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𝑡</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2012</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2013</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2020</m:t>
                    </m:r>
                    <m:r>
                      <a:rPr lang="en-US" sz="1200" i="1">
                        <a:solidFill>
                          <a:schemeClr val="tx1">
                            <a:lumMod val="50000"/>
                            <a:lumOff val="50000"/>
                          </a:schemeClr>
                        </a:solidFill>
                        <a:latin typeface="Cambria Math" panose="02040503050406030204" pitchFamily="18" charset="0"/>
                        <a:cs typeface="Cambria Math" panose="02040503050406030204" pitchFamily="18" charset="0"/>
                        <a:sym typeface="+mn-ea"/>
                      </a:rPr>
                      <m:t>)</m:t>
                    </m:r>
                  </m:oMath>
                </a14:m>
                <a:r>
                  <a:rPr sz="1200" dirty="0">
                    <a:solidFill>
                      <a:schemeClr val="tx1">
                        <a:lumMod val="50000"/>
                        <a:lumOff val="50000"/>
                      </a:schemeClr>
                    </a:solidFill>
                    <a:sym typeface="+mn-ea"/>
                  </a:rPr>
                  <a:t>估计的是从2012年至2020年的每一年对碳交易价格的处理效应。</a:t>
                </a:r>
                <a:endParaRPr sz="1200" dirty="0">
                  <a:solidFill>
                    <a:schemeClr val="tx1">
                      <a:lumMod val="50000"/>
                      <a:lumOff val="50000"/>
                    </a:schemeClr>
                  </a:solidFill>
                  <a:sym typeface="+mn-ea"/>
                </a:endParaRPr>
              </a:p>
              <a:p>
                <a:pPr marL="171450" indent="-171450">
                  <a:lnSpc>
                    <a:spcPct val="130000"/>
                  </a:lnSpc>
                  <a:spcBef>
                    <a:spcPts val="600"/>
                  </a:spcBef>
                  <a:buFont typeface="Arial" panose="020B0604020202020204" pitchFamily="34" charset="0"/>
                  <a:buChar char="•"/>
                </a:pPr>
                <a:r>
                  <a:rPr sz="1200" dirty="0" err="1">
                    <a:solidFill>
                      <a:schemeClr val="tx1">
                        <a:lumMod val="50000"/>
                        <a:lumOff val="50000"/>
                      </a:schemeClr>
                    </a:solidFill>
                    <a:sym typeface="+mn-ea"/>
                  </a:rPr>
                  <a:t>模型中加入</a:t>
                </a:r>
                <a14:m>
                  <m:oMath xmlns:m="http://schemas.openxmlformats.org/officeDocument/2006/math">
                    <m:nary>
                      <m:naryPr>
                        <m:chr m:val="∑"/>
                        <m:limLoc m:val="undOvr"/>
                        <m:supHide m:val="on"/>
                        <m:ctrlPr>
                          <a:rPr lang="en-US" sz="1200" i="1">
                            <a:solidFill>
                              <a:schemeClr val="tx1">
                                <a:lumMod val="50000"/>
                                <a:lumOff val="50000"/>
                              </a:schemeClr>
                            </a:solidFill>
                            <a:latin typeface="Cambria Math" panose="02040503050406030204" pitchFamily="18" charset="0"/>
                            <a:cs typeface="Cambria Math" panose="02040503050406030204" pitchFamily="18" charset="0"/>
                          </a:rPr>
                        </m:ctrlPr>
                      </m:naryPr>
                      <m:sub>
                        <m:r>
                          <a:rPr lang="en-US" sz="1200" i="1">
                            <a:solidFill>
                              <a:schemeClr val="tx1">
                                <a:lumMod val="50000"/>
                                <a:lumOff val="50000"/>
                              </a:schemeClr>
                            </a:solidFill>
                            <a:latin typeface="Cambria Math" panose="02040503050406030204" pitchFamily="18" charset="0"/>
                            <a:cs typeface="Cambria Math" panose="02040503050406030204" pitchFamily="18" charset="0"/>
                          </a:rPr>
                          <m:t>𝑖</m:t>
                        </m:r>
                      </m:sub>
                      <m:sup/>
                      <m:e>
                        <m:sSub>
                          <m:sSubPr>
                            <m:ctrlPr>
                              <a:rPr lang="en-US" sz="1200" i="1">
                                <a:solidFill>
                                  <a:schemeClr val="tx1">
                                    <a:lumMod val="50000"/>
                                    <a:lumOff val="50000"/>
                                  </a:schemeClr>
                                </a:solidFill>
                                <a:latin typeface="Cambria Math" panose="02040503050406030204" pitchFamily="18" charset="0"/>
                                <a:cs typeface="Cambria Math" panose="02040503050406030204" pitchFamily="18" charset="0"/>
                              </a:rPr>
                            </m:ctrlPr>
                          </m:sSubPr>
                          <m:e>
                            <m:r>
                              <a:rPr lang="en-US" sz="1200" i="1">
                                <a:solidFill>
                                  <a:schemeClr val="tx1">
                                    <a:lumMod val="50000"/>
                                    <a:lumOff val="50000"/>
                                  </a:schemeClr>
                                </a:solidFill>
                                <a:latin typeface="Cambria Math" panose="02040503050406030204" pitchFamily="18" charset="0"/>
                                <a:cs typeface="Cambria Math" panose="02040503050406030204" pitchFamily="18" charset="0"/>
                              </a:rPr>
                              <m:t>𝛿</m:t>
                            </m:r>
                          </m:e>
                          <m:sub>
                            <m:r>
                              <a:rPr lang="en-US" sz="1200" i="1">
                                <a:solidFill>
                                  <a:schemeClr val="tx1">
                                    <a:lumMod val="50000"/>
                                    <a:lumOff val="50000"/>
                                  </a:schemeClr>
                                </a:solidFill>
                                <a:latin typeface="Cambria Math" panose="02040503050406030204" pitchFamily="18" charset="0"/>
                                <a:cs typeface="Cambria Math" panose="02040503050406030204" pitchFamily="18" charset="0"/>
                              </a:rPr>
                              <m:t>𝑖</m:t>
                            </m:r>
                          </m:sub>
                        </m:sSub>
                        <m:r>
                          <a:rPr lang="en-US" sz="1200" i="1">
                            <a:solidFill>
                              <a:schemeClr val="tx1">
                                <a:lumMod val="50000"/>
                                <a:lumOff val="50000"/>
                              </a:schemeClr>
                            </a:solidFill>
                            <a:latin typeface="Cambria Math" panose="02040503050406030204" pitchFamily="18" charset="0"/>
                            <a:cs typeface="Cambria Math" panose="02040503050406030204" pitchFamily="18" charset="0"/>
                          </a:rPr>
                          <m:t>𝑑𝑖𝑠𝑡𝑟𝑖𝑐</m:t>
                        </m:r>
                        <m:sSub>
                          <m:sSubPr>
                            <m:ctrlPr>
                              <a:rPr lang="en-US" sz="1200" i="1">
                                <a:solidFill>
                                  <a:schemeClr val="tx1">
                                    <a:lumMod val="50000"/>
                                    <a:lumOff val="50000"/>
                                  </a:schemeClr>
                                </a:solidFill>
                                <a:latin typeface="Cambria Math" panose="02040503050406030204" pitchFamily="18" charset="0"/>
                                <a:cs typeface="Cambria Math" panose="02040503050406030204" pitchFamily="18" charset="0"/>
                              </a:rPr>
                            </m:ctrlPr>
                          </m:sSubPr>
                          <m:e>
                            <m:r>
                              <a:rPr lang="en-US" sz="1200" i="1">
                                <a:solidFill>
                                  <a:schemeClr val="tx1">
                                    <a:lumMod val="50000"/>
                                    <a:lumOff val="50000"/>
                                  </a:schemeClr>
                                </a:solidFill>
                                <a:latin typeface="Cambria Math" panose="02040503050406030204" pitchFamily="18" charset="0"/>
                                <a:cs typeface="Cambria Math" panose="02040503050406030204" pitchFamily="18" charset="0"/>
                              </a:rPr>
                              <m:t>𝑡</m:t>
                            </m:r>
                          </m:e>
                          <m:sub>
                            <m:r>
                              <a:rPr lang="en-US" sz="1200" i="1">
                                <a:solidFill>
                                  <a:schemeClr val="tx1">
                                    <a:lumMod val="50000"/>
                                    <a:lumOff val="50000"/>
                                  </a:schemeClr>
                                </a:solidFill>
                                <a:latin typeface="Cambria Math" panose="02040503050406030204" pitchFamily="18" charset="0"/>
                                <a:cs typeface="Cambria Math" panose="02040503050406030204" pitchFamily="18" charset="0"/>
                              </a:rPr>
                              <m:t>𝑖</m:t>
                            </m:r>
                          </m:sub>
                        </m:sSub>
                      </m:e>
                    </m:nary>
                  </m:oMath>
                </a14:m>
                <a:r>
                  <a:rPr sz="1200" dirty="0" err="1">
                    <a:solidFill>
                      <a:schemeClr val="tx1">
                        <a:lumMod val="50000"/>
                        <a:lumOff val="50000"/>
                      </a:schemeClr>
                    </a:solidFill>
                    <a:sym typeface="+mn-ea"/>
                  </a:rPr>
                  <a:t>一项的目的是控制地区的固定效应，使得估计能排除地区的内生性，保证因果识别干净有效</a:t>
                </a:r>
                <a:r>
                  <a:rPr sz="1200" dirty="0">
                    <a:solidFill>
                      <a:schemeClr val="tx1">
                        <a:lumMod val="50000"/>
                        <a:lumOff val="50000"/>
                      </a:schemeClr>
                    </a:solidFill>
                    <a:sym typeface="+mn-ea"/>
                  </a:rPr>
                  <a:t>。</a:t>
                </a:r>
                <a:endParaRPr sz="1200" dirty="0">
                  <a:solidFill>
                    <a:schemeClr val="tx1">
                      <a:lumMod val="50000"/>
                      <a:lumOff val="50000"/>
                    </a:schemeClr>
                  </a:solidFill>
                  <a:sym typeface="+mn-ea"/>
                </a:endParaRPr>
              </a:p>
            </p:txBody>
          </p:sp>
        </mc:Choice>
        <mc:Fallback>
          <p:sp>
            <p:nvSpPr>
              <p:cNvPr id="27" name="矩形 26"/>
              <p:cNvSpPr>
                <a:spLocks noRot="1" noChangeAspect="1" noMove="1" noResize="1" noEditPoints="1" noAdjustHandles="1" noChangeArrowheads="1" noChangeShapeType="1" noTextEdit="1"/>
              </p:cNvSpPr>
              <p:nvPr>
                <p:custDataLst>
                  <p:tags r:id="rId8"/>
                </p:custDataLst>
              </p:nvPr>
            </p:nvSpPr>
            <p:spPr>
              <a:xfrm>
                <a:off x="4915535" y="1543050"/>
                <a:ext cx="3914775" cy="3141980"/>
              </a:xfrm>
              <a:prstGeom prst="rect">
                <a:avLst/>
              </a:prstGeom>
              <a:blipFill rotWithShape="1">
                <a:blip r:embed="rId9"/>
                <a:stretch>
                  <a:fillRect/>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2976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研究成果展示：事件研究</a:t>
            </a:r>
            <a:endParaRPr lang="zh-CN" altLang="en-US" sz="2000" dirty="0">
              <a:solidFill>
                <a:schemeClr val="accent1"/>
              </a:solidFill>
              <a:latin typeface="+mj-ea"/>
              <a:ea typeface="+mj-ea"/>
            </a:endParaRPr>
          </a:p>
        </p:txBody>
      </p:sp>
      <p:sp>
        <p:nvSpPr>
          <p:cNvPr id="42" name="矩形 41"/>
          <p:cNvSpPr/>
          <p:nvPr/>
        </p:nvSpPr>
        <p:spPr>
          <a:xfrm>
            <a:off x="415480" y="434379"/>
            <a:ext cx="958215" cy="229870"/>
          </a:xfrm>
          <a:prstGeom prst="rect">
            <a:avLst/>
          </a:prstGeom>
        </p:spPr>
        <p:txBody>
          <a:bodyPr wrap="none">
            <a:spAutoFit/>
          </a:bodyPr>
          <a:lstStyle/>
          <a:p>
            <a:pPr lvl="0" fontAlgn="base">
              <a:spcBef>
                <a:spcPct val="0"/>
              </a:spcBef>
              <a:spcAft>
                <a:spcPct val="0"/>
              </a:spcAft>
              <a:defRPr/>
            </a:pPr>
            <a:r>
              <a:rPr lang="en-US" altLang="zh-CN" sz="900">
                <a:solidFill>
                  <a:schemeClr val="tx1">
                    <a:lumMod val="65000"/>
                    <a:lumOff val="35000"/>
                  </a:schemeClr>
                </a:solidFill>
                <a:latin typeface="Calibri Light" panose="020F0302020204030204" pitchFamily="34" charset="0"/>
                <a:ea typeface="方正兰亭黑_GBK"/>
              </a:rPr>
              <a:t>Research Results</a:t>
            </a:r>
            <a:endParaRPr lang="en-US" altLang="zh-CN" sz="900">
              <a:solidFill>
                <a:schemeClr val="tx1">
                  <a:lumMod val="65000"/>
                  <a:lumOff val="35000"/>
                </a:schemeClr>
              </a:solidFill>
              <a:latin typeface="Calibri Light" panose="020F0302020204030204" pitchFamily="34" charset="0"/>
              <a:ea typeface="方正兰亭黑_GBK"/>
            </a:endParaRPr>
          </a:p>
        </p:txBody>
      </p:sp>
      <p:sp>
        <p:nvSpPr>
          <p:cNvPr id="27" name="矩形 26"/>
          <p:cNvSpPr/>
          <p:nvPr>
            <p:custDataLst>
              <p:tags r:id="rId1"/>
            </p:custDataLst>
          </p:nvPr>
        </p:nvSpPr>
        <p:spPr>
          <a:xfrm>
            <a:off x="4694555" y="3742055"/>
            <a:ext cx="4097655" cy="968375"/>
          </a:xfrm>
          <a:prstGeom prst="rect">
            <a:avLst/>
          </a:prstGeom>
        </p:spPr>
        <p:txBody>
          <a:bodyPr wrap="square">
            <a:spAutoFit/>
          </a:bodyPr>
          <a:lstStyle/>
          <a:p>
            <a:pPr marL="228600" indent="-228600">
              <a:lnSpc>
                <a:spcPct val="130000"/>
              </a:lnSpc>
              <a:spcBef>
                <a:spcPts val="600"/>
              </a:spcBef>
              <a:buFont typeface="Arial" panose="020B0604020202020204" pitchFamily="34" charset="0"/>
              <a:buAutoNum type="arabicPeriod"/>
            </a:pPr>
            <a:r>
              <a:rPr sz="1000" dirty="0">
                <a:solidFill>
                  <a:schemeClr val="tx1">
                    <a:lumMod val="50000"/>
                    <a:lumOff val="50000"/>
                  </a:schemeClr>
                </a:solidFill>
                <a:sym typeface="+mn-ea"/>
              </a:rPr>
              <a:t>在2014年及之前</a:t>
            </a:r>
            <a:r>
              <a:rPr lang="zh-CN" sz="1000" dirty="0">
                <a:solidFill>
                  <a:schemeClr val="tx1">
                    <a:lumMod val="50000"/>
                    <a:lumOff val="50000"/>
                  </a:schemeClr>
                </a:solidFill>
                <a:sym typeface="+mn-ea"/>
              </a:rPr>
              <a:t>：</a:t>
            </a:r>
            <a:r>
              <a:rPr sz="1000" dirty="0">
                <a:solidFill>
                  <a:schemeClr val="tx1">
                    <a:lumMod val="50000"/>
                    <a:lumOff val="50000"/>
                  </a:schemeClr>
                </a:solidFill>
                <a:sym typeface="+mn-ea"/>
              </a:rPr>
              <a:t>年处理效应均不显著，它们的系数的95%置信区间均包含了0；</a:t>
            </a:r>
            <a:endParaRPr sz="1000" dirty="0">
              <a:solidFill>
                <a:schemeClr val="tx1">
                  <a:lumMod val="50000"/>
                  <a:lumOff val="50000"/>
                </a:schemeClr>
              </a:solidFill>
              <a:sym typeface="+mn-ea"/>
            </a:endParaRPr>
          </a:p>
          <a:p>
            <a:pPr marL="228600" indent="-228600">
              <a:lnSpc>
                <a:spcPct val="130000"/>
              </a:lnSpc>
              <a:spcBef>
                <a:spcPts val="600"/>
              </a:spcBef>
              <a:buFont typeface="Arial" panose="020B0604020202020204" pitchFamily="34" charset="0"/>
              <a:buAutoNum type="arabicPeriod"/>
            </a:pPr>
            <a:r>
              <a:rPr sz="1000" dirty="0">
                <a:solidFill>
                  <a:schemeClr val="tx1">
                    <a:lumMod val="50000"/>
                    <a:lumOff val="50000"/>
                  </a:schemeClr>
                </a:solidFill>
                <a:sym typeface="+mn-ea"/>
              </a:rPr>
              <a:t>在2015年及以后</a:t>
            </a:r>
            <a:r>
              <a:rPr lang="zh-CN" sz="1000" dirty="0">
                <a:solidFill>
                  <a:schemeClr val="tx1">
                    <a:lumMod val="50000"/>
                    <a:lumOff val="50000"/>
                  </a:schemeClr>
                </a:solidFill>
                <a:sym typeface="+mn-ea"/>
              </a:rPr>
              <a:t>：</a:t>
            </a:r>
            <a:r>
              <a:rPr sz="1000" dirty="0">
                <a:solidFill>
                  <a:schemeClr val="tx1">
                    <a:lumMod val="50000"/>
                    <a:lumOff val="50000"/>
                  </a:schemeClr>
                </a:solidFill>
                <a:sym typeface="+mn-ea"/>
              </a:rPr>
              <a:t>年处理效应显著，并且在2015~2017年之间逐年增大，后续虽然经历了一定的波动但是仍大于2014年及之前。</a:t>
            </a:r>
            <a:endParaRPr sz="1000" dirty="0">
              <a:solidFill>
                <a:schemeClr val="tx1">
                  <a:lumMod val="50000"/>
                  <a:lumOff val="50000"/>
                </a:schemeClr>
              </a:solidFill>
              <a:sym typeface="+mn-ea"/>
            </a:endParaRPr>
          </a:p>
        </p:txBody>
      </p:sp>
      <p:graphicFrame>
        <p:nvGraphicFramePr>
          <p:cNvPr id="3" name="表格 2"/>
          <p:cNvGraphicFramePr/>
          <p:nvPr>
            <p:custDataLst>
              <p:tags r:id="rId2"/>
            </p:custDataLst>
          </p:nvPr>
        </p:nvGraphicFramePr>
        <p:xfrm>
          <a:off x="451485" y="1069975"/>
          <a:ext cx="3558540" cy="3924935"/>
        </p:xfrm>
        <a:graphic>
          <a:graphicData uri="http://schemas.openxmlformats.org/drawingml/2006/table">
            <a:tbl>
              <a:tblPr firstRow="1" firstCol="1" bandCol="1">
                <a:tableStyleId>{7E4344BF-E997-4F6C-8EC3-A57AFB8971FD}</a:tableStyleId>
              </a:tblPr>
              <a:tblGrid>
                <a:gridCol w="832485"/>
                <a:gridCol w="2726055"/>
              </a:tblGrid>
              <a:tr h="167005">
                <a:tc>
                  <a:txBody>
                    <a:bodyPr/>
                    <a:lstStyle/>
                    <a:p>
                      <a:pPr indent="0" algn="ctr">
                        <a:buNone/>
                      </a:pPr>
                      <a:endParaRPr lang="en-US" altLang="en-US" sz="1000" dirty="0">
                        <a:solidFill>
                          <a:schemeClr val="bg1"/>
                        </a:solidFill>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rgbClr val="85A299"/>
                    </a:solidFill>
                  </a:tcPr>
                </a:tc>
                <a:tc>
                  <a:txBody>
                    <a:bodyPr/>
                    <a:lstStyle/>
                    <a:p>
                      <a:pPr indent="0" algn="ctr">
                        <a:buNone/>
                      </a:pPr>
                      <a:r>
                        <a:rPr lang="en-US" sz="1000" dirty="0">
                          <a:solidFill>
                            <a:schemeClr val="bg1"/>
                          </a:solidFill>
                          <a:latin typeface="Times New Roman" panose="02020603050405020304" pitchFamily="18" charset="0"/>
                          <a:cs typeface="Times New Roman" panose="02020603050405020304" pitchFamily="18" charset="0"/>
                        </a:rPr>
                        <a:t>Price</a:t>
                      </a:r>
                      <a:endParaRPr lang="en-US" altLang="en-US" sz="1000" dirty="0">
                        <a:solidFill>
                          <a:schemeClr val="bg1"/>
                        </a:solidFill>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rgbClr val="85A299"/>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2012</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-0.994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2013</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-2.068</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2014</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dirty="0">
                          <a:latin typeface="Times New Roman" panose="02020603050405020304" pitchFamily="18" charset="0"/>
                          <a:cs typeface="Times New Roman" panose="02020603050405020304" pitchFamily="18" charset="0"/>
                        </a:rPr>
                        <a:t>-2.512</a:t>
                      </a:r>
                      <a:r>
                        <a:rPr lang="en-US" sz="1000" baseline="30000" dirty="0">
                          <a:latin typeface="Times New Roman" panose="02020603050405020304" pitchFamily="18" charset="0"/>
                          <a:cs typeface="Times New Roman" panose="02020603050405020304" pitchFamily="18" charset="0"/>
                        </a:rPr>
                        <a:t>*</a:t>
                      </a:r>
                      <a:endParaRPr lang="en-US" altLang="en-US" sz="1000" baseline="30000" dirty="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2015</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dirty="0">
                          <a:latin typeface="Times New Roman" panose="02020603050405020304" pitchFamily="18" charset="0"/>
                          <a:cs typeface="Times New Roman" panose="02020603050405020304" pitchFamily="18" charset="0"/>
                        </a:rPr>
                        <a:t>-3.326</a:t>
                      </a:r>
                      <a:r>
                        <a:rPr lang="en-US" sz="1000" baseline="30000" dirty="0">
                          <a:latin typeface="Times New Roman" panose="02020603050405020304" pitchFamily="18" charset="0"/>
                          <a:cs typeface="Times New Roman" panose="02020603050405020304" pitchFamily="18" charset="0"/>
                        </a:rPr>
                        <a:t>**</a:t>
                      </a:r>
                      <a:endParaRPr lang="en-US" altLang="en-US" sz="1000" baseline="30000" dirty="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2016</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-3.589</a:t>
                      </a:r>
                      <a:r>
                        <a:rPr lang="en-US" sz="1000" baseline="30000">
                          <a:latin typeface="Times New Roman" panose="02020603050405020304" pitchFamily="18" charset="0"/>
                          <a:cs typeface="Times New Roman" panose="02020603050405020304" pitchFamily="18" charset="0"/>
                        </a:rPr>
                        <a:t>***</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2017</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-4.072</a:t>
                      </a:r>
                      <a:r>
                        <a:rPr lang="en-US" sz="1000" baseline="30000">
                          <a:latin typeface="Times New Roman" panose="02020603050405020304" pitchFamily="18" charset="0"/>
                          <a:cs typeface="Times New Roman" panose="02020603050405020304" pitchFamily="18" charset="0"/>
                        </a:rPr>
                        <a:t>***</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2018</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-3.507</a:t>
                      </a:r>
                      <a:r>
                        <a:rPr lang="en-US" sz="1000" baseline="30000">
                          <a:latin typeface="Times New Roman" panose="02020603050405020304" pitchFamily="18" charset="0"/>
                          <a:cs typeface="Times New Roman" panose="02020603050405020304" pitchFamily="18" charset="0"/>
                        </a:rPr>
                        <a:t>***</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2019</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-4.002</a:t>
                      </a:r>
                      <a:r>
                        <a:rPr lang="en-US" sz="1000" baseline="30000">
                          <a:latin typeface="Times New Roman" panose="02020603050405020304" pitchFamily="18" charset="0"/>
                          <a:cs typeface="Times New Roman" panose="02020603050405020304" pitchFamily="18" charset="0"/>
                        </a:rPr>
                        <a:t>***</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Year</a:t>
                      </a:r>
                      <a:r>
                        <a:rPr lang="en-US" sz="1000" baseline="-25000">
                          <a:latin typeface="Times New Roman" panose="02020603050405020304" pitchFamily="18" charset="0"/>
                          <a:cs typeface="Times New Roman" panose="02020603050405020304" pitchFamily="18" charset="0"/>
                        </a:rPr>
                        <a:t>2020</a:t>
                      </a:r>
                      <a:endParaRPr lang="en-US" altLang="en-US" sz="1000" baseline="-25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-3.749</a:t>
                      </a:r>
                      <a:r>
                        <a:rPr lang="en-US" sz="1000" baseline="30000">
                          <a:latin typeface="Times New Roman" panose="02020603050405020304" pitchFamily="18" charset="0"/>
                          <a:cs typeface="Times New Roman" panose="02020603050405020304" pitchFamily="18" charset="0"/>
                        </a:rPr>
                        <a:t>***</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 </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(1.304)</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252730">
                <a:tc>
                  <a:txBody>
                    <a:bodyPr/>
                    <a:lstStyle/>
                    <a:p>
                      <a:pPr indent="0" algn="ctr">
                        <a:buNone/>
                      </a:pPr>
                      <a:r>
                        <a:rPr lang="en-US" sz="1000">
                          <a:latin typeface="Times New Roman" panose="02020603050405020304" pitchFamily="18" charset="0"/>
                          <a:cs typeface="Times New Roman" panose="02020603050405020304" pitchFamily="18" charset="0"/>
                        </a:rPr>
                        <a:t>Observations</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80</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R</a:t>
                      </a:r>
                      <a:r>
                        <a:rPr lang="en-US" sz="1000" baseline="30000">
                          <a:latin typeface="Times New Roman" panose="02020603050405020304" pitchFamily="18" charset="0"/>
                          <a:cs typeface="Times New Roman" panose="02020603050405020304" pitchFamily="18" charset="0"/>
                        </a:rPr>
                        <a:t>2</a:t>
                      </a:r>
                      <a:endParaRPr lang="en-US" altLang="en-US" sz="1000" baseline="30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0.999</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304800">
                <a:tc>
                  <a:txBody>
                    <a:bodyPr/>
                    <a:lstStyle/>
                    <a:p>
                      <a:pPr indent="0" algn="ctr">
                        <a:buNone/>
                      </a:pPr>
                      <a:r>
                        <a:rPr lang="en-US" sz="1000">
                          <a:latin typeface="Times New Roman" panose="02020603050405020304" pitchFamily="18" charset="0"/>
                          <a:cs typeface="Times New Roman" panose="02020603050405020304" pitchFamily="18" charset="0"/>
                        </a:rPr>
                        <a:t>Residual Std. Error</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2.609 (df = 63)</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F Statistic</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a:latin typeface="Times New Roman" panose="02020603050405020304" pitchFamily="18" charset="0"/>
                          <a:cs typeface="Times New Roman" panose="02020603050405020304" pitchFamily="18" charset="0"/>
                        </a:rPr>
                        <a:t>4,635.894</a:t>
                      </a:r>
                      <a:r>
                        <a:rPr lang="en-US" sz="1000" baseline="30000">
                          <a:latin typeface="Times New Roman" panose="02020603050405020304" pitchFamily="18" charset="0"/>
                          <a:cs typeface="Times New Roman" panose="02020603050405020304" pitchFamily="18" charset="0"/>
                        </a:rPr>
                        <a:t>***</a:t>
                      </a:r>
                      <a:r>
                        <a:rPr lang="en-US" sz="1000">
                          <a:latin typeface="Times New Roman" panose="02020603050405020304" pitchFamily="18" charset="0"/>
                          <a:cs typeface="Times New Roman" panose="02020603050405020304" pitchFamily="18" charset="0"/>
                        </a:rPr>
                        <a:t>(df = 16; 63)</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r h="152400">
                <a:tc>
                  <a:txBody>
                    <a:bodyPr/>
                    <a:lstStyle/>
                    <a:p>
                      <a:pPr indent="0" algn="ctr">
                        <a:buNone/>
                      </a:pPr>
                      <a:r>
                        <a:rPr lang="en-US" sz="1000">
                          <a:latin typeface="Times New Roman" panose="02020603050405020304" pitchFamily="18" charset="0"/>
                          <a:cs typeface="Times New Roman" panose="02020603050405020304" pitchFamily="18" charset="0"/>
                        </a:rPr>
                        <a:t>Note:</a:t>
                      </a:r>
                      <a:endParaRPr lang="en-US" altLang="en-US" sz="100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40000"/>
                        <a:lumOff val="60000"/>
                      </a:schemeClr>
                    </a:solidFill>
                  </a:tcPr>
                </a:tc>
                <a:tc>
                  <a:txBody>
                    <a:bodyPr/>
                    <a:lstStyle/>
                    <a:p>
                      <a:pPr indent="0" algn="ctr">
                        <a:buNone/>
                      </a:pPr>
                      <a:r>
                        <a:rPr lang="en-US" sz="1000" baseline="30000"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p&lt;0.1; </a:t>
                      </a:r>
                      <a:r>
                        <a:rPr lang="en-US" sz="1000" baseline="30000"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p&lt;0.05; </a:t>
                      </a:r>
                      <a:r>
                        <a:rPr lang="en-US" sz="1000" baseline="30000" dirty="0">
                          <a:latin typeface="Times New Roman" panose="02020603050405020304" pitchFamily="18" charset="0"/>
                          <a:cs typeface="Times New Roman" panose="02020603050405020304" pitchFamily="18" charset="0"/>
                        </a:rPr>
                        <a:t>***</a:t>
                      </a:r>
                      <a:r>
                        <a:rPr lang="en-US" sz="1000" dirty="0">
                          <a:latin typeface="Times New Roman" panose="02020603050405020304" pitchFamily="18" charset="0"/>
                          <a:cs typeface="Times New Roman" panose="02020603050405020304" pitchFamily="18" charset="0"/>
                        </a:rPr>
                        <a:t>p&lt;0.01</a:t>
                      </a:r>
                      <a:endParaRPr lang="en-US" altLang="en-US" sz="1000" baseline="30000" dirty="0">
                        <a:latin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lnTlToBr>
                      <a:noFill/>
                    </a:lnTlToBr>
                    <a:lnBlToTr>
                      <a:noFill/>
                    </a:lnBlToTr>
                    <a:solidFill>
                      <a:schemeClr val="accent1">
                        <a:lumMod val="20000"/>
                        <a:lumOff val="80000"/>
                      </a:schemeClr>
                    </a:solidFill>
                  </a:tcPr>
                </a:tc>
              </a:tr>
            </a:tbl>
          </a:graphicData>
        </a:graphic>
      </p:graphicFrame>
      <p:pic>
        <p:nvPicPr>
          <p:cNvPr id="398782679" name="图片 1"/>
          <p:cNvPicPr>
            <a:picLocks noChangeAspect="1"/>
          </p:cNvPicPr>
          <p:nvPr>
            <p:custDataLst>
              <p:tags r:id="rId3"/>
            </p:custDataLst>
          </p:nvPr>
        </p:nvPicPr>
        <p:blipFill>
          <a:blip r:embed="rId4">
            <a:clrChange>
              <a:clrFrom>
                <a:srgbClr val="FFFFFF">
                  <a:alpha val="100000"/>
                </a:srgbClr>
              </a:clrFrom>
              <a:clrTo>
                <a:srgbClr val="FFFFFF">
                  <a:alpha val="100000"/>
                  <a:alpha val="0"/>
                </a:srgbClr>
              </a:clrTo>
            </a:clrChange>
          </a:blip>
          <a:stretch>
            <a:fillRect/>
          </a:stretch>
        </p:blipFill>
        <p:spPr>
          <a:xfrm>
            <a:off x="4729480" y="1069975"/>
            <a:ext cx="3513455" cy="2145030"/>
          </a:xfrm>
          <a:prstGeom prst="rect">
            <a:avLst/>
          </a:prstGeom>
        </p:spPr>
      </p:pic>
      <p:sp>
        <p:nvSpPr>
          <p:cNvPr id="44" name="矩形 43"/>
          <p:cNvSpPr/>
          <p:nvPr>
            <p:custDataLst>
              <p:tags r:id="rId5"/>
            </p:custDataLst>
          </p:nvPr>
        </p:nvSpPr>
        <p:spPr>
          <a:xfrm>
            <a:off x="451485" y="798830"/>
            <a:ext cx="3507105" cy="245110"/>
          </a:xfrm>
          <a:prstGeom prst="rect">
            <a:avLst/>
          </a:prstGeom>
        </p:spPr>
        <p:txBody>
          <a:bodyPr wrap="square">
            <a:spAutoFit/>
          </a:bodyPr>
          <a:lstStyle/>
          <a:p>
            <a:r>
              <a:rPr lang="zh-CN" altLang="en-US" sz="1000" b="1" dirty="0">
                <a:solidFill>
                  <a:schemeClr val="accent1"/>
                </a:solidFill>
                <a:latin typeface="+mj-ea"/>
                <a:ea typeface="+mj-ea"/>
              </a:rPr>
              <a:t>表</a:t>
            </a:r>
            <a:r>
              <a:rPr lang="en-US" altLang="zh-CN" sz="1000" b="1" dirty="0">
                <a:solidFill>
                  <a:schemeClr val="accent1"/>
                </a:solidFill>
                <a:latin typeface="+mj-ea"/>
                <a:ea typeface="+mj-ea"/>
              </a:rPr>
              <a:t>3</a:t>
            </a:r>
            <a:r>
              <a:rPr lang="zh-CN" altLang="en-US" sz="1000" b="1" dirty="0">
                <a:solidFill>
                  <a:schemeClr val="accent1"/>
                </a:solidFill>
                <a:latin typeface="+mj-ea"/>
                <a:ea typeface="+mj-ea"/>
              </a:rPr>
              <a:t>：</a:t>
            </a:r>
            <a:r>
              <a:rPr lang="zh-CN" altLang="en-US" sz="1000" dirty="0">
                <a:solidFill>
                  <a:schemeClr val="accent1"/>
                </a:solidFill>
                <a:latin typeface="+mj-ea"/>
                <a:ea typeface="+mj-ea"/>
              </a:rPr>
              <a:t>回归结果（地区固定效应估计结果已忽略）</a:t>
            </a:r>
            <a:endParaRPr lang="zh-CN" altLang="en-US" sz="1000" dirty="0">
              <a:solidFill>
                <a:schemeClr val="accent1"/>
              </a:solidFill>
              <a:latin typeface="+mj-ea"/>
              <a:ea typeface="+mj-ea"/>
            </a:endParaRPr>
          </a:p>
        </p:txBody>
      </p:sp>
      <p:sp>
        <p:nvSpPr>
          <p:cNvPr id="2" name="矩形 1"/>
          <p:cNvSpPr/>
          <p:nvPr>
            <p:custDataLst>
              <p:tags r:id="rId6"/>
            </p:custDataLst>
          </p:nvPr>
        </p:nvSpPr>
        <p:spPr>
          <a:xfrm>
            <a:off x="4729480" y="798830"/>
            <a:ext cx="3507105" cy="245110"/>
          </a:xfrm>
          <a:prstGeom prst="rect">
            <a:avLst/>
          </a:prstGeom>
        </p:spPr>
        <p:txBody>
          <a:bodyPr wrap="square">
            <a:spAutoFit/>
          </a:bodyPr>
          <a:lstStyle/>
          <a:p>
            <a:r>
              <a:rPr lang="zh-CN" altLang="en-US" sz="1000" b="1" dirty="0">
                <a:solidFill>
                  <a:schemeClr val="accent1"/>
                </a:solidFill>
                <a:latin typeface="+mj-ea"/>
                <a:ea typeface="+mj-ea"/>
              </a:rPr>
              <a:t>图</a:t>
            </a:r>
            <a:r>
              <a:rPr lang="en-US" altLang="zh-CN" sz="1000" b="1" dirty="0">
                <a:solidFill>
                  <a:schemeClr val="accent1"/>
                </a:solidFill>
                <a:latin typeface="+mj-ea"/>
                <a:ea typeface="+mj-ea"/>
              </a:rPr>
              <a:t>5</a:t>
            </a:r>
            <a:r>
              <a:rPr lang="zh-CN" altLang="en-US" sz="1000" b="1" dirty="0">
                <a:solidFill>
                  <a:schemeClr val="accent1"/>
                </a:solidFill>
                <a:latin typeface="+mj-ea"/>
                <a:ea typeface="+mj-ea"/>
              </a:rPr>
              <a:t>：</a:t>
            </a:r>
            <a:r>
              <a:rPr lang="zh-CN" altLang="en-US" sz="1000" dirty="0">
                <a:solidFill>
                  <a:schemeClr val="accent1"/>
                </a:solidFill>
                <a:latin typeface="+mj-ea"/>
                <a:ea typeface="+mj-ea"/>
              </a:rPr>
              <a:t>回归系数比较图</a:t>
            </a:r>
            <a:endParaRPr lang="zh-CN" altLang="en-US" sz="1000" dirty="0">
              <a:solidFill>
                <a:schemeClr val="accent1"/>
              </a:solidFill>
              <a:latin typeface="+mj-ea"/>
              <a:ea typeface="+mj-ea"/>
            </a:endParaRPr>
          </a:p>
        </p:txBody>
      </p:sp>
      <p:sp>
        <p:nvSpPr>
          <p:cNvPr id="4" name="文本框 3"/>
          <p:cNvSpPr txBox="1"/>
          <p:nvPr/>
        </p:nvSpPr>
        <p:spPr>
          <a:xfrm>
            <a:off x="3552825" y="-1340485"/>
            <a:ext cx="3048000" cy="368300"/>
          </a:xfrm>
          <a:prstGeom prst="rect">
            <a:avLst/>
          </a:prstGeom>
          <a:noFill/>
        </p:spPr>
        <p:txBody>
          <a:bodyPr wrap="square" rtlCol="0">
            <a:spAutoFit/>
          </a:bodyPr>
          <a:lstStyle/>
          <a:p>
            <a:endParaRPr lang="zh-CN" altLang="en-US"/>
          </a:p>
        </p:txBody>
      </p:sp>
      <p:sp>
        <p:nvSpPr>
          <p:cNvPr id="5" name="矩形 4"/>
          <p:cNvSpPr/>
          <p:nvPr>
            <p:custDataLst>
              <p:tags r:id="rId7"/>
            </p:custDataLst>
          </p:nvPr>
        </p:nvSpPr>
        <p:spPr>
          <a:xfrm>
            <a:off x="4711065" y="3397885"/>
            <a:ext cx="622300" cy="306705"/>
          </a:xfrm>
          <a:prstGeom prst="rect">
            <a:avLst/>
          </a:prstGeom>
        </p:spPr>
        <p:txBody>
          <a:bodyPr wrap="square">
            <a:spAutoFit/>
          </a:bodyPr>
          <a:lstStyle/>
          <a:p>
            <a:r>
              <a:rPr lang="zh-CN" altLang="en-US" sz="1400" b="1">
                <a:solidFill>
                  <a:schemeClr val="accent1"/>
                </a:solidFill>
                <a:latin typeface="+mj-ea"/>
                <a:ea typeface="+mj-ea"/>
              </a:rPr>
              <a:t>解读</a:t>
            </a:r>
            <a:endParaRPr lang="zh-CN" altLang="en-US" sz="1400" b="1">
              <a:solidFill>
                <a:schemeClr val="accent1"/>
              </a:solidFill>
              <a:latin typeface="+mj-ea"/>
              <a:ea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20" name="矩形 19"/>
          <p:cNvSpPr/>
          <p:nvPr/>
        </p:nvSpPr>
        <p:spPr bwMode="auto">
          <a:xfrm>
            <a:off x="2684303" y="2302213"/>
            <a:ext cx="3775393" cy="707886"/>
          </a:xfrm>
          <a:prstGeom prst="rect">
            <a:avLst/>
          </a:prstGeom>
        </p:spPr>
        <p:txBody>
          <a:bodyPr wrap="none">
            <a:spAutoFit/>
          </a:bodyPr>
          <a:lstStyle/>
          <a:p>
            <a:pPr algn="ctr">
              <a:defRPr/>
            </a:pPr>
            <a:r>
              <a:rPr lang="zh-CN" altLang="en-US" sz="4000" kern="100" dirty="0">
                <a:solidFill>
                  <a:schemeClr val="bg1"/>
                </a:solidFill>
                <a:latin typeface="+mj-ea"/>
                <a:ea typeface="+mj-ea"/>
                <a:cs typeface="Times New Roman" panose="02020603050405020304" pitchFamily="18" charset="0"/>
              </a:rPr>
              <a:t>结论与政策建议</a:t>
            </a:r>
            <a:endParaRPr lang="zh-CN" altLang="en-US" sz="4000" kern="100" dirty="0">
              <a:solidFill>
                <a:schemeClr val="bg1"/>
              </a:solidFill>
              <a:latin typeface="+mj-ea"/>
              <a:ea typeface="+mj-ea"/>
              <a:cs typeface="Times New Roman" panose="02020603050405020304" pitchFamily="18" charset="0"/>
            </a:endParaRPr>
          </a:p>
        </p:txBody>
      </p:sp>
      <p:sp>
        <p:nvSpPr>
          <p:cNvPr id="22" name="矩形 21"/>
          <p:cNvSpPr/>
          <p:nvPr/>
        </p:nvSpPr>
        <p:spPr>
          <a:xfrm>
            <a:off x="2870790" y="2971262"/>
            <a:ext cx="3366977" cy="215444"/>
          </a:xfrm>
          <a:prstGeom prst="rect">
            <a:avLst/>
          </a:prstGeom>
        </p:spPr>
        <p:txBody>
          <a:bodyPr wrap="square">
            <a:spAutoFit/>
          </a:bodyPr>
          <a:lstStyle/>
          <a:p>
            <a:pPr algn="dist"/>
            <a:r>
              <a:rPr lang="en-US" altLang="zh-CN" sz="800" dirty="0">
                <a:solidFill>
                  <a:schemeClr val="bg1"/>
                </a:solidFill>
                <a:latin typeface="+mj-lt"/>
              </a:rPr>
              <a:t>THE SUMMARY AND POLICY ADVICE</a:t>
            </a:r>
            <a:endParaRPr lang="en-US" altLang="zh-CN" sz="800" dirty="0">
              <a:solidFill>
                <a:schemeClr val="bg1"/>
              </a:solidFill>
              <a:latin typeface="+mj-lt"/>
            </a:endParaRPr>
          </a:p>
        </p:txBody>
      </p:sp>
      <p:cxnSp>
        <p:nvCxnSpPr>
          <p:cNvPr id="24" name="直接连接符 23"/>
          <p:cNvCxnSpPr/>
          <p:nvPr/>
        </p:nvCxnSpPr>
        <p:spPr>
          <a:xfrm>
            <a:off x="3349690" y="3432640"/>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3996000" y="3661882"/>
            <a:ext cx="1152000" cy="251847"/>
          </a:xfrm>
          <a:prstGeom prst="roundRect">
            <a:avLst>
              <a:gd name="adj" fmla="val 50000"/>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mj-lt"/>
              </a:rPr>
              <a:t>PART FOUR</a:t>
            </a:r>
            <a:endParaRPr lang="zh-CN" altLang="en-US" sz="1100">
              <a:latin typeface="+mj-lt"/>
            </a:endParaRPr>
          </a:p>
        </p:txBody>
      </p:sp>
      <p:sp>
        <p:nvSpPr>
          <p:cNvPr id="3" name="椭圆 2"/>
          <p:cNvSpPr/>
          <p:nvPr/>
        </p:nvSpPr>
        <p:spPr>
          <a:xfrm>
            <a:off x="4101638" y="1275613"/>
            <a:ext cx="940724" cy="940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4400">
                <a:solidFill>
                  <a:schemeClr val="accent1"/>
                </a:solidFill>
                <a:latin typeface="方正清刻本悦宋简体"/>
                <a:ea typeface="方正清刻本悦宋简体"/>
              </a:rPr>
              <a:t>肆</a:t>
            </a:r>
            <a:endParaRPr lang="zh-CN" altLang="en-US" sz="4400">
              <a:solidFill>
                <a:schemeClr val="accent1"/>
              </a:solidFill>
              <a:latin typeface="方正清刻本悦宋简体"/>
              <a:ea typeface="方正清刻本悦宋简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总结和政策建议</a:t>
            </a:r>
            <a:endParaRPr lang="zh-CN" altLang="en-US" sz="2000" dirty="0">
              <a:solidFill>
                <a:schemeClr val="accent1"/>
              </a:solidFill>
              <a:latin typeface="+mj-ea"/>
              <a:ea typeface="+mj-ea"/>
            </a:endParaRPr>
          </a:p>
        </p:txBody>
      </p:sp>
      <p:sp>
        <p:nvSpPr>
          <p:cNvPr id="42" name="矩形 41"/>
          <p:cNvSpPr/>
          <p:nvPr/>
        </p:nvSpPr>
        <p:spPr>
          <a:xfrm>
            <a:off x="415480" y="434379"/>
            <a:ext cx="1457450"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65000"/>
                    <a:lumOff val="35000"/>
                  </a:schemeClr>
                </a:solidFill>
                <a:latin typeface="Calibri Light" panose="020F0302020204030204" pitchFamily="34" charset="0"/>
                <a:ea typeface="方正兰亭黑_GBK"/>
              </a:rPr>
              <a:t>Summary and Policy Advice</a:t>
            </a:r>
            <a:endParaRPr lang="en-US" altLang="zh-CN" sz="900" dirty="0">
              <a:solidFill>
                <a:schemeClr val="tx1">
                  <a:lumMod val="65000"/>
                  <a:lumOff val="35000"/>
                </a:schemeClr>
              </a:solidFill>
              <a:latin typeface="Calibri Light" panose="020F0302020204030204" pitchFamily="34" charset="0"/>
              <a:ea typeface="方正兰亭黑_GBK"/>
            </a:endParaRPr>
          </a:p>
        </p:txBody>
      </p:sp>
      <p:sp>
        <p:nvSpPr>
          <p:cNvPr id="4" name="文本框 3"/>
          <p:cNvSpPr txBox="1"/>
          <p:nvPr/>
        </p:nvSpPr>
        <p:spPr>
          <a:xfrm>
            <a:off x="3552825" y="-1340485"/>
            <a:ext cx="3048000" cy="368300"/>
          </a:xfrm>
          <a:prstGeom prst="rect">
            <a:avLst/>
          </a:prstGeom>
          <a:noFill/>
        </p:spPr>
        <p:txBody>
          <a:bodyPr wrap="square" rtlCol="0">
            <a:spAutoFit/>
          </a:bodyPr>
          <a:lstStyle/>
          <a:p>
            <a:endParaRPr lang="zh-CN" altLang="en-US"/>
          </a:p>
        </p:txBody>
      </p:sp>
      <p:sp>
        <p:nvSpPr>
          <p:cNvPr id="2" name="文本框 1"/>
          <p:cNvSpPr txBox="1"/>
          <p:nvPr/>
        </p:nvSpPr>
        <p:spPr>
          <a:xfrm>
            <a:off x="415290" y="1056005"/>
            <a:ext cx="8505825" cy="2553335"/>
          </a:xfrm>
          <a:prstGeom prst="rect">
            <a:avLst/>
          </a:prstGeom>
          <a:noFill/>
        </p:spPr>
        <p:txBody>
          <a:bodyPr wrap="square" rtlCol="0" anchor="t">
            <a:spAutoFit/>
          </a:bodyPr>
          <a:p>
            <a:pPr marL="228600" indent="-228600">
              <a:lnSpc>
                <a:spcPct val="140000"/>
              </a:lnSpc>
              <a:spcBef>
                <a:spcPts val="600"/>
              </a:spcBef>
              <a:spcAft>
                <a:spcPts val="600"/>
              </a:spcAft>
              <a:buFont typeface="+mj-lt"/>
              <a:buAutoNum type="arabicPeriod"/>
            </a:pPr>
            <a:r>
              <a:rPr lang="zh-CN" altLang="en-US" sz="1000" dirty="0">
                <a:solidFill>
                  <a:schemeClr val="tx1">
                    <a:lumMod val="50000"/>
                    <a:lumOff val="50000"/>
                  </a:schemeClr>
                </a:solidFill>
                <a:sym typeface="+mn-ea"/>
              </a:rPr>
              <a:t>我们采用二次型方向性距离函数和参数模型，并通过参数最小二乘回归的方法来建立和估算了</a:t>
            </a:r>
            <a:r>
              <a:rPr lang="en-US" altLang="zh-CN" sz="1000" dirty="0">
                <a:solidFill>
                  <a:schemeClr val="tx1">
                    <a:lumMod val="50000"/>
                    <a:lumOff val="50000"/>
                  </a:schemeClr>
                </a:solidFill>
                <a:sym typeface="+mn-ea"/>
              </a:rPr>
              <a:t>2011</a:t>
            </a:r>
            <a:r>
              <a:rPr lang="zh-CN" altLang="en-US" sz="1000" dirty="0">
                <a:solidFill>
                  <a:schemeClr val="tx1">
                    <a:lumMod val="50000"/>
                    <a:lumOff val="50000"/>
                  </a:schemeClr>
                </a:solidFill>
                <a:sym typeface="+mn-ea"/>
              </a:rPr>
              <a:t>年至</a:t>
            </a:r>
            <a:r>
              <a:rPr lang="en-US" altLang="zh-CN" sz="1000" dirty="0">
                <a:solidFill>
                  <a:schemeClr val="tx1">
                    <a:lumMod val="50000"/>
                    <a:lumOff val="50000"/>
                  </a:schemeClr>
                </a:solidFill>
                <a:sym typeface="+mn-ea"/>
              </a:rPr>
              <a:t>2020</a:t>
            </a:r>
            <a:r>
              <a:rPr lang="zh-CN" altLang="en-US" sz="1000" dirty="0">
                <a:solidFill>
                  <a:schemeClr val="tx1">
                    <a:lumMod val="50000"/>
                    <a:lumOff val="50000"/>
                  </a:schemeClr>
                </a:solidFill>
                <a:sym typeface="+mn-ea"/>
              </a:rPr>
              <a:t>年选定的</a:t>
            </a:r>
            <a:r>
              <a:rPr lang="en-US" altLang="zh-CN" sz="1000" dirty="0">
                <a:solidFill>
                  <a:schemeClr val="tx1">
                    <a:lumMod val="50000"/>
                    <a:lumOff val="50000"/>
                  </a:schemeClr>
                </a:solidFill>
                <a:sym typeface="+mn-ea"/>
              </a:rPr>
              <a:t>8</a:t>
            </a:r>
            <a:r>
              <a:rPr lang="zh-CN" altLang="en-US" sz="1000" dirty="0">
                <a:solidFill>
                  <a:schemeClr val="tx1">
                    <a:lumMod val="50000"/>
                    <a:lumOff val="50000"/>
                  </a:schemeClr>
                </a:solidFill>
                <a:sym typeface="+mn-ea"/>
              </a:rPr>
              <a:t>个省份（地区）的二氧化碳影子价格模型。</a:t>
            </a:r>
            <a:endParaRPr lang="zh-CN" altLang="en-US" sz="1000" dirty="0">
              <a:solidFill>
                <a:schemeClr val="tx1">
                  <a:lumMod val="50000"/>
                  <a:lumOff val="50000"/>
                </a:schemeClr>
              </a:solidFill>
              <a:sym typeface="+mn-ea"/>
            </a:endParaRPr>
          </a:p>
          <a:p>
            <a:pPr marL="228600" indent="-228600">
              <a:lnSpc>
                <a:spcPct val="140000"/>
              </a:lnSpc>
              <a:spcBef>
                <a:spcPts val="600"/>
              </a:spcBef>
              <a:spcAft>
                <a:spcPts val="600"/>
              </a:spcAft>
              <a:buFont typeface="+mj-lt"/>
              <a:buAutoNum type="arabicPeriod"/>
            </a:pPr>
            <a:r>
              <a:rPr lang="zh-CN" altLang="en-US" sz="1000" dirty="0">
                <a:solidFill>
                  <a:schemeClr val="tx1">
                    <a:lumMod val="50000"/>
                    <a:lumOff val="50000"/>
                  </a:schemeClr>
                </a:solidFill>
                <a:sym typeface="+mn-ea"/>
              </a:rPr>
              <a:t>接下来，我们使用计算得到的二氧化碳影子价格进行断点回归，以探究</a:t>
            </a:r>
            <a:r>
              <a:rPr lang="en-US" altLang="zh-CN" sz="1000" dirty="0">
                <a:solidFill>
                  <a:schemeClr val="tx1">
                    <a:lumMod val="50000"/>
                    <a:lumOff val="50000"/>
                  </a:schemeClr>
                </a:solidFill>
                <a:sym typeface="+mn-ea"/>
              </a:rPr>
              <a:t>《</a:t>
            </a:r>
            <a:r>
              <a:rPr lang="zh-CN" altLang="en-US" sz="1000" dirty="0">
                <a:solidFill>
                  <a:schemeClr val="tx1">
                    <a:lumMod val="50000"/>
                    <a:lumOff val="50000"/>
                  </a:schemeClr>
                </a:solidFill>
                <a:sym typeface="+mn-ea"/>
              </a:rPr>
              <a:t>巴黎协定</a:t>
            </a:r>
            <a:r>
              <a:rPr lang="en-US" altLang="zh-CN" sz="1000" dirty="0">
                <a:solidFill>
                  <a:schemeClr val="tx1">
                    <a:lumMod val="50000"/>
                    <a:lumOff val="50000"/>
                  </a:schemeClr>
                </a:solidFill>
                <a:sym typeface="+mn-ea"/>
              </a:rPr>
              <a:t>》</a:t>
            </a:r>
            <a:r>
              <a:rPr lang="zh-CN" altLang="en-US" sz="1000" dirty="0">
                <a:solidFill>
                  <a:schemeClr val="tx1">
                    <a:lumMod val="50000"/>
                    <a:lumOff val="50000"/>
                  </a:schemeClr>
                </a:solidFill>
                <a:sym typeface="+mn-ea"/>
              </a:rPr>
              <a:t>签署以及签署后的一系列政策对二氧化碳影子价格的影响。研究结果表明：</a:t>
            </a:r>
            <a:endParaRPr lang="zh-CN" altLang="en-US" sz="1000" dirty="0">
              <a:solidFill>
                <a:schemeClr val="tx1">
                  <a:lumMod val="50000"/>
                  <a:lumOff val="50000"/>
                </a:schemeClr>
              </a:solidFill>
            </a:endParaRPr>
          </a:p>
          <a:p>
            <a:pPr marL="628650" lvl="1" indent="-171450">
              <a:lnSpc>
                <a:spcPct val="100000"/>
              </a:lnSpc>
              <a:spcBef>
                <a:spcPts val="600"/>
              </a:spcBef>
              <a:spcAft>
                <a:spcPts val="600"/>
              </a:spcAft>
              <a:buFont typeface="Arial" panose="020B0604020202020204" pitchFamily="34" charset="0"/>
              <a:buChar char="•"/>
            </a:pPr>
            <a:r>
              <a:rPr lang="zh-CN" altLang="en-US" sz="1000" dirty="0">
                <a:solidFill>
                  <a:schemeClr val="tx1">
                    <a:lumMod val="50000"/>
                    <a:lumOff val="50000"/>
                  </a:schemeClr>
                </a:solidFill>
                <a:sym typeface="+mn-ea"/>
              </a:rPr>
              <a:t>在</a:t>
            </a:r>
            <a:r>
              <a:rPr lang="en-US" altLang="zh-CN" sz="1000" dirty="0">
                <a:solidFill>
                  <a:schemeClr val="tx1">
                    <a:lumMod val="50000"/>
                    <a:lumOff val="50000"/>
                  </a:schemeClr>
                </a:solidFill>
                <a:sym typeface="+mn-ea"/>
              </a:rPr>
              <a:t>2014</a:t>
            </a:r>
            <a:r>
              <a:rPr lang="zh-CN" altLang="en-US" sz="1000" dirty="0">
                <a:solidFill>
                  <a:schemeClr val="tx1">
                    <a:lumMod val="50000"/>
                    <a:lumOff val="50000"/>
                  </a:schemeClr>
                </a:solidFill>
                <a:sym typeface="+mn-ea"/>
              </a:rPr>
              <a:t>年及之前，年度处理效应并不显著，但在</a:t>
            </a:r>
            <a:r>
              <a:rPr lang="en-US" altLang="zh-CN" sz="1000" dirty="0">
                <a:solidFill>
                  <a:schemeClr val="tx1">
                    <a:lumMod val="50000"/>
                    <a:lumOff val="50000"/>
                  </a:schemeClr>
                </a:solidFill>
                <a:sym typeface="+mn-ea"/>
              </a:rPr>
              <a:t>2015</a:t>
            </a:r>
            <a:r>
              <a:rPr lang="zh-CN" altLang="en-US" sz="1000" dirty="0">
                <a:solidFill>
                  <a:schemeClr val="tx1">
                    <a:lumMod val="50000"/>
                    <a:lumOff val="50000"/>
                  </a:schemeClr>
                </a:solidFill>
                <a:sym typeface="+mn-ea"/>
              </a:rPr>
              <a:t>年之后，年度处理效应显著增加。</a:t>
            </a:r>
            <a:endParaRPr lang="zh-CN" altLang="en-US" sz="1000" dirty="0">
              <a:solidFill>
                <a:schemeClr val="tx1">
                  <a:lumMod val="50000"/>
                  <a:lumOff val="50000"/>
                </a:schemeClr>
              </a:solidFill>
            </a:endParaRPr>
          </a:p>
          <a:p>
            <a:pPr marL="628650" lvl="1" indent="-171450">
              <a:lnSpc>
                <a:spcPct val="120000"/>
              </a:lnSpc>
              <a:spcBef>
                <a:spcPts val="600"/>
              </a:spcBef>
              <a:spcAft>
                <a:spcPts val="600"/>
              </a:spcAft>
              <a:buFont typeface="Arial" panose="020B0604020202020204" pitchFamily="34" charset="0"/>
              <a:buChar char="•"/>
            </a:pPr>
            <a:r>
              <a:rPr lang="zh-CN" altLang="en-US" sz="1000" dirty="0">
                <a:solidFill>
                  <a:schemeClr val="tx1">
                    <a:lumMod val="50000"/>
                    <a:lumOff val="50000"/>
                  </a:schemeClr>
                </a:solidFill>
                <a:sym typeface="+mn-ea"/>
              </a:rPr>
              <a:t>在</a:t>
            </a:r>
            <a:r>
              <a:rPr lang="en-US" altLang="zh-CN" sz="1000" dirty="0">
                <a:solidFill>
                  <a:schemeClr val="tx1">
                    <a:lumMod val="50000"/>
                    <a:lumOff val="50000"/>
                  </a:schemeClr>
                </a:solidFill>
                <a:sym typeface="+mn-ea"/>
              </a:rPr>
              <a:t>2015</a:t>
            </a:r>
            <a:r>
              <a:rPr lang="zh-CN" altLang="en-US" sz="1000" dirty="0">
                <a:solidFill>
                  <a:schemeClr val="tx1">
                    <a:lumMod val="50000"/>
                    <a:lumOff val="50000"/>
                  </a:schemeClr>
                </a:solidFill>
                <a:sym typeface="+mn-ea"/>
              </a:rPr>
              <a:t>至</a:t>
            </a:r>
            <a:r>
              <a:rPr lang="en-US" altLang="zh-CN" sz="1000" dirty="0">
                <a:solidFill>
                  <a:schemeClr val="tx1">
                    <a:lumMod val="50000"/>
                    <a:lumOff val="50000"/>
                  </a:schemeClr>
                </a:solidFill>
                <a:sym typeface="+mn-ea"/>
              </a:rPr>
              <a:t>2017</a:t>
            </a:r>
            <a:r>
              <a:rPr lang="zh-CN" altLang="en-US" sz="1000" dirty="0">
                <a:solidFill>
                  <a:schemeClr val="tx1">
                    <a:lumMod val="50000"/>
                    <a:lumOff val="50000"/>
                  </a:schemeClr>
                </a:solidFill>
                <a:sym typeface="+mn-ea"/>
              </a:rPr>
              <a:t>年期间，系数绝对值呈不断增大的趋势，部分反映出</a:t>
            </a:r>
            <a:r>
              <a:rPr lang="en-US" altLang="zh-CN" sz="1000" dirty="0">
                <a:solidFill>
                  <a:schemeClr val="tx1">
                    <a:lumMod val="50000"/>
                    <a:lumOff val="50000"/>
                  </a:schemeClr>
                </a:solidFill>
                <a:sym typeface="+mn-ea"/>
              </a:rPr>
              <a:t>《</a:t>
            </a:r>
            <a:r>
              <a:rPr lang="zh-CN" altLang="en-US" sz="1000" dirty="0">
                <a:solidFill>
                  <a:schemeClr val="tx1">
                    <a:lumMod val="50000"/>
                    <a:lumOff val="50000"/>
                  </a:schemeClr>
                </a:solidFill>
                <a:sym typeface="+mn-ea"/>
              </a:rPr>
              <a:t>巴黎协定</a:t>
            </a:r>
            <a:r>
              <a:rPr lang="en-US" altLang="zh-CN" sz="1000" dirty="0">
                <a:solidFill>
                  <a:schemeClr val="tx1">
                    <a:lumMod val="50000"/>
                    <a:lumOff val="50000"/>
                  </a:schemeClr>
                </a:solidFill>
                <a:sym typeface="+mn-ea"/>
              </a:rPr>
              <a:t>》</a:t>
            </a:r>
            <a:r>
              <a:rPr lang="zh-CN" altLang="en-US" sz="1000" dirty="0">
                <a:solidFill>
                  <a:schemeClr val="tx1">
                    <a:lumMod val="50000"/>
                    <a:lumOff val="50000"/>
                  </a:schemeClr>
                </a:solidFill>
                <a:sym typeface="+mn-ea"/>
              </a:rPr>
              <a:t>及随后的一系列政策对我国的碳减排产生积极影响。随着时间的推移，这种影响逐渐加大。</a:t>
            </a:r>
            <a:endParaRPr lang="zh-CN" altLang="en-US" sz="1000" dirty="0">
              <a:solidFill>
                <a:schemeClr val="tx1">
                  <a:lumMod val="50000"/>
                  <a:lumOff val="50000"/>
                </a:schemeClr>
              </a:solidFill>
            </a:endParaRPr>
          </a:p>
          <a:p>
            <a:pPr marL="628650" lvl="1" indent="-171450">
              <a:lnSpc>
                <a:spcPct val="100000"/>
              </a:lnSpc>
              <a:spcBef>
                <a:spcPts val="600"/>
              </a:spcBef>
              <a:spcAft>
                <a:spcPts val="600"/>
              </a:spcAft>
              <a:buFont typeface="Arial" panose="020B0604020202020204" pitchFamily="34" charset="0"/>
              <a:buChar char="•"/>
            </a:pPr>
            <a:r>
              <a:rPr lang="zh-CN" altLang="en-US" sz="1000" dirty="0">
                <a:solidFill>
                  <a:schemeClr val="tx1">
                    <a:lumMod val="50000"/>
                    <a:lumOff val="50000"/>
                  </a:schemeClr>
                </a:solidFill>
                <a:sym typeface="+mn-ea"/>
              </a:rPr>
              <a:t>在</a:t>
            </a:r>
            <a:r>
              <a:rPr lang="en-US" altLang="zh-CN" sz="1000" dirty="0">
                <a:solidFill>
                  <a:schemeClr val="tx1">
                    <a:lumMod val="50000"/>
                    <a:lumOff val="50000"/>
                  </a:schemeClr>
                </a:solidFill>
                <a:sym typeface="+mn-ea"/>
              </a:rPr>
              <a:t>2017</a:t>
            </a:r>
            <a:r>
              <a:rPr lang="zh-CN" altLang="en-US" sz="1000" dirty="0">
                <a:solidFill>
                  <a:schemeClr val="tx1">
                    <a:lumMod val="50000"/>
                    <a:lumOff val="50000"/>
                  </a:schemeClr>
                </a:solidFill>
                <a:sym typeface="+mn-ea"/>
              </a:rPr>
              <a:t>年之后，虽然系数存在一定波动，但总体上保持在明显高于</a:t>
            </a:r>
            <a:r>
              <a:rPr lang="en-US" altLang="zh-CN" sz="1000" dirty="0">
                <a:solidFill>
                  <a:schemeClr val="tx1">
                    <a:lumMod val="50000"/>
                    <a:lumOff val="50000"/>
                  </a:schemeClr>
                </a:solidFill>
                <a:sym typeface="+mn-ea"/>
              </a:rPr>
              <a:t>2015</a:t>
            </a:r>
            <a:r>
              <a:rPr lang="zh-CN" altLang="en-US" sz="1000" dirty="0">
                <a:solidFill>
                  <a:schemeClr val="tx1">
                    <a:lumMod val="50000"/>
                    <a:lumOff val="50000"/>
                  </a:schemeClr>
                </a:solidFill>
                <a:sym typeface="+mn-ea"/>
              </a:rPr>
              <a:t>年之前水平的水平。</a:t>
            </a:r>
            <a:endParaRPr lang="zh-CN" altLang="en-US" sz="1000" dirty="0">
              <a:solidFill>
                <a:schemeClr val="tx1">
                  <a:lumMod val="50000"/>
                  <a:lumOff val="50000"/>
                </a:schemeClr>
              </a:solidFill>
              <a:sym typeface="+mn-ea"/>
            </a:endParaRPr>
          </a:p>
          <a:p>
            <a:pPr lvl="0" indent="0">
              <a:lnSpc>
                <a:spcPct val="100000"/>
              </a:lnSpc>
              <a:spcBef>
                <a:spcPts val="600"/>
              </a:spcBef>
              <a:spcAft>
                <a:spcPts val="600"/>
              </a:spcAft>
              <a:buFont typeface="Arial" panose="020B0604020202020204" pitchFamily="34" charset="0"/>
              <a:buNone/>
            </a:pPr>
            <a:r>
              <a:rPr lang="en-US" altLang="zh-CN" sz="1000" dirty="0">
                <a:solidFill>
                  <a:schemeClr val="tx1">
                    <a:lumMod val="50000"/>
                    <a:lumOff val="50000"/>
                  </a:schemeClr>
                </a:solidFill>
                <a:sym typeface="+mn-ea"/>
              </a:rPr>
              <a:t>        </a:t>
            </a:r>
            <a:r>
              <a:rPr lang="zh-CN" altLang="en-US" sz="1000" dirty="0">
                <a:solidFill>
                  <a:schemeClr val="tx1">
                    <a:lumMod val="50000"/>
                    <a:lumOff val="50000"/>
                  </a:schemeClr>
                </a:solidFill>
                <a:sym typeface="+mn-ea"/>
              </a:rPr>
              <a:t>因此我们认为，自</a:t>
            </a:r>
            <a:r>
              <a:rPr lang="en-US" altLang="zh-CN" sz="1000" dirty="0">
                <a:solidFill>
                  <a:schemeClr val="tx1">
                    <a:lumMod val="50000"/>
                    <a:lumOff val="50000"/>
                  </a:schemeClr>
                </a:solidFill>
                <a:sym typeface="+mn-ea"/>
              </a:rPr>
              <a:t>2015</a:t>
            </a:r>
            <a:r>
              <a:rPr lang="zh-CN" altLang="en-US" sz="1000" dirty="0">
                <a:solidFill>
                  <a:schemeClr val="tx1">
                    <a:lumMod val="50000"/>
                    <a:lumOff val="50000"/>
                  </a:schemeClr>
                </a:solidFill>
                <a:sym typeface="+mn-ea"/>
              </a:rPr>
              <a:t>年以来，我国采取的一系列政策在碳减排方面起到了至关重要的作用，并为未来更加强力和深入的政策奠定了坚实的基础。</a:t>
            </a:r>
            <a:endParaRPr lang="zh-CN" altLang="en-US" sz="1000" dirty="0">
              <a:solidFill>
                <a:schemeClr val="tx1">
                  <a:lumMod val="50000"/>
                  <a:lumOff val="50000"/>
                </a:schemeClr>
              </a:solidFill>
              <a:sym typeface="+mn-ea"/>
            </a:endParaRPr>
          </a:p>
        </p:txBody>
      </p:sp>
      <p:sp>
        <p:nvSpPr>
          <p:cNvPr id="3" name="文本框 2"/>
          <p:cNvSpPr txBox="1"/>
          <p:nvPr/>
        </p:nvSpPr>
        <p:spPr>
          <a:xfrm>
            <a:off x="415290" y="3902075"/>
            <a:ext cx="8505190" cy="829945"/>
          </a:xfrm>
          <a:prstGeom prst="rect">
            <a:avLst/>
          </a:prstGeom>
          <a:noFill/>
        </p:spPr>
        <p:txBody>
          <a:bodyPr wrap="square" rtlCol="0" anchor="t">
            <a:spAutoFit/>
          </a:bodyPr>
          <a:p>
            <a:pPr marL="171450" indent="-171450">
              <a:lnSpc>
                <a:spcPct val="160000"/>
              </a:lnSpc>
              <a:buFont typeface="Wingdings" panose="05000000000000000000" charset="0"/>
              <a:buChar char="ü"/>
            </a:pPr>
            <a:r>
              <a:rPr lang="zh-CN" altLang="zh-CN" sz="1000" dirty="0">
                <a:solidFill>
                  <a:schemeClr val="tx1">
                    <a:lumMod val="50000"/>
                    <a:lumOff val="50000"/>
                  </a:schemeClr>
                </a:solidFill>
                <a:sym typeface="+mn-ea"/>
              </a:rPr>
              <a:t>由上述研究结论我们可以看出：</a:t>
            </a:r>
            <a:r>
              <a:rPr lang="zh-CN" altLang="zh-CN" sz="1000" b="1" dirty="0">
                <a:solidFill>
                  <a:schemeClr val="tx1">
                    <a:lumMod val="50000"/>
                    <a:lumOff val="50000"/>
                  </a:schemeClr>
                </a:solidFill>
                <a:sym typeface="+mn-ea"/>
              </a:rPr>
              <a:t>重点领域的重大政策出台对于二氧化碳减排和绿色可持续发展具有重大影响并能发挥明显的效果</a:t>
            </a:r>
            <a:r>
              <a:rPr lang="zh-CN" altLang="zh-CN" sz="1000" dirty="0">
                <a:solidFill>
                  <a:schemeClr val="tx1">
                    <a:lumMod val="50000"/>
                    <a:lumOff val="50000"/>
                  </a:schemeClr>
                </a:solidFill>
                <a:sym typeface="+mn-ea"/>
              </a:rPr>
              <a:t>。</a:t>
            </a:r>
            <a:endParaRPr lang="zh-CN" altLang="zh-CN" sz="1000" dirty="0">
              <a:solidFill>
                <a:schemeClr val="tx1">
                  <a:lumMod val="50000"/>
                  <a:lumOff val="50000"/>
                </a:schemeClr>
              </a:solidFill>
            </a:endParaRPr>
          </a:p>
          <a:p>
            <a:pPr marL="171450" indent="-171450">
              <a:lnSpc>
                <a:spcPct val="160000"/>
              </a:lnSpc>
              <a:buFont typeface="Wingdings" panose="05000000000000000000" charset="0"/>
              <a:buChar char="ü"/>
            </a:pPr>
            <a:r>
              <a:rPr lang="zh-CN" altLang="zh-CN" sz="1000" dirty="0">
                <a:solidFill>
                  <a:schemeClr val="tx1">
                    <a:lumMod val="50000"/>
                    <a:lumOff val="50000"/>
                  </a:schemeClr>
                </a:solidFill>
                <a:sym typeface="+mn-ea"/>
              </a:rPr>
              <a:t>因此展望未来，为进一步实现二氧化碳减排的有效推进及“碳中和”、“碳达峰”目标的圆满完成，我国的碳减排政策需要在技术创新、市场机制和公众教育三方面进行全面且协调的努力，同时需要政府的指导和支持，社会各界的积极参与和合作。</a:t>
            </a:r>
            <a:endParaRPr lang="zh-CN" altLang="zh-CN" sz="1000" dirty="0">
              <a:solidFill>
                <a:schemeClr val="tx1">
                  <a:lumMod val="50000"/>
                  <a:lumOff val="50000"/>
                </a:schemeClr>
              </a:solidFill>
              <a:sym typeface="+mn-ea"/>
            </a:endParaRPr>
          </a:p>
        </p:txBody>
      </p:sp>
      <p:sp>
        <p:nvSpPr>
          <p:cNvPr id="5" name="圆角矩形 4"/>
          <p:cNvSpPr/>
          <p:nvPr/>
        </p:nvSpPr>
        <p:spPr>
          <a:xfrm>
            <a:off x="347980" y="3844925"/>
            <a:ext cx="8484235" cy="101028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6"/>
          <p:cNvSpPr txBox="1">
            <a:spLocks noChangeArrowheads="1"/>
          </p:cNvSpPr>
          <p:nvPr/>
        </p:nvSpPr>
        <p:spPr bwMode="auto">
          <a:xfrm>
            <a:off x="415480" y="89664"/>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mj-ea"/>
                <a:ea typeface="+mj-ea"/>
              </a:rPr>
              <a:t>总结和政策建议</a:t>
            </a:r>
            <a:endParaRPr lang="zh-CN" altLang="en-US" sz="2000" dirty="0">
              <a:solidFill>
                <a:schemeClr val="accent1"/>
              </a:solidFill>
              <a:latin typeface="+mj-ea"/>
              <a:ea typeface="+mj-ea"/>
            </a:endParaRPr>
          </a:p>
        </p:txBody>
      </p:sp>
      <p:sp>
        <p:nvSpPr>
          <p:cNvPr id="42" name="矩形 41"/>
          <p:cNvSpPr/>
          <p:nvPr/>
        </p:nvSpPr>
        <p:spPr>
          <a:xfrm>
            <a:off x="415480" y="434379"/>
            <a:ext cx="1457450"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65000"/>
                    <a:lumOff val="35000"/>
                  </a:schemeClr>
                </a:solidFill>
                <a:latin typeface="Calibri Light" panose="020F0302020204030204" pitchFamily="34" charset="0"/>
                <a:ea typeface="方正兰亭黑_GBK"/>
              </a:rPr>
              <a:t>Summary and Policy Advice</a:t>
            </a:r>
            <a:endParaRPr lang="en-US" altLang="zh-CN" sz="900" dirty="0">
              <a:solidFill>
                <a:schemeClr val="tx1">
                  <a:lumMod val="65000"/>
                  <a:lumOff val="35000"/>
                </a:schemeClr>
              </a:solidFill>
              <a:latin typeface="Calibri Light" panose="020F0302020204030204" pitchFamily="34" charset="0"/>
              <a:ea typeface="方正兰亭黑_GBK"/>
            </a:endParaRPr>
          </a:p>
        </p:txBody>
      </p:sp>
      <p:sp>
        <p:nvSpPr>
          <p:cNvPr id="4" name="文本框 3"/>
          <p:cNvSpPr txBox="1"/>
          <p:nvPr/>
        </p:nvSpPr>
        <p:spPr>
          <a:xfrm>
            <a:off x="3552825" y="-1340485"/>
            <a:ext cx="3048000" cy="368300"/>
          </a:xfrm>
          <a:prstGeom prst="rect">
            <a:avLst/>
          </a:prstGeom>
          <a:noFill/>
        </p:spPr>
        <p:txBody>
          <a:bodyPr wrap="square" rtlCol="0">
            <a:spAutoFit/>
          </a:bodyPr>
          <a:lstStyle/>
          <a:p>
            <a:endParaRPr lang="zh-CN" altLang="en-US"/>
          </a:p>
        </p:txBody>
      </p:sp>
      <p:sp>
        <p:nvSpPr>
          <p:cNvPr id="7" name="文本框 6"/>
          <p:cNvSpPr txBox="1"/>
          <p:nvPr/>
        </p:nvSpPr>
        <p:spPr>
          <a:xfrm>
            <a:off x="268605" y="944245"/>
            <a:ext cx="8607425" cy="989965"/>
          </a:xfrm>
          <a:prstGeom prst="rect">
            <a:avLst/>
          </a:prstGeom>
          <a:solidFill>
            <a:schemeClr val="accent1">
              <a:lumMod val="20000"/>
              <a:lumOff val="80000"/>
            </a:schemeClr>
          </a:solidFill>
        </p:spPr>
        <p:txBody>
          <a:bodyPr wrap="square">
            <a:noAutofit/>
          </a:bodyPr>
          <a:lstStyle/>
          <a:p>
            <a:pPr>
              <a:lnSpc>
                <a:spcPct val="170000"/>
              </a:lnSpc>
            </a:pPr>
            <a:r>
              <a:rPr lang="zh-CN" altLang="zh-CN" sz="1000" dirty="0">
                <a:solidFill>
                  <a:schemeClr val="tx1">
                    <a:lumMod val="50000"/>
                    <a:lumOff val="50000"/>
                  </a:schemeClr>
                </a:solidFill>
              </a:rPr>
              <a:t>由上述研究结论我们可以看出重点领域的重大政策出台对于二氧化碳减排和绿色可持续发展具有重大影响并能发挥明显的效果。因此展望未来，为进一步实现二氧化碳减排的有效推进及“碳中和”、“碳达峰”目标的圆满完成，我国的碳减排政策需要在技术创新、市场机制和公众教育三方面进行全面且协调的努力，同时需要政府的指导和支持，社会各界的积极参与和合作。具体政策建议如下：</a:t>
            </a:r>
            <a:endParaRPr lang="zh-CN" altLang="en-US" sz="1000" dirty="0">
              <a:solidFill>
                <a:schemeClr val="tx1">
                  <a:lumMod val="50000"/>
                  <a:lumOff val="50000"/>
                </a:schemeClr>
              </a:solidFill>
            </a:endParaRPr>
          </a:p>
        </p:txBody>
      </p:sp>
      <p:sp>
        <p:nvSpPr>
          <p:cNvPr id="9" name="文本框 8"/>
          <p:cNvSpPr txBox="1"/>
          <p:nvPr/>
        </p:nvSpPr>
        <p:spPr>
          <a:xfrm>
            <a:off x="310515" y="2226310"/>
            <a:ext cx="2642235" cy="2688590"/>
          </a:xfrm>
          <a:prstGeom prst="rect">
            <a:avLst/>
          </a:prstGeom>
          <a:solidFill>
            <a:srgbClr val="F2F2F2"/>
          </a:solidFill>
          <a:ln w="19050">
            <a:solidFill>
              <a:srgbClr val="91A99E"/>
            </a:solidFill>
          </a:ln>
          <a:effectLst>
            <a:outerShdw blurRad="50800" dist="38100" dir="2700000" algn="tl" rotWithShape="0">
              <a:prstClr val="black">
                <a:alpha val="40000"/>
              </a:prstClr>
            </a:outerShdw>
          </a:effectLst>
        </p:spPr>
        <p:txBody>
          <a:bodyPr wrap="square">
            <a:noAutofit/>
          </a:bodyPr>
          <a:lstStyle/>
          <a:p>
            <a:pPr>
              <a:lnSpc>
                <a:spcPct val="150000"/>
              </a:lnSpc>
            </a:pPr>
            <a:endParaRPr lang="zh-CN" altLang="en-US" sz="1000" dirty="0">
              <a:solidFill>
                <a:schemeClr val="tx1">
                  <a:lumMod val="50000"/>
                  <a:lumOff val="50000"/>
                </a:schemeClr>
              </a:solidFill>
            </a:endParaRPr>
          </a:p>
        </p:txBody>
      </p:sp>
      <p:sp>
        <p:nvSpPr>
          <p:cNvPr id="11" name="文本框 10"/>
          <p:cNvSpPr txBox="1"/>
          <p:nvPr/>
        </p:nvSpPr>
        <p:spPr>
          <a:xfrm>
            <a:off x="3371215" y="2226310"/>
            <a:ext cx="2588260" cy="2686050"/>
          </a:xfrm>
          <a:prstGeom prst="rect">
            <a:avLst/>
          </a:prstGeom>
          <a:solidFill>
            <a:srgbClr val="F2F2F2"/>
          </a:solidFill>
          <a:ln w="19050">
            <a:solidFill>
              <a:srgbClr val="91A99E"/>
            </a:solidFill>
          </a:ln>
          <a:effectLst>
            <a:outerShdw blurRad="50800" dist="38100" dir="2700000" algn="tl" rotWithShape="0">
              <a:prstClr val="black">
                <a:alpha val="40000"/>
              </a:prstClr>
            </a:outerShdw>
          </a:effectLst>
        </p:spPr>
        <p:txBody>
          <a:bodyPr wrap="square">
            <a:noAutofit/>
          </a:bodyPr>
          <a:lstStyle/>
          <a:p>
            <a:endParaRPr lang="zh-CN" altLang="en-US" sz="1000" dirty="0">
              <a:solidFill>
                <a:schemeClr val="tx1">
                  <a:lumMod val="50000"/>
                  <a:lumOff val="50000"/>
                </a:schemeClr>
              </a:solidFill>
            </a:endParaRPr>
          </a:p>
        </p:txBody>
      </p:sp>
      <p:sp>
        <p:nvSpPr>
          <p:cNvPr id="13" name="文本框 12"/>
          <p:cNvSpPr txBox="1"/>
          <p:nvPr/>
        </p:nvSpPr>
        <p:spPr>
          <a:xfrm>
            <a:off x="6282690" y="2226310"/>
            <a:ext cx="2568575" cy="2656840"/>
          </a:xfrm>
          <a:prstGeom prst="rect">
            <a:avLst/>
          </a:prstGeom>
          <a:solidFill>
            <a:srgbClr val="F2F2F2"/>
          </a:solidFill>
          <a:ln w="19050">
            <a:solidFill>
              <a:srgbClr val="91A99E"/>
            </a:solidFill>
          </a:ln>
          <a:effectLst>
            <a:outerShdw blurRad="50800" dist="38100" dir="2700000" algn="tl" rotWithShape="0">
              <a:prstClr val="black">
                <a:alpha val="40000"/>
              </a:prstClr>
            </a:outerShdw>
          </a:effectLst>
        </p:spPr>
        <p:txBody>
          <a:bodyPr wrap="square">
            <a:noAutofit/>
          </a:bodyPr>
          <a:lstStyle/>
          <a:p>
            <a:endParaRPr lang="zh-CN" altLang="en-US" sz="1000" dirty="0">
              <a:solidFill>
                <a:schemeClr val="tx1">
                  <a:lumMod val="50000"/>
                  <a:lumOff val="50000"/>
                </a:schemeClr>
              </a:solidFill>
            </a:endParaRPr>
          </a:p>
        </p:txBody>
      </p:sp>
      <p:cxnSp>
        <p:nvCxnSpPr>
          <p:cNvPr id="14" name="直接连接符 13"/>
          <p:cNvCxnSpPr/>
          <p:nvPr/>
        </p:nvCxnSpPr>
        <p:spPr>
          <a:xfrm>
            <a:off x="3162860" y="2212932"/>
            <a:ext cx="0" cy="267525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7" name="直接连接符 16"/>
          <p:cNvCxnSpPr/>
          <p:nvPr/>
        </p:nvCxnSpPr>
        <p:spPr>
          <a:xfrm flipH="1">
            <a:off x="6122258" y="2222457"/>
            <a:ext cx="10160" cy="266573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 name="文本框 1"/>
          <p:cNvSpPr txBox="1"/>
          <p:nvPr/>
        </p:nvSpPr>
        <p:spPr>
          <a:xfrm>
            <a:off x="310515" y="2212975"/>
            <a:ext cx="2568575" cy="2697480"/>
          </a:xfrm>
          <a:prstGeom prst="rect">
            <a:avLst/>
          </a:prstGeom>
          <a:noFill/>
        </p:spPr>
        <p:txBody>
          <a:bodyPr wrap="square" rtlCol="0" anchor="t">
            <a:noAutofit/>
          </a:bodyPr>
          <a:p>
            <a:pPr algn="ctr">
              <a:lnSpc>
                <a:spcPct val="125000"/>
              </a:lnSpc>
              <a:spcBef>
                <a:spcPts val="0"/>
              </a:spcBef>
              <a:spcAft>
                <a:spcPts val="0"/>
              </a:spcAft>
            </a:pPr>
            <a:r>
              <a:rPr lang="zh-CN" altLang="en-US" sz="1200" b="1" dirty="0">
                <a:solidFill>
                  <a:schemeClr val="tx1">
                    <a:lumMod val="50000"/>
                    <a:lumOff val="50000"/>
                  </a:schemeClr>
                </a:solidFill>
                <a:sym typeface="+mn-ea"/>
              </a:rPr>
              <a:t>【技术层面】</a:t>
            </a:r>
            <a:endParaRPr lang="zh-CN" altLang="en-US" sz="1200" b="1" dirty="0">
              <a:solidFill>
                <a:schemeClr val="tx1">
                  <a:lumMod val="50000"/>
                  <a:lumOff val="50000"/>
                </a:schemeClr>
              </a:solidFill>
              <a:sym typeface="+mn-ea"/>
            </a:endParaRPr>
          </a:p>
          <a:p>
            <a:pPr>
              <a:lnSpc>
                <a:spcPct val="125000"/>
              </a:lnSpc>
              <a:spcBef>
                <a:spcPts val="0"/>
              </a:spcBef>
              <a:spcAft>
                <a:spcPts val="0"/>
              </a:spcAft>
            </a:pPr>
            <a:endParaRPr lang="zh-CN" altLang="en-US" sz="1000" b="1" dirty="0">
              <a:solidFill>
                <a:schemeClr val="tx1">
                  <a:lumMod val="50000"/>
                  <a:lumOff val="50000"/>
                </a:schemeClr>
              </a:solidFill>
            </a:endParaRPr>
          </a:p>
          <a:p>
            <a:pPr marL="171450" indent="-171450" algn="just">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可再生能源的深入开发与推广</a:t>
            </a:r>
            <a:r>
              <a:rPr lang="zh-CN" altLang="en-US" sz="1000" dirty="0">
                <a:solidFill>
                  <a:schemeClr val="tx1">
                    <a:lumMod val="50000"/>
                    <a:lumOff val="50000"/>
                  </a:schemeClr>
                </a:solidFill>
                <a:sym typeface="+mn-ea"/>
              </a:rPr>
              <a:t>：中国应该继续投资于风能和太阳能技术的研发。例如，开发更大容量的风力涡轮机和光伏电站，以及提高这些技术的效率和可靠性。政府可以通过提供资金支持、税收优惠和其他激励措施来促进这些技术的商业化和大规模部署​​。</a:t>
            </a:r>
            <a:endParaRPr lang="zh-CN" altLang="en-US" sz="1000" dirty="0">
              <a:solidFill>
                <a:schemeClr val="tx1">
                  <a:lumMod val="50000"/>
                  <a:lumOff val="50000"/>
                </a:schemeClr>
              </a:solidFill>
            </a:endParaRPr>
          </a:p>
          <a:p>
            <a:pPr marL="171450" indent="-171450">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碳捕捉和存储技术</a:t>
            </a:r>
            <a:r>
              <a:rPr lang="zh-CN" altLang="en-US" sz="1000" dirty="0">
                <a:solidFill>
                  <a:schemeClr val="tx1">
                    <a:lumMod val="50000"/>
                    <a:lumOff val="50000"/>
                  </a:schemeClr>
                </a:solidFill>
                <a:sym typeface="+mn-ea"/>
              </a:rPr>
              <a:t>：加大</a:t>
            </a:r>
            <a:r>
              <a:rPr lang="en-US" altLang="zh-CN" sz="1000" dirty="0">
                <a:solidFill>
                  <a:schemeClr val="tx1">
                    <a:lumMod val="50000"/>
                    <a:lumOff val="50000"/>
                  </a:schemeClr>
                </a:solidFill>
                <a:sym typeface="+mn-ea"/>
              </a:rPr>
              <a:t>CCUS</a:t>
            </a:r>
            <a:r>
              <a:rPr lang="zh-CN" altLang="en-US" sz="1000" dirty="0">
                <a:solidFill>
                  <a:schemeClr val="tx1">
                    <a:lumMod val="50000"/>
                    <a:lumOff val="50000"/>
                  </a:schemeClr>
                </a:solidFill>
                <a:sym typeface="+mn-ea"/>
              </a:rPr>
              <a:t>技术的研究和实施力度，以便有效减少工业排放。政府可支持相关技术的试点项目，并鼓励私营部门参与这些项目的开发和实施。</a:t>
            </a:r>
            <a:endParaRPr lang="zh-CN" altLang="en-US" sz="1000" dirty="0">
              <a:solidFill>
                <a:schemeClr val="tx1">
                  <a:lumMod val="50000"/>
                  <a:lumOff val="50000"/>
                </a:schemeClr>
              </a:solidFill>
              <a:sym typeface="+mn-ea"/>
            </a:endParaRPr>
          </a:p>
        </p:txBody>
      </p:sp>
      <p:sp>
        <p:nvSpPr>
          <p:cNvPr id="3" name="文本框 2"/>
          <p:cNvSpPr txBox="1"/>
          <p:nvPr>
            <p:custDataLst>
              <p:tags r:id="rId1"/>
            </p:custDataLst>
          </p:nvPr>
        </p:nvSpPr>
        <p:spPr>
          <a:xfrm>
            <a:off x="3370580" y="2234565"/>
            <a:ext cx="2503805" cy="2697480"/>
          </a:xfrm>
          <a:prstGeom prst="rect">
            <a:avLst/>
          </a:prstGeom>
          <a:noFill/>
        </p:spPr>
        <p:txBody>
          <a:bodyPr wrap="square" rtlCol="0" anchor="t">
            <a:noAutofit/>
          </a:bodyPr>
          <a:p>
            <a:pPr algn="ctr">
              <a:lnSpc>
                <a:spcPct val="125000"/>
              </a:lnSpc>
              <a:spcBef>
                <a:spcPts val="0"/>
              </a:spcBef>
              <a:spcAft>
                <a:spcPts val="0"/>
              </a:spcAft>
            </a:pPr>
            <a:r>
              <a:rPr lang="zh-CN" altLang="en-US" sz="1200" b="1" dirty="0">
                <a:solidFill>
                  <a:schemeClr val="tx1">
                    <a:lumMod val="50000"/>
                    <a:lumOff val="50000"/>
                  </a:schemeClr>
                </a:solidFill>
                <a:sym typeface="+mn-ea"/>
              </a:rPr>
              <a:t>【市场机制层面】</a:t>
            </a:r>
            <a:endParaRPr lang="en-US" altLang="zh-CN" sz="1200" b="1" dirty="0">
              <a:solidFill>
                <a:schemeClr val="tx1">
                  <a:lumMod val="50000"/>
                  <a:lumOff val="50000"/>
                </a:schemeClr>
              </a:solidFill>
            </a:endParaRPr>
          </a:p>
          <a:p>
            <a:pPr algn="just">
              <a:lnSpc>
                <a:spcPct val="125000"/>
              </a:lnSpc>
              <a:spcBef>
                <a:spcPts val="0"/>
              </a:spcBef>
              <a:spcAft>
                <a:spcPts val="0"/>
              </a:spcAft>
            </a:pPr>
            <a:endParaRPr lang="zh-CN" altLang="en-US" sz="1000" dirty="0">
              <a:solidFill>
                <a:schemeClr val="tx1">
                  <a:lumMod val="50000"/>
                  <a:lumOff val="50000"/>
                </a:schemeClr>
              </a:solidFill>
              <a:sym typeface="+mn-ea"/>
            </a:endParaRPr>
          </a:p>
          <a:p>
            <a:pPr marL="171450" indent="-171450" algn="just">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扩大和优化碳排放交易市场</a:t>
            </a:r>
            <a:r>
              <a:rPr lang="zh-CN" altLang="en-US" sz="1000" dirty="0">
                <a:solidFill>
                  <a:schemeClr val="tx1">
                    <a:lumMod val="50000"/>
                    <a:lumOff val="50000"/>
                  </a:schemeClr>
                </a:solidFill>
                <a:sym typeface="+mn-ea"/>
              </a:rPr>
              <a:t>：中国的碳排放交易市场应该涵盖更多行业和企业，确保其覆盖更广泛的碳排放源。同时，应该对市场机制进行优化，确保碳信用价格能够反映真实的碳减排成本，并激励企业采取减排措施​​​​​​。</a:t>
            </a:r>
            <a:endParaRPr lang="zh-CN" altLang="en-US" sz="1000" dirty="0">
              <a:solidFill>
                <a:schemeClr val="tx1">
                  <a:lumMod val="50000"/>
                  <a:lumOff val="50000"/>
                </a:schemeClr>
              </a:solidFill>
              <a:sym typeface="+mn-ea"/>
            </a:endParaRPr>
          </a:p>
          <a:p>
            <a:pPr marL="171450" indent="-171450" algn="just">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透明和有效的监管</a:t>
            </a:r>
            <a:r>
              <a:rPr lang="zh-CN" altLang="en-US" sz="1000" dirty="0">
                <a:solidFill>
                  <a:schemeClr val="tx1">
                    <a:lumMod val="50000"/>
                    <a:lumOff val="50000"/>
                  </a:schemeClr>
                </a:solidFill>
                <a:sym typeface="+mn-ea"/>
              </a:rPr>
              <a:t>：建立强有力的监管框架，以确保碳排放交易市场的公平和有效运行。这包括确保碳排放数据的准确性和可靠性，以及对违规行为的严格处罚。</a:t>
            </a:r>
            <a:endParaRPr lang="zh-CN" altLang="en-US" sz="1000" dirty="0">
              <a:solidFill>
                <a:schemeClr val="tx1">
                  <a:lumMod val="50000"/>
                  <a:lumOff val="50000"/>
                </a:schemeClr>
              </a:solidFill>
              <a:sym typeface="+mn-ea"/>
            </a:endParaRPr>
          </a:p>
        </p:txBody>
      </p:sp>
      <p:sp>
        <p:nvSpPr>
          <p:cNvPr id="5" name="文本框 4"/>
          <p:cNvSpPr txBox="1"/>
          <p:nvPr>
            <p:custDataLst>
              <p:tags r:id="rId2"/>
            </p:custDataLst>
          </p:nvPr>
        </p:nvSpPr>
        <p:spPr>
          <a:xfrm>
            <a:off x="6268720" y="2212975"/>
            <a:ext cx="2483485" cy="2697480"/>
          </a:xfrm>
          <a:prstGeom prst="rect">
            <a:avLst/>
          </a:prstGeom>
          <a:noFill/>
        </p:spPr>
        <p:txBody>
          <a:bodyPr wrap="square" rtlCol="0" anchor="t">
            <a:noAutofit/>
          </a:bodyPr>
          <a:p>
            <a:pPr algn="ctr">
              <a:lnSpc>
                <a:spcPct val="125000"/>
              </a:lnSpc>
              <a:spcBef>
                <a:spcPts val="0"/>
              </a:spcBef>
              <a:spcAft>
                <a:spcPts val="0"/>
              </a:spcAft>
            </a:pPr>
            <a:r>
              <a:rPr lang="zh-CN" altLang="en-US" sz="1200" b="1" dirty="0">
                <a:solidFill>
                  <a:schemeClr val="tx1">
                    <a:lumMod val="50000"/>
                    <a:lumOff val="50000"/>
                  </a:schemeClr>
                </a:solidFill>
                <a:sym typeface="+mn-ea"/>
              </a:rPr>
              <a:t>【公众教育层面】</a:t>
            </a:r>
            <a:endParaRPr lang="en-US" altLang="zh-CN" sz="1200" b="1" dirty="0">
              <a:solidFill>
                <a:schemeClr val="tx1">
                  <a:lumMod val="50000"/>
                  <a:lumOff val="50000"/>
                </a:schemeClr>
              </a:solidFill>
            </a:endParaRPr>
          </a:p>
          <a:p>
            <a:pPr marL="171450" indent="-171450" algn="just">
              <a:lnSpc>
                <a:spcPct val="125000"/>
              </a:lnSpc>
              <a:spcBef>
                <a:spcPts val="0"/>
              </a:spcBef>
              <a:spcAft>
                <a:spcPts val="0"/>
              </a:spcAft>
              <a:buFont typeface="Wingdings" panose="05000000000000000000" charset="0"/>
              <a:buChar char="ü"/>
            </a:pPr>
            <a:endParaRPr lang="zh-CN" altLang="en-US" sz="1000" dirty="0">
              <a:solidFill>
                <a:schemeClr val="tx1">
                  <a:lumMod val="50000"/>
                  <a:lumOff val="50000"/>
                </a:schemeClr>
              </a:solidFill>
              <a:sym typeface="+mn-ea"/>
            </a:endParaRPr>
          </a:p>
          <a:p>
            <a:pPr marL="171450" indent="-171450" algn="just">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系统化的气候变化教育</a:t>
            </a:r>
            <a:r>
              <a:rPr lang="zh-CN" altLang="en-US" sz="1000" dirty="0">
                <a:solidFill>
                  <a:schemeClr val="tx1">
                    <a:lumMod val="50000"/>
                    <a:lumOff val="50000"/>
                  </a:schemeClr>
                </a:solidFill>
                <a:sym typeface="+mn-ea"/>
              </a:rPr>
              <a:t>：在学校教育体系中加入更全面的气候变化和环保课程，不仅涉及气候变化的基本知识，还包括实际行动指南和可持续生活方式的推广​​​​。</a:t>
            </a:r>
            <a:endParaRPr lang="zh-CN" altLang="en-US" sz="1000" dirty="0">
              <a:solidFill>
                <a:schemeClr val="tx1">
                  <a:lumMod val="50000"/>
                  <a:lumOff val="50000"/>
                </a:schemeClr>
              </a:solidFill>
            </a:endParaRPr>
          </a:p>
          <a:p>
            <a:pPr marL="171450" indent="-171450" algn="just">
              <a:lnSpc>
                <a:spcPct val="125000"/>
              </a:lnSpc>
              <a:spcBef>
                <a:spcPts val="0"/>
              </a:spcBef>
              <a:spcAft>
                <a:spcPts val="0"/>
              </a:spcAft>
              <a:buFont typeface="Wingdings" panose="05000000000000000000" charset="0"/>
              <a:buChar char="ü"/>
            </a:pPr>
            <a:r>
              <a:rPr lang="zh-CN" altLang="en-US" sz="1000" b="1" dirty="0">
                <a:solidFill>
                  <a:schemeClr val="tx1">
                    <a:lumMod val="50000"/>
                    <a:lumOff val="50000"/>
                  </a:schemeClr>
                </a:solidFill>
                <a:sym typeface="+mn-ea"/>
              </a:rPr>
              <a:t>公众参与和社会动员</a:t>
            </a:r>
            <a:r>
              <a:rPr lang="zh-CN" altLang="en-US" sz="1000" dirty="0">
                <a:solidFill>
                  <a:schemeClr val="tx1">
                    <a:lumMod val="50000"/>
                    <a:lumOff val="50000"/>
                  </a:schemeClr>
                </a:solidFill>
                <a:sym typeface="+mn-ea"/>
              </a:rPr>
              <a:t>：通过媒体宣传、公共活动和社区倡议，提高公众对气候变化的认识，并鼓励他们采取实际行动。例如，组织公众讲座、展览和研讨会，以及通过社交媒体和其他平台传播环保信息​​。</a:t>
            </a:r>
            <a:endParaRPr lang="zh-CN" altLang="en-US" sz="1000" dirty="0">
              <a:solidFill>
                <a:schemeClr val="tx1">
                  <a:lumMod val="50000"/>
                  <a:lumOff val="50000"/>
                </a:schemeClr>
              </a:solidFill>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68665"/>
            <a:ext cx="9189899" cy="36061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p:cNvSpPr>
            <a:spLocks noEditPoints="1"/>
          </p:cNvSpPr>
          <p:nvPr/>
        </p:nvSpPr>
        <p:spPr bwMode="auto">
          <a:xfrm>
            <a:off x="2436881" y="881531"/>
            <a:ext cx="4270236" cy="313654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alpha val="5000"/>
            </a:schemeClr>
          </a:solidFill>
          <a:ln>
            <a:noFill/>
          </a:ln>
        </p:spPr>
        <p:txBody>
          <a:bodyPr vert="horz" wrap="square" lIns="91440" tIns="45720" rIns="91440" bIns="45720" numCol="1" anchor="t" anchorCtr="0" compatLnSpc="1"/>
          <a:lstStyle/>
          <a:p>
            <a:endParaRPr lang="zh-CN" altLang="en-US"/>
          </a:p>
        </p:txBody>
      </p:sp>
      <p:sp>
        <p:nvSpPr>
          <p:cNvPr id="31" name="Freeform 5"/>
          <p:cNvSpPr>
            <a:spLocks noEditPoints="1"/>
          </p:cNvSpPr>
          <p:nvPr/>
        </p:nvSpPr>
        <p:spPr bwMode="auto">
          <a:xfrm>
            <a:off x="3965102" y="1071648"/>
            <a:ext cx="1257136" cy="923382"/>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矩形 20"/>
          <p:cNvSpPr/>
          <p:nvPr/>
        </p:nvSpPr>
        <p:spPr bwMode="auto">
          <a:xfrm>
            <a:off x="3199965" y="2113579"/>
            <a:ext cx="2722880" cy="706755"/>
          </a:xfrm>
          <a:prstGeom prst="rect">
            <a:avLst/>
          </a:prstGeom>
        </p:spPr>
        <p:txBody>
          <a:bodyPr wrap="none">
            <a:spAutoFit/>
          </a:bodyPr>
          <a:lstStyle/>
          <a:p>
            <a:pPr algn="ctr">
              <a:defRPr/>
            </a:pPr>
            <a:r>
              <a:rPr lang="zh-CN" altLang="en-US" sz="4000" kern="100">
                <a:solidFill>
                  <a:schemeClr val="bg1"/>
                </a:solidFill>
                <a:latin typeface="+mj-ea"/>
                <a:ea typeface="+mj-ea"/>
                <a:cs typeface="Times New Roman" panose="02020603050405020304" pitchFamily="18" charset="0"/>
              </a:rPr>
              <a:t>感谢</a:t>
            </a:r>
            <a:r>
              <a:rPr lang="zh-CN" altLang="en-US" sz="4000" kern="100">
                <a:solidFill>
                  <a:schemeClr val="bg1"/>
                </a:solidFill>
                <a:latin typeface="+mj-ea"/>
                <a:ea typeface="+mj-ea"/>
                <a:cs typeface="Times New Roman" panose="02020603050405020304" pitchFamily="18" charset="0"/>
              </a:rPr>
              <a:t>聆听！</a:t>
            </a:r>
            <a:endParaRPr lang="zh-CN" altLang="en-US" sz="4000" kern="100">
              <a:solidFill>
                <a:schemeClr val="bg1"/>
              </a:solidFill>
              <a:latin typeface="+mj-ea"/>
              <a:ea typeface="+mj-ea"/>
              <a:cs typeface="Times New Roman" panose="02020603050405020304" pitchFamily="18" charset="0"/>
            </a:endParaRPr>
          </a:p>
        </p:txBody>
      </p:sp>
      <p:sp>
        <p:nvSpPr>
          <p:cNvPr id="23" name="矩形 22"/>
          <p:cNvSpPr/>
          <p:nvPr/>
        </p:nvSpPr>
        <p:spPr>
          <a:xfrm>
            <a:off x="2121717" y="2782632"/>
            <a:ext cx="4879375" cy="252730"/>
          </a:xfrm>
          <a:prstGeom prst="rect">
            <a:avLst/>
          </a:prstGeom>
        </p:spPr>
        <p:txBody>
          <a:bodyPr wrap="square">
            <a:spAutoFit/>
          </a:bodyPr>
          <a:lstStyle/>
          <a:p>
            <a:pPr algn="ctr"/>
            <a:r>
              <a:rPr lang="en-US" altLang="zh-CN" sz="1050" spc="300">
                <a:solidFill>
                  <a:schemeClr val="bg1"/>
                </a:solidFill>
                <a:latin typeface="+mj-lt"/>
              </a:rPr>
              <a:t>THANK YOU FOR YOUR LISTENING</a:t>
            </a:r>
            <a:endParaRPr lang="en-US" altLang="zh-CN" sz="1050" spc="300">
              <a:solidFill>
                <a:schemeClr val="bg1"/>
              </a:solidFill>
              <a:latin typeface="+mj-lt"/>
            </a:endParaRPr>
          </a:p>
        </p:txBody>
      </p:sp>
      <p:cxnSp>
        <p:nvCxnSpPr>
          <p:cNvPr id="20" name="直接连接符 19"/>
          <p:cNvCxnSpPr/>
          <p:nvPr/>
        </p:nvCxnSpPr>
        <p:spPr>
          <a:xfrm>
            <a:off x="3349690" y="3302012"/>
            <a:ext cx="24446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3840555" y="3475136"/>
            <a:ext cx="1508760" cy="294005"/>
            <a:chOff x="2817669" y="3787844"/>
            <a:chExt cx="1508760" cy="294005"/>
          </a:xfrm>
        </p:grpSpPr>
        <p:grpSp>
          <p:nvGrpSpPr>
            <p:cNvPr id="6" name="组合 5"/>
            <p:cNvGrpSpPr/>
            <p:nvPr/>
          </p:nvGrpSpPr>
          <p:grpSpPr>
            <a:xfrm>
              <a:off x="2817669" y="3815167"/>
              <a:ext cx="206964" cy="206964"/>
              <a:chOff x="712464" y="3381858"/>
              <a:chExt cx="355571" cy="355571"/>
            </a:xfrm>
          </p:grpSpPr>
          <p:sp>
            <p:nvSpPr>
              <p:cNvPr id="7" name="椭圆 6"/>
              <p:cNvSpPr/>
              <p:nvPr>
                <p:custDataLst>
                  <p:tags r:id="rId1"/>
                </p:custDataLst>
              </p:nvPr>
            </p:nvSpPr>
            <p:spPr>
              <a:xfrm>
                <a:off x="712464" y="3381858"/>
                <a:ext cx="355571" cy="3555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Freeform 5"/>
              <p:cNvSpPr>
                <a:spLocks noEditPoints="1"/>
              </p:cNvSpPr>
              <p:nvPr>
                <p:custDataLst>
                  <p:tags r:id="rId2"/>
                </p:custDataLst>
              </p:nvPr>
            </p:nvSpPr>
            <p:spPr bwMode="auto">
              <a:xfrm>
                <a:off x="826867" y="3452381"/>
                <a:ext cx="126765" cy="214524"/>
              </a:xfrm>
              <a:custGeom>
                <a:avLst/>
                <a:gdLst>
                  <a:gd name="T0" fmla="*/ 340 w 381"/>
                  <a:gd name="T1" fmla="*/ 360 h 645"/>
                  <a:gd name="T2" fmla="*/ 41 w 381"/>
                  <a:gd name="T3" fmla="*/ 360 h 645"/>
                  <a:gd name="T4" fmla="*/ 6 w 381"/>
                  <a:gd name="T5" fmla="*/ 328 h 645"/>
                  <a:gd name="T6" fmla="*/ 1 w 381"/>
                  <a:gd name="T7" fmla="*/ 273 h 645"/>
                  <a:gd name="T8" fmla="*/ 19 w 381"/>
                  <a:gd name="T9" fmla="*/ 254 h 645"/>
                  <a:gd name="T10" fmla="*/ 362 w 381"/>
                  <a:gd name="T11" fmla="*/ 254 h 645"/>
                  <a:gd name="T12" fmla="*/ 380 w 381"/>
                  <a:gd name="T13" fmla="*/ 273 h 645"/>
                  <a:gd name="T14" fmla="*/ 375 w 381"/>
                  <a:gd name="T15" fmla="*/ 328 h 645"/>
                  <a:gd name="T16" fmla="*/ 340 w 381"/>
                  <a:gd name="T17" fmla="*/ 360 h 645"/>
                  <a:gd name="T18" fmla="*/ 337 w 381"/>
                  <a:gd name="T19" fmla="*/ 378 h 645"/>
                  <a:gd name="T20" fmla="*/ 44 w 381"/>
                  <a:gd name="T21" fmla="*/ 378 h 645"/>
                  <a:gd name="T22" fmla="*/ 79 w 381"/>
                  <a:gd name="T23" fmla="*/ 645 h 645"/>
                  <a:gd name="T24" fmla="*/ 302 w 381"/>
                  <a:gd name="T25" fmla="*/ 645 h 645"/>
                  <a:gd name="T26" fmla="*/ 337 w 381"/>
                  <a:gd name="T27" fmla="*/ 378 h 645"/>
                  <a:gd name="T28" fmla="*/ 192 w 381"/>
                  <a:gd name="T29" fmla="*/ 120 h 645"/>
                  <a:gd name="T30" fmla="*/ 252 w 381"/>
                  <a:gd name="T31" fmla="*/ 60 h 645"/>
                  <a:gd name="T32" fmla="*/ 192 w 381"/>
                  <a:gd name="T33" fmla="*/ 0 h 645"/>
                  <a:gd name="T34" fmla="*/ 132 w 381"/>
                  <a:gd name="T35" fmla="*/ 60 h 645"/>
                  <a:gd name="T36" fmla="*/ 192 w 381"/>
                  <a:gd name="T37" fmla="*/ 120 h 645"/>
                  <a:gd name="T38" fmla="*/ 328 w 381"/>
                  <a:gd name="T39" fmla="*/ 236 h 645"/>
                  <a:gd name="T40" fmla="*/ 315 w 381"/>
                  <a:gd name="T41" fmla="*/ 177 h 645"/>
                  <a:gd name="T42" fmla="*/ 285 w 381"/>
                  <a:gd name="T43" fmla="*/ 149 h 645"/>
                  <a:gd name="T44" fmla="*/ 231 w 381"/>
                  <a:gd name="T45" fmla="*/ 141 h 645"/>
                  <a:gd name="T46" fmla="*/ 205 w 381"/>
                  <a:gd name="T47" fmla="*/ 202 h 645"/>
                  <a:gd name="T48" fmla="*/ 201 w 381"/>
                  <a:gd name="T49" fmla="*/ 172 h 645"/>
                  <a:gd name="T50" fmla="*/ 200 w 381"/>
                  <a:gd name="T51" fmla="*/ 170 h 645"/>
                  <a:gd name="T52" fmla="*/ 185 w 381"/>
                  <a:gd name="T53" fmla="*/ 170 h 645"/>
                  <a:gd name="T54" fmla="*/ 183 w 381"/>
                  <a:gd name="T55" fmla="*/ 172 h 645"/>
                  <a:gd name="T56" fmla="*/ 180 w 381"/>
                  <a:gd name="T57" fmla="*/ 202 h 645"/>
                  <a:gd name="T58" fmla="*/ 153 w 381"/>
                  <a:gd name="T59" fmla="*/ 141 h 645"/>
                  <a:gd name="T60" fmla="*/ 100 w 381"/>
                  <a:gd name="T61" fmla="*/ 149 h 645"/>
                  <a:gd name="T62" fmla="*/ 69 w 381"/>
                  <a:gd name="T63" fmla="*/ 177 h 645"/>
                  <a:gd name="T64" fmla="*/ 56 w 381"/>
                  <a:gd name="T65" fmla="*/ 236 h 645"/>
                  <a:gd name="T66" fmla="*/ 328 w 381"/>
                  <a:gd name="T67" fmla="*/ 236 h 645"/>
                  <a:gd name="T68" fmla="*/ 174 w 381"/>
                  <a:gd name="T69" fmla="*/ 143 h 645"/>
                  <a:gd name="T70" fmla="*/ 181 w 381"/>
                  <a:gd name="T71" fmla="*/ 159 h 645"/>
                  <a:gd name="T72" fmla="*/ 192 w 381"/>
                  <a:gd name="T73" fmla="*/ 162 h 645"/>
                  <a:gd name="T74" fmla="*/ 203 w 381"/>
                  <a:gd name="T75" fmla="*/ 159 h 645"/>
                  <a:gd name="T76" fmla="*/ 211 w 381"/>
                  <a:gd name="T77" fmla="*/ 143 h 645"/>
                  <a:gd name="T78" fmla="*/ 192 w 381"/>
                  <a:gd name="T79" fmla="*/ 136 h 645"/>
                  <a:gd name="T80" fmla="*/ 174 w 381"/>
                  <a:gd name="T81" fmla="*/ 143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1" h="645">
                    <a:moveTo>
                      <a:pt x="340" y="360"/>
                    </a:moveTo>
                    <a:cubicBezTo>
                      <a:pt x="41" y="360"/>
                      <a:pt x="41" y="360"/>
                      <a:pt x="41" y="360"/>
                    </a:cubicBezTo>
                    <a:cubicBezTo>
                      <a:pt x="23" y="360"/>
                      <a:pt x="7" y="346"/>
                      <a:pt x="6" y="328"/>
                    </a:cubicBezTo>
                    <a:cubicBezTo>
                      <a:pt x="1" y="273"/>
                      <a:pt x="1" y="273"/>
                      <a:pt x="1" y="273"/>
                    </a:cubicBezTo>
                    <a:cubicBezTo>
                      <a:pt x="0" y="263"/>
                      <a:pt x="8" y="254"/>
                      <a:pt x="19" y="254"/>
                    </a:cubicBezTo>
                    <a:cubicBezTo>
                      <a:pt x="362" y="254"/>
                      <a:pt x="362" y="254"/>
                      <a:pt x="362" y="254"/>
                    </a:cubicBezTo>
                    <a:cubicBezTo>
                      <a:pt x="373" y="254"/>
                      <a:pt x="381" y="263"/>
                      <a:pt x="380" y="273"/>
                    </a:cubicBezTo>
                    <a:cubicBezTo>
                      <a:pt x="375" y="328"/>
                      <a:pt x="375" y="328"/>
                      <a:pt x="375" y="328"/>
                    </a:cubicBezTo>
                    <a:cubicBezTo>
                      <a:pt x="374" y="346"/>
                      <a:pt x="359" y="360"/>
                      <a:pt x="340" y="360"/>
                    </a:cubicBezTo>
                    <a:close/>
                    <a:moveTo>
                      <a:pt x="337" y="378"/>
                    </a:moveTo>
                    <a:cubicBezTo>
                      <a:pt x="44" y="378"/>
                      <a:pt x="44" y="378"/>
                      <a:pt x="44" y="378"/>
                    </a:cubicBezTo>
                    <a:cubicBezTo>
                      <a:pt x="79" y="645"/>
                      <a:pt x="79" y="645"/>
                      <a:pt x="79" y="645"/>
                    </a:cubicBezTo>
                    <a:cubicBezTo>
                      <a:pt x="302" y="645"/>
                      <a:pt x="302" y="645"/>
                      <a:pt x="302" y="645"/>
                    </a:cubicBezTo>
                    <a:lnTo>
                      <a:pt x="337" y="378"/>
                    </a:lnTo>
                    <a:close/>
                    <a:moveTo>
                      <a:pt x="192" y="120"/>
                    </a:moveTo>
                    <a:cubicBezTo>
                      <a:pt x="225" y="120"/>
                      <a:pt x="252" y="94"/>
                      <a:pt x="252" y="60"/>
                    </a:cubicBezTo>
                    <a:cubicBezTo>
                      <a:pt x="252" y="27"/>
                      <a:pt x="225" y="0"/>
                      <a:pt x="192" y="0"/>
                    </a:cubicBezTo>
                    <a:cubicBezTo>
                      <a:pt x="159" y="0"/>
                      <a:pt x="132" y="27"/>
                      <a:pt x="132" y="60"/>
                    </a:cubicBezTo>
                    <a:cubicBezTo>
                      <a:pt x="132" y="94"/>
                      <a:pt x="159" y="120"/>
                      <a:pt x="192" y="120"/>
                    </a:cubicBezTo>
                    <a:close/>
                    <a:moveTo>
                      <a:pt x="328" y="236"/>
                    </a:moveTo>
                    <a:cubicBezTo>
                      <a:pt x="315" y="177"/>
                      <a:pt x="315" y="177"/>
                      <a:pt x="315" y="177"/>
                    </a:cubicBezTo>
                    <a:cubicBezTo>
                      <a:pt x="312" y="162"/>
                      <a:pt x="300" y="151"/>
                      <a:pt x="285" y="149"/>
                    </a:cubicBezTo>
                    <a:cubicBezTo>
                      <a:pt x="231" y="141"/>
                      <a:pt x="231" y="141"/>
                      <a:pt x="231" y="141"/>
                    </a:cubicBezTo>
                    <a:cubicBezTo>
                      <a:pt x="205" y="202"/>
                      <a:pt x="205" y="202"/>
                      <a:pt x="205" y="202"/>
                    </a:cubicBezTo>
                    <a:cubicBezTo>
                      <a:pt x="201" y="172"/>
                      <a:pt x="201" y="172"/>
                      <a:pt x="201" y="172"/>
                    </a:cubicBezTo>
                    <a:cubicBezTo>
                      <a:pt x="201" y="171"/>
                      <a:pt x="201" y="170"/>
                      <a:pt x="200" y="170"/>
                    </a:cubicBezTo>
                    <a:cubicBezTo>
                      <a:pt x="185" y="170"/>
                      <a:pt x="185" y="170"/>
                      <a:pt x="185" y="170"/>
                    </a:cubicBezTo>
                    <a:cubicBezTo>
                      <a:pt x="184" y="170"/>
                      <a:pt x="183" y="171"/>
                      <a:pt x="183" y="172"/>
                    </a:cubicBezTo>
                    <a:cubicBezTo>
                      <a:pt x="180" y="202"/>
                      <a:pt x="180" y="202"/>
                      <a:pt x="180" y="202"/>
                    </a:cubicBezTo>
                    <a:cubicBezTo>
                      <a:pt x="153" y="141"/>
                      <a:pt x="153" y="141"/>
                      <a:pt x="153" y="141"/>
                    </a:cubicBezTo>
                    <a:cubicBezTo>
                      <a:pt x="100" y="149"/>
                      <a:pt x="100" y="149"/>
                      <a:pt x="100" y="149"/>
                    </a:cubicBezTo>
                    <a:cubicBezTo>
                      <a:pt x="84" y="151"/>
                      <a:pt x="72" y="162"/>
                      <a:pt x="69" y="177"/>
                    </a:cubicBezTo>
                    <a:cubicBezTo>
                      <a:pt x="56" y="236"/>
                      <a:pt x="56" y="236"/>
                      <a:pt x="56" y="236"/>
                    </a:cubicBezTo>
                    <a:lnTo>
                      <a:pt x="328" y="236"/>
                    </a:lnTo>
                    <a:close/>
                    <a:moveTo>
                      <a:pt x="174" y="143"/>
                    </a:moveTo>
                    <a:cubicBezTo>
                      <a:pt x="174" y="149"/>
                      <a:pt x="178" y="156"/>
                      <a:pt x="181" y="159"/>
                    </a:cubicBezTo>
                    <a:cubicBezTo>
                      <a:pt x="184" y="162"/>
                      <a:pt x="188" y="162"/>
                      <a:pt x="192" y="162"/>
                    </a:cubicBezTo>
                    <a:cubicBezTo>
                      <a:pt x="196" y="162"/>
                      <a:pt x="200" y="162"/>
                      <a:pt x="203" y="159"/>
                    </a:cubicBezTo>
                    <a:cubicBezTo>
                      <a:pt x="206" y="156"/>
                      <a:pt x="211" y="149"/>
                      <a:pt x="211" y="143"/>
                    </a:cubicBezTo>
                    <a:cubicBezTo>
                      <a:pt x="211" y="137"/>
                      <a:pt x="199" y="136"/>
                      <a:pt x="192" y="136"/>
                    </a:cubicBezTo>
                    <a:cubicBezTo>
                      <a:pt x="185" y="136"/>
                      <a:pt x="174" y="137"/>
                      <a:pt x="174" y="143"/>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bg1"/>
                  </a:solidFill>
                </a:endParaRPr>
              </a:p>
            </p:txBody>
          </p:sp>
        </p:gr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custDataLst>
                <p:tags r:id="rId3"/>
              </p:custDataLst>
            </p:nvPr>
          </p:nvSpPr>
          <p:spPr bwMode="auto">
            <a:xfrm>
              <a:off x="2992294" y="3787844"/>
              <a:ext cx="1334135" cy="29400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lnSpc>
                  <a:spcPct val="120000"/>
                </a:lnSpc>
                <a:spcBef>
                  <a:spcPct val="0"/>
                </a:spcBef>
                <a:spcAft>
                  <a:spcPct val="0"/>
                </a:spcAft>
                <a:tabLst>
                  <a:tab pos="2149475" algn="l"/>
                </a:tabLst>
              </a:pPr>
              <a:r>
                <a:rPr lang="zh-CN" altLang="en-US" sz="1100" b="1" spc="100">
                  <a:solidFill>
                    <a:schemeClr val="bg1"/>
                  </a:solidFill>
                  <a:uFillTx/>
                  <a:latin typeface="+中文标题" charset="0"/>
                  <a:ea typeface="+mj-ea"/>
                  <a:sym typeface="Calibri" panose="020F0502020204030204" pitchFamily="34" charset="0"/>
                </a:rPr>
                <a:t>管理科学第</a:t>
              </a:r>
              <a:r>
                <a:rPr lang="en-US" altLang="zh-CN" sz="1100" b="1" spc="100">
                  <a:solidFill>
                    <a:schemeClr val="bg1"/>
                  </a:solidFill>
                  <a:uFillTx/>
                  <a:latin typeface="Times New Roman" panose="02020603050405020304" pitchFamily="18" charset="0"/>
                  <a:ea typeface="+mj-ea"/>
                  <a:cs typeface="Times New Roman" panose="02020603050405020304" pitchFamily="18" charset="0"/>
                  <a:sym typeface="Calibri" panose="020F0502020204030204" pitchFamily="34" charset="0"/>
                </a:rPr>
                <a:t>3</a:t>
              </a:r>
              <a:r>
                <a:rPr lang="zh-CN" altLang="en-US" sz="1100" b="1" spc="100">
                  <a:solidFill>
                    <a:schemeClr val="bg1"/>
                  </a:solidFill>
                  <a:uFillTx/>
                  <a:latin typeface="+中文标题" charset="0"/>
                  <a:ea typeface="+mj-ea"/>
                  <a:sym typeface="Calibri" panose="020F0502020204030204" pitchFamily="34" charset="0"/>
                </a:rPr>
                <a:t>组</a:t>
              </a:r>
              <a:r>
                <a:rPr lang="en-US" altLang="zh-CN" sz="1100" spc="100">
                  <a:solidFill>
                    <a:schemeClr val="bg1"/>
                  </a:solidFill>
                  <a:uFillTx/>
                  <a:latin typeface="+中文标题" charset="0"/>
                  <a:ea typeface="+mj-ea"/>
                  <a:sym typeface="Calibri" panose="020F0502020204030204" pitchFamily="34" charset="0"/>
                </a:rPr>
                <a:t> </a:t>
              </a:r>
              <a:r>
                <a:rPr lang="en-US" altLang="zh-CN" sz="1100">
                  <a:solidFill>
                    <a:schemeClr val="bg1"/>
                  </a:solidFill>
                  <a:latin typeface="+mj-ea"/>
                  <a:ea typeface="+mj-ea"/>
                  <a:sym typeface="Calibri" panose="020F0502020204030204" pitchFamily="34" charset="0"/>
                </a:rPr>
                <a:t>   </a:t>
              </a:r>
              <a:endParaRPr lang="en-US" altLang="zh-CN" sz="1100">
                <a:solidFill>
                  <a:schemeClr val="bg1"/>
                </a:solidFill>
                <a:latin typeface="+mj-ea"/>
                <a:ea typeface="+mj-ea"/>
                <a:sym typeface="Calibri" panose="020F0502020204030204" pitchFamily="34" charset="0"/>
              </a:endParaRPr>
            </a:p>
          </p:txBody>
        </p:sp>
      </p:grpSp>
      <p:sp>
        <p:nvSpPr>
          <p:cNvPr id="10" name="文本框 9"/>
          <p:cNvSpPr txBox="1"/>
          <p:nvPr>
            <p:custDataLst>
              <p:tags r:id="rId4"/>
            </p:custDataLst>
          </p:nvPr>
        </p:nvSpPr>
        <p:spPr>
          <a:xfrm>
            <a:off x="2493645" y="3841750"/>
            <a:ext cx="4156710" cy="260350"/>
          </a:xfrm>
          <a:prstGeom prst="rect">
            <a:avLst/>
          </a:prstGeom>
          <a:noFill/>
        </p:spPr>
        <p:txBody>
          <a:bodyPr wrap="square" rtlCol="0" anchor="t">
            <a:spAutoFit/>
          </a:bodyPr>
          <a:lstStyle/>
          <a:p>
            <a:r>
              <a:rPr lang="zh-CN" altLang="en-US" sz="1100" dirty="0">
                <a:solidFill>
                  <a:schemeClr val="bg1"/>
                </a:solidFill>
                <a:latin typeface="+mj-ea"/>
                <a:ea typeface="+mj-ea"/>
                <a:sym typeface="Calibri" panose="020F0502020204030204" pitchFamily="34" charset="0"/>
              </a:rPr>
              <a:t>马梓飒</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王翊扬</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徐俐欣</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杨苗</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尹欣然</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周睿</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张朔</a:t>
            </a:r>
            <a:r>
              <a:rPr lang="en-US" altLang="zh-CN" sz="1100" dirty="0">
                <a:solidFill>
                  <a:schemeClr val="bg1"/>
                </a:solidFill>
                <a:latin typeface="+mj-ea"/>
                <a:ea typeface="+mj-ea"/>
                <a:sym typeface="Calibri" panose="020F0502020204030204" pitchFamily="34" charset="0"/>
              </a:rPr>
              <a:t>  </a:t>
            </a:r>
            <a:r>
              <a:rPr lang="zh-CN" altLang="en-US" sz="1100" dirty="0">
                <a:solidFill>
                  <a:schemeClr val="bg1"/>
                </a:solidFill>
                <a:latin typeface="+mj-ea"/>
                <a:ea typeface="+mj-ea"/>
                <a:sym typeface="Calibri" panose="020F0502020204030204" pitchFamily="34" charset="0"/>
              </a:rPr>
              <a:t>赵煜宁</a:t>
            </a:r>
            <a:endParaRPr lang="zh-CN" altLang="en-US" sz="1100" dirty="0">
              <a:solidFill>
                <a:schemeClr val="bg1"/>
              </a:solidFill>
              <a:latin typeface="+mj-ea"/>
              <a:ea typeface="+mj-ea"/>
              <a:sym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TABLE_ENDDRAG_ORIGIN_RECT" val="280*303"/>
  <p:tag name="TABLE_ENDDRAG_RECT" val="32*89*280*303"/>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COMMONDATA" val="eyJjb3VudCI6MywiaGRpZCI6Ijg2Mzc4OGJjZTUxNWM3OGJmOGE1YzdhZmMyNTBhZGYwIiwidXNlckNvdW50IjozfQ=="/>
  <p:tag name="RESOURCE_RECORD_KEY" val="{&quot;29&quot;:[20742494]}"/>
  <p:tag name="commondata" val="eyJjb3VudCI6NCwiaGRpZCI6Ijg2Mzc4OGJjZTUxNWM3OGJmOGE1YzdhZmMyNTBhZGYwIiwidXNlckNvdW50Ijo0fQ=="/>
</p:tagLst>
</file>

<file path=ppt/theme/theme1.xml><?xml version="1.0" encoding="utf-8"?>
<a:theme xmlns:a="http://schemas.openxmlformats.org/drawingml/2006/main" name="Office 主题​​">
  <a:themeElements>
    <a:clrScheme name="自定义 1">
      <a:dk1>
        <a:srgbClr val="000000"/>
      </a:dk1>
      <a:lt1>
        <a:srgbClr val="FFFFFF"/>
      </a:lt1>
      <a:dk2>
        <a:srgbClr val="44546A"/>
      </a:dk2>
      <a:lt2>
        <a:srgbClr val="E7E6E6"/>
      </a:lt2>
      <a:accent1>
        <a:srgbClr val="85A299"/>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方正清刻本悦宋简体">
      <a:majorFont>
        <a:latin typeface="方正清刻本悦宋简体"/>
        <a:ea typeface="方正清刻本悦宋简体"/>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8669</Words>
  <Application>WPS 演示</Application>
  <PresentationFormat>全屏显示(16:9)</PresentationFormat>
  <Paragraphs>482</Paragraphs>
  <Slides>23</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23</vt:i4>
      </vt:variant>
    </vt:vector>
  </HeadingPairs>
  <TitlesOfParts>
    <vt:vector size="44" baseType="lpstr">
      <vt:lpstr>Arial</vt:lpstr>
      <vt:lpstr>宋体</vt:lpstr>
      <vt:lpstr>Wingdings</vt:lpstr>
      <vt:lpstr>Times New Roman</vt:lpstr>
      <vt:lpstr>微软雅黑</vt:lpstr>
      <vt:lpstr>+中文标题</vt:lpstr>
      <vt:lpstr>Segoe Print</vt:lpstr>
      <vt:lpstr>Calibri</vt:lpstr>
      <vt:lpstr>Calibri Light</vt:lpstr>
      <vt:lpstr>方正宋刻本秀楷简体</vt:lpstr>
      <vt:lpstr>方正兰亭黑_GBK</vt:lpstr>
      <vt:lpstr>黑体</vt:lpstr>
      <vt:lpstr>方正清刻本悦宋简体</vt:lpstr>
      <vt:lpstr>Gill Sans</vt:lpstr>
      <vt:lpstr>Cambria Math</vt:lpstr>
      <vt:lpstr>Arial Unicode MS</vt:lpstr>
      <vt:lpstr>微软雅黑 Light</vt:lpstr>
      <vt:lpstr>Gill Sans MT</vt:lpstr>
      <vt:lpstr>方正清刻本悦宋简体</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折枝</cp:lastModifiedBy>
  <cp:revision>190</cp:revision>
  <dcterms:created xsi:type="dcterms:W3CDTF">2020-01-28T04:26:00Z</dcterms:created>
  <dcterms:modified xsi:type="dcterms:W3CDTF">2023-12-30T16:54:35Z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C2D21E1C3A734EF697678963CC2D436C_12</vt:lpwstr>
  </property>
  <property fmtid="{D5CDD505-2E9C-101B-9397-08002B2CF9AE}" pid="3" name="KSOProductBuildVer">
    <vt:lpwstr>2052-12.1.0.16120</vt:lpwstr>
  </property>
  <property fmtid="{D5CDD505-2E9C-101B-9397-08002B2CF9AE}" pid="4" name="KSOTemplateUUID">
    <vt:lpwstr>v1.0_mb_0hxP5GZ8coL+ID0aQZRw+g==</vt:lpwstr>
  </property>
</Properties>
</file>